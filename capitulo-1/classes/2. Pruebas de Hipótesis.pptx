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317" r:id="rId30"/>
    <p:sldId id="265" r:id="rId15"/>
    <p:sldId id="266" r:id="rId16"/>
    <p:sldId id="318" r:id="rId68"/>
    <p:sldId id="269" r:id="rId19"/>
    <p:sldId id="270" r:id="rId20"/>
    <p:sldId id="271" r:id="rId21"/>
    <p:sldId id="272" r:id="rId22"/>
    <p:sldId id="319" r:id="rId69"/>
    <p:sldId id="275" r:id="rId25"/>
    <p:sldId id="276" r:id="rId26"/>
    <p:sldId id="277" r:id="rId27"/>
    <p:sldId id="320" r:id="rId70"/>
    <p:sldId id="281" r:id="rId31"/>
    <p:sldId id="282" r:id="rId32"/>
    <p:sldId id="324" r:id="rId48"/>
    <p:sldId id="285" r:id="rId35"/>
    <p:sldId id="321" r:id="rId71"/>
    <p:sldId id="288" r:id="rId38"/>
    <p:sldId id="325" r:id="rId47"/>
    <p:sldId id="291" r:id="rId41"/>
    <p:sldId id="326" r:id="rId37"/>
    <p:sldId id="294" r:id="rId44"/>
    <p:sldId id="327" r:id="rId36"/>
    <p:sldId id="322" r:id="rId72"/>
    <p:sldId id="299" r:id="rId49"/>
    <p:sldId id="300" r:id="rId50"/>
    <p:sldId id="301" r:id="rId51"/>
    <p:sldId id="302" r:id="rId52"/>
    <p:sldId id="303" r:id="rId53"/>
    <p:sldId id="304" r:id="rId54"/>
    <p:sldId id="305" r:id="rId55"/>
    <p:sldId id="306" r:id="rId57"/>
    <p:sldId id="307" r:id="rId58"/>
    <p:sldId id="308" r:id="rId59"/>
    <p:sldId id="309" r:id="rId60"/>
    <p:sldId id="310" r:id="rId61"/>
    <p:sldId id="311" r:id="rId62"/>
    <p:sldId id="312" r:id="rId63"/>
    <p:sldId id="313" r:id="rId64"/>
    <p:sldId id="314" r:id="rId65"/>
    <p:sldId id="323" r:id="rId7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jwmLGqS84yKUNrgIX4gtk6ey12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DA3AF7-B80B-4F97-9D7C-50D34325631F}">
  <a:tblStyle styleId="{DADA3AF7-B80B-4F97-9D7C-50D34325631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30" Type="http://schemas.openxmlformats.org/officeDocument/2006/relationships/slide" Target="slides/slide8.xml"/><Relationship Id="rId31" Type="http://schemas.openxmlformats.org/officeDocument/2006/relationships/slide" Target="slides/slide21.xml"/><Relationship Id="rId32" Type="http://schemas.openxmlformats.org/officeDocument/2006/relationships/slide" Target="slides/slide22.xml"/><Relationship Id="rId35" Type="http://schemas.openxmlformats.org/officeDocument/2006/relationships/slide" Target="slides/slide25.xml"/><Relationship Id="rId36" Type="http://schemas.openxmlformats.org/officeDocument/2006/relationships/slide" Target="slides/slide57.xml"/><Relationship Id="rId37" Type="http://schemas.openxmlformats.org/officeDocument/2006/relationships/slide" Target="slides/slide56.xml"/><Relationship Id="rId38" Type="http://schemas.openxmlformats.org/officeDocument/2006/relationships/slide" Target="slides/slide27.xml"/><Relationship Id="rId41" Type="http://schemas.openxmlformats.org/officeDocument/2006/relationships/slide" Target="slides/slide30.xml"/><Relationship Id="rId44" Type="http://schemas.openxmlformats.org/officeDocument/2006/relationships/slide" Target="slides/slide33.xml"/><Relationship Id="rId47" Type="http://schemas.openxmlformats.org/officeDocument/2006/relationships/slide" Target="slides/slide55.xml"/><Relationship Id="rId48" Type="http://schemas.openxmlformats.org/officeDocument/2006/relationships/slide" Target="slides/slide54.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customschemas.google.com/relationships/presentationmetadata" Target="metadata"/><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8" Type="http://schemas.openxmlformats.org/officeDocument/2006/relationships/slide" Target="slides/slide11.xml"/><Relationship Id="rId69" Type="http://schemas.openxmlformats.org/officeDocument/2006/relationships/slide" Target="slides/slide16.xml"/><Relationship Id="rId70" Type="http://schemas.openxmlformats.org/officeDocument/2006/relationships/slide" Target="slides/slide20.xml"/><Relationship Id="rId71" Type="http://schemas.openxmlformats.org/officeDocument/2006/relationships/slide" Target="slides/slide26.xml"/><Relationship Id="rId72" Type="http://schemas.openxmlformats.org/officeDocument/2006/relationships/slide" Target="slides/slide36.xml"/><Relationship Id="rId73"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 name="Google Shape;1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 name="Google Shape;1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 name="Google Shape;2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 name="Google Shape;3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9" name="Google Shape;4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0" name="Google Shape;6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6" name="Google Shape;7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8" name="Google Shape;10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8" name="Google Shape;11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8" name="Google Shape;148;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8" name="Google Shape;15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8" name="Google Shape;168;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0" name="Google Shape;18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9" name="Google Shape;209;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0" name="Google Shape;220;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0" name="Google Shape;230;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Explicación línea por línea</a:t>
            </a:r>
          </a:p>
          <a:p/>
          <a:p>
            <a:r>
              <a:t>set.seed(123): fija la semilla para reproducibilidad.</a:t>
            </a:r>
          </a:p>
          <a:p/>
          <a:p>
            <a:r>
              <a:t>rnorm(25, ...): genera 25 datos aleatorios de una distribución normal.</a:t>
            </a:r>
          </a:p>
          <a:p/>
          <a:p>
            <a:r>
              <a:t>mu0 &lt;- 10: valor de referencia contra el que probamos.</a:t>
            </a:r>
          </a:p>
          <a:p/>
          <a:p>
            <a:r>
              <a:t>t.test(...): realiza la prueba t. El argumento alternative = "two.sided" indica prueba bilateral (H₁: μ ≠ 10).</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7" name="Google Shape;267;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7" name="Google Shape;277;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0" name="Google Shape;310;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38" name="Google Shape;338;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70" name="Google Shape;370;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01" name="Google Shape;401;p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51" name="Google Shape;451;p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61" name="Google Shape;461;p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71" name="Google Shape;471;p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81" name="Google Shape;481;p4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91" name="Google Shape;491;p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01" name="Google Shape;501;p4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11" name="Google Shape;511;p4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Explicación del código</a:t>
            </a:r>
          </a:p>
          <a:p/>
          <a:p>
            <a:r>
              <a:t>• 30 datos reales (no simulados)</a:t>
            </a:r>
          </a:p>
          <a:p>
            <a:r>
              <a:t>• σ = 2.0 (varianza conocida)</a:t>
            </a:r>
          </a:p>
          <a:p>
            <a:r>
              <a:t>• H₀: μ ≤ 10  vs  H₁: μ &gt; 10</a:t>
            </a:r>
          </a:p>
          <a:p>
            <a:r>
              <a:t>• Prueba unilateral derecha</a:t>
            </a:r>
          </a:p>
          <a:p/>
          <a:p>
            <a:r>
              <a:t>Nota: z.test() necesita el paquete BSDA. El argumento sigma.x indica que conocemos σ.</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Explicación del código</a:t>
            </a:r>
          </a:p>
          <a:p/>
          <a:p>
            <a:r>
              <a:t>• X = 78: éxitos observados</a:t>
            </a:r>
          </a:p>
          <a:p>
            <a:r>
              <a:t>• n = 120: tamaño de muestra</a:t>
            </a:r>
          </a:p>
          <a:p>
            <a:r>
              <a:t>• p̂ = 78/120 = 0.65: proporción muestral</a:t>
            </a:r>
          </a:p>
          <a:p>
            <a:r>
              <a:t>• p₀ = 0.60: valor bajo H₀</a:t>
            </a:r>
          </a:p>
          <a:p/>
          <a:p>
            <a:r>
              <a:t>H₀: p ≤ 0.60</a:t>
            </a:r>
          </a:p>
          <a:p>
            <a:r>
              <a:t>H₁: p &gt; 0.60 (unilateral derecha)</a:t>
            </a:r>
          </a:p>
          <a:p/>
          <a:p>
            <a:r>
              <a:t>pnorm() calcula la probabilidad acumulada de la normal estándar.</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Explicación paso a paso</a:t>
            </a:r>
          </a:p>
          <a:p/>
          <a:p>
            <a:r>
              <a:t>1. var(x): calcula la varianza muestral s²</a:t>
            </a:r>
          </a:p>
          <a:p/>
          <a:p>
            <a:r>
              <a:t>2. chi_obs: estadístico χ² = (n-1)×s²/σ₀²</a:t>
            </a:r>
          </a:p>
          <a:p/>
          <a:p>
            <a:r>
              <a:t>3. qchisq(0.95, 14): valor crítico con 14 gl (n-1 = 15-1)</a:t>
            </a:r>
          </a:p>
          <a:p/>
          <a:p>
            <a:r>
              <a:t>4. pchisq(): probabilidad acumulada; 1 - pchisq() da el p-value para cola derecha</a:t>
            </a:r>
          </a:p>
          <a:p/>
          <a:p>
            <a:r>
              <a:t>Decisión: si chi_obs &gt; chi_crit, o si p_value &lt; alpha → Rechazar H₀</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Explicación</a:t>
            </a:r>
          </a:p>
          <a:p/>
          <a:p>
            <a:r>
              <a:t>• var(A) y var(B): varianzas muestrales</a:t>
            </a:r>
          </a:p>
          <a:p>
            <a:r>
              <a:t>• F_obs = s²_A / s²_B: estadístico F</a:t>
            </a:r>
          </a:p>
          <a:p>
            <a:r>
              <a:t>• qf(): valor crítico de la distribución F</a:t>
            </a:r>
          </a:p>
          <a:p>
            <a:r>
              <a:t>• pf(): probabilidad acumulada de F</a:t>
            </a:r>
          </a:p>
          <a:p/>
          <a:p>
            <a:r>
              <a:t>Si F_obs &gt; F_crit → Rechazar H₀</a:t>
            </a:r>
          </a:p>
          <a:p>
            <a:r>
              <a:t>Si p_value &lt; α → Rechazar H₀</a:t>
            </a:r>
          </a:p>
          <a:p/>
          <a:p>
            <a:r>
              <a:t>La varianza mayor siempre va en el numerador.</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Explicación del código</a:t>
            </a:r>
          </a:p>
          <a:p/>
          <a:p>
            <a:r>
              <a:t>• Dos grupos A (n=12) y B (n=10)</a:t>
            </a:r>
          </a:p>
          <a:p>
            <a:r>
              <a:t>• var.equal = FALSE → Prueba de Welch (no asume varianzas iguales)</a:t>
            </a:r>
          </a:p>
          <a:p>
            <a:r>
              <a:t>• alternative = "less" → H₁: μ_A &lt; μ_B</a:t>
            </a:r>
          </a:p>
          <a:p/>
          <a:p>
            <a:r>
              <a:t>Otras opciones:</a:t>
            </a:r>
          </a:p>
          <a:p>
            <a:r>
              <a:t>• var.equal = TRUE → Prueba t pooled (varianzas iguales)</a:t>
            </a:r>
          </a:p>
          <a:p>
            <a:r>
              <a:t>• paired = TRUE → Datos pareados</a:t>
            </a:r>
          </a:p>
          <a:p>
            <a:r>
              <a:t>• mu = D₀ → Diferencia bajo H₀ (por defecto es 0)</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datos</a:t>
            </a:r>
          </a:p>
          <a:p>
            <a:r>
              <a:t>Pesos de corteza (centigramos) de 28 alcornoques en 4 direcciones.</a:t>
            </a:r>
          </a:p>
          <a:p>
            <a:r>
              <a:t>Fuente: Mardia, Kent &amp; Bibby (1979), Tabla 1.4.1 (datos de Rao, 1948).</a:t>
            </a:r>
          </a:p>
          <a:p>
            <a:r>
              <a:t>Se entrega cork.csv para reproducir el análisis.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6.png"/><Relationship Id="rId7"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1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1" name="Shape 11"/>
        <p:cNvGrpSpPr/>
        <p:nvPr/>
      </p:nvGrpSpPr>
      <p:grpSpPr>
        <a:xfrm>
          <a:off x="0" y="0"/>
          <a:ext cx="0" cy="0"/>
          <a:chOff x="0" y="0"/>
          <a:chExt cx="0" cy="0"/>
        </a:xfrm>
      </p:grpSpPr>
      <p:sp>
        <p:nvSpPr>
          <p:cNvPr id="12" name="Google Shape;12;p1"/>
          <p:cNvSpPr/>
          <p:nvPr/>
        </p:nvSpPr>
        <p:spPr>
          <a:xfrm>
            <a:off x="228600" y="228600"/>
            <a:ext cx="11731752" cy="6400800"/>
          </a:xfrm>
          <a:prstGeom prst="rect">
            <a:avLst/>
          </a:prstGeom>
          <a:solidFill>
            <a:srgbClr val="A6B727"/>
          </a:solidFill>
          <a:ln cap="flat" cmpd="sng" w="254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1371600" y="1371600"/>
            <a:ext cx="9418320" cy="2743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Pruebas de Hipótesis</a:t>
            </a:r>
            <a:endParaRPr sz="5400">
              <a:solidFill>
                <a:schemeClr val="dk1"/>
              </a:solidFill>
              <a:latin typeface="Calibri"/>
              <a:ea typeface="Calibri"/>
              <a:cs typeface="Calibri"/>
              <a:sym typeface="Calibri"/>
            </a:endParaRPr>
          </a:p>
        </p:txBody>
      </p:sp>
      <p:cxnSp>
        <p:nvCxnSpPr>
          <p:cNvPr id="14" name="Google Shape;14;p1"/>
          <p:cNvCxnSpPr/>
          <p:nvPr/>
        </p:nvCxnSpPr>
        <p:spPr>
          <a:xfrm>
            <a:off x="2286000" y="3931920"/>
            <a:ext cx="7589520" cy="0"/>
          </a:xfrm>
          <a:prstGeom prst="straightConnector1">
            <a:avLst/>
          </a:prstGeom>
          <a:noFill/>
          <a:ln cap="flat" cmpd="sng" w="19050">
            <a:solidFill>
              <a:srgbClr val="FFFFFF"/>
            </a:solidFill>
            <a:prstDash val="solid"/>
            <a:round/>
            <a:headEnd len="sm" w="sm" type="none"/>
            <a:tailEnd len="sm" w="sm" type="none"/>
          </a:ln>
        </p:spPr>
      </p:cxnSp>
      <p:sp>
        <p:nvSpPr>
          <p:cNvPr id="15" name="Google Shape;15;p1"/>
          <p:cNvSpPr/>
          <p:nvPr/>
        </p:nvSpPr>
        <p:spPr>
          <a:xfrm>
            <a:off x="2286000" y="4023360"/>
            <a:ext cx="758952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lang="en-US" sz="2400">
                <a:solidFill>
                  <a:srgbClr val="FFFFFF"/>
                </a:solidFill>
                <a:latin typeface="Calibri"/>
                <a:ea typeface="Calibri"/>
                <a:cs typeface="Calibri"/>
                <a:sym typeface="Calibri"/>
              </a:rPr>
              <a:t>CAPÍTULO 2</a:t>
            </a:r>
            <a:endParaRPr sz="24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0" name="Shape 20"/>
        <p:cNvGrpSpPr/>
        <p:nvPr/>
      </p:nvGrpSpPr>
      <p:grpSpPr>
        <a:xfrm>
          <a:off x="0" y="0"/>
          <a:ext cx="0" cy="0"/>
          <a:chOff x="0" y="0"/>
          <a:chExt cx="0" cy="0"/>
        </a:xfrm>
      </p:grpSpPr>
      <p:sp>
        <p:nvSpPr>
          <p:cNvPr id="21" name="Google Shape;21;p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¿QUÉ ES UNA PRUEBA DE HIPÓTESIS?</a:t>
            </a:r>
            <a:endParaRPr sz="3600">
              <a:solidFill>
                <a:schemeClr val="dk1"/>
              </a:solidFill>
              <a:latin typeface="Calibri"/>
              <a:ea typeface="Calibri"/>
              <a:cs typeface="Calibri"/>
              <a:sym typeface="Calibri"/>
            </a:endParaRPr>
          </a:p>
        </p:txBody>
      </p:sp>
      <p:sp>
        <p:nvSpPr>
          <p:cNvPr id="23" name="Google Shape;23;p2"/>
          <p:cNvSpPr/>
          <p:nvPr/>
        </p:nvSpPr>
        <p:spPr>
          <a:xfrm>
            <a:off x="914400" y="1554480"/>
            <a:ext cx="68580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En estadística, muchas veces necesitamos </a:t>
            </a:r>
            <a:r>
              <a:rPr b="1" lang="en-US" sz="1600">
                <a:solidFill>
                  <a:srgbClr val="595652"/>
                </a:solidFill>
                <a:latin typeface="Calibri"/>
                <a:ea typeface="Calibri"/>
                <a:cs typeface="Calibri"/>
                <a:sym typeface="Calibri"/>
              </a:rPr>
              <a:t>tomar una decisión</a:t>
            </a:r>
            <a:r>
              <a:rPr lang="en-US" sz="1600">
                <a:solidFill>
                  <a:srgbClr val="595652"/>
                </a:solidFill>
                <a:latin typeface="Calibri"/>
                <a:ea typeface="Calibri"/>
                <a:cs typeface="Calibri"/>
                <a:sym typeface="Calibri"/>
              </a:rPr>
              <a:t> sobre un parámetro de una población a partir de los datos de una muestra.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Una prueba de hipótesis evalúa si los datos proporcionan suficiente evidencia para rechazar una suposición inicial sobre la población.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El procedimiento parte de dos hipótesis contrapuestas: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H₀ (hipótesis nula): </a:t>
            </a:r>
            <a:r>
              <a:rPr lang="en-US" sz="1600">
                <a:solidFill>
                  <a:srgbClr val="595652"/>
                </a:solidFill>
                <a:latin typeface="Calibri"/>
                <a:ea typeface="Calibri"/>
                <a:cs typeface="Calibri"/>
                <a:sym typeface="Calibri"/>
              </a:rPr>
              <a:t>Suposición inicial ("status quo"). Ej: "la media es igual a 70".</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H₁ (hipótesis alternativa): </a:t>
            </a:r>
            <a:r>
              <a:rPr lang="en-US" sz="1600">
                <a:solidFill>
                  <a:srgbClr val="595652"/>
                </a:solidFill>
                <a:latin typeface="Calibri"/>
                <a:ea typeface="Calibri"/>
                <a:cs typeface="Calibri"/>
                <a:sym typeface="Calibri"/>
              </a:rPr>
              <a:t>Lo que queremos demostrar. Ej: "la media es mayor que 70".</a:t>
            </a:r>
            <a:endParaRPr sz="1800">
              <a:solidFill>
                <a:schemeClr val="dk1"/>
              </a:solidFill>
              <a:latin typeface="Calibri"/>
              <a:ea typeface="Calibri"/>
              <a:cs typeface="Calibri"/>
              <a:sym typeface="Calibri"/>
            </a:endParaRPr>
          </a:p>
        </p:txBody>
      </p:sp>
      <p:sp>
        <p:nvSpPr>
          <p:cNvPr id="24" name="Google Shape;24;p2"/>
          <p:cNvSpPr/>
          <p:nvPr/>
        </p:nvSpPr>
        <p:spPr>
          <a:xfrm>
            <a:off x="8046720" y="1645920"/>
            <a:ext cx="3657600" cy="3200400"/>
          </a:xfrm>
          <a:prstGeom prst="roundRect">
            <a:avLst>
              <a:gd fmla="val 285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2"/>
          <p:cNvSpPr/>
          <p:nvPr/>
        </p:nvSpPr>
        <p:spPr>
          <a:xfrm>
            <a:off x="8183880" y="1737360"/>
            <a:ext cx="338328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Mensaje clave</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La prueba NO demuestra que H₀ sea verdadera o falsa. Solo evalúa si hay suficiente evidencia para rechazarla.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no hay evidencia suficiente, no se rechaza H₀ (pero esto no significa que sea verdadera).</a:t>
            </a:r>
            <a:endParaRPr sz="16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30" name="Shape 30"/>
        <p:cNvGrpSpPr/>
        <p:nvPr/>
      </p:nvGrpSpPr>
      <p:grpSpPr>
        <a:xfrm>
          <a:off x="0" y="0"/>
          <a:ext cx="0" cy="0"/>
          <a:chOff x="0" y="0"/>
          <a:chExt cx="0" cy="0"/>
        </a:xfrm>
      </p:grpSpPr>
      <p:sp>
        <p:nvSpPr>
          <p:cNvPr id="31" name="Google Shape;31;p3"/>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3"/>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 DE HIPÓTESIS PARA LA MEDIA</a:t>
            </a:r>
            <a:endParaRPr sz="3600">
              <a:solidFill>
                <a:schemeClr val="dk1"/>
              </a:solidFill>
              <a:latin typeface="Calibri"/>
              <a:ea typeface="Calibri"/>
              <a:cs typeface="Calibri"/>
              <a:sym typeface="Calibri"/>
            </a:endParaRPr>
          </a:p>
        </p:txBody>
      </p:sp>
      <p:sp>
        <p:nvSpPr>
          <p:cNvPr id="33" name="Google Shape;33;p3"/>
          <p:cNvSpPr/>
          <p:nvPr/>
        </p:nvSpPr>
        <p:spPr>
          <a:xfrm>
            <a:off x="914400" y="155448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800"/>
              <a:buFont typeface="Calibri"/>
              <a:buNone/>
            </a:pPr>
            <a:r>
              <a:rPr b="1" lang="en-US" sz="1800">
                <a:solidFill>
                  <a:srgbClr val="595652"/>
                </a:solidFill>
                <a:latin typeface="Calibri"/>
                <a:ea typeface="Calibri"/>
                <a:cs typeface="Calibri"/>
                <a:sym typeface="Calibri"/>
              </a:rPr>
              <a:t>Pregunta de investigación: </a:t>
            </a:r>
            <a:r>
              <a:rPr lang="en-US" sz="1800">
                <a:solidFill>
                  <a:srgbClr val="595652"/>
                </a:solidFill>
                <a:latin typeface="Calibri"/>
                <a:ea typeface="Calibri"/>
                <a:cs typeface="Calibri"/>
                <a:sym typeface="Calibri"/>
              </a:rPr>
              <a:t>¿La gente está viviendo más de 70 años en promedio?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Para responder esta pregunta, planteamos las hipótesis: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onsolas"/>
              <a:buNone/>
            </a:pPr>
            <a:r>
              <a:rPr lang="en-US" sz="1800">
                <a:solidFill>
                  <a:srgbClr val="595652"/>
                </a:solidFill>
                <a:latin typeface="Consolas"/>
                <a:ea typeface="Consolas"/>
                <a:cs typeface="Consolas"/>
                <a:sym typeface="Consolas"/>
              </a:rPr>
              <a:t>  H₀: μ ≤ 70  (la esperanza de vida promedio es 70 años o menos)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onsolas"/>
              <a:buNone/>
            </a:pPr>
            <a:r>
              <a:rPr lang="en-US" sz="1800">
                <a:solidFill>
                  <a:srgbClr val="595652"/>
                </a:solidFill>
                <a:latin typeface="Consolas"/>
                <a:ea typeface="Consolas"/>
                <a:cs typeface="Consolas"/>
                <a:sym typeface="Consolas"/>
              </a:rPr>
              <a:t>  H₁: μ &gt; 70  (la esperanza de vida promedio es mayor a 70 años)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Se toma una muestra aleatoria y se utiliza un estadístico de prueba para determinar si los datos apoyan la hipótesis alternativa.</a:t>
            </a:r>
            <a:endParaRPr sz="1800">
              <a:solidFill>
                <a:schemeClr val="dk1"/>
              </a:solidFill>
              <a:latin typeface="Calibri"/>
              <a:ea typeface="Calibri"/>
              <a:cs typeface="Calibri"/>
              <a:sym typeface="Calibri"/>
            </a:endParaRPr>
          </a:p>
        </p:txBody>
      </p:sp>
      <p:pic>
        <p:nvPicPr>
          <p:cNvPr descr="/sessions/clever-sweet-sagan/clase2_images/slide03_img00.png" id="34" name="Google Shape;34;p3"/>
          <p:cNvPicPr preferRelativeResize="0"/>
          <p:nvPr/>
        </p:nvPicPr>
        <p:blipFill rotWithShape="1">
          <a:blip r:embed="rId3">
            <a:alphaModFix/>
          </a:blip>
          <a:srcRect b="0" l="0" r="0" t="0"/>
          <a:stretch/>
        </p:blipFill>
        <p:spPr>
          <a:xfrm>
            <a:off x="6858000" y="2286000"/>
            <a:ext cx="4572000" cy="2743200"/>
          </a:xfrm>
          <a:prstGeom prst="rect">
            <a:avLst/>
          </a:prstGeom>
          <a:noFill/>
          <a:ln>
            <a:noFill/>
          </a:ln>
        </p:spPr>
      </p:pic>
      <p:sp>
        <p:nvSpPr>
          <p:cNvPr id="35" name="Google Shape;35;p3"/>
          <p:cNvSpPr txBox="1"/>
          <p:nvPr/>
        </p:nvSpPr>
        <p:spPr>
          <a:xfrm>
            <a:off x="10156675" y="3224975"/>
            <a:ext cx="13761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media = 71.8</a:t>
            </a:r>
            <a:endParaRPr/>
          </a:p>
          <a:p>
            <a:pPr indent="0" lvl="0" marL="0" rtl="0" algn="l">
              <a:spcBef>
                <a:spcPts val="0"/>
              </a:spcBef>
              <a:spcAft>
                <a:spcPts val="0"/>
              </a:spcAft>
              <a:buNone/>
            </a:pPr>
            <a:r>
              <a:rPr lang="en-US"/>
              <a:t>n= 100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0" name="Shape 40"/>
        <p:cNvGrpSpPr/>
        <p:nvPr/>
      </p:nvGrpSpPr>
      <p:grpSpPr>
        <a:xfrm>
          <a:off x="0" y="0"/>
          <a:ext cx="0" cy="0"/>
          <a:chOff x="0" y="0"/>
          <a:chExt cx="0" cy="0"/>
        </a:xfrm>
      </p:grpSpPr>
      <p:sp>
        <p:nvSpPr>
          <p:cNvPr id="41" name="Google Shape;41;p4"/>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4"/>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 DE HIPÓTESIS PARA LA MEDIA</a:t>
            </a:r>
            <a:endParaRPr sz="3600">
              <a:solidFill>
                <a:schemeClr val="dk1"/>
              </a:solidFill>
              <a:latin typeface="Calibri"/>
              <a:ea typeface="Calibri"/>
              <a:cs typeface="Calibri"/>
              <a:sym typeface="Calibri"/>
            </a:endParaRPr>
          </a:p>
        </p:txBody>
      </p:sp>
      <p:pic>
        <p:nvPicPr>
          <p:cNvPr descr="/sessions/clever-sweet-sagan/clase2_images/slide04_img00.png" id="43" name="Google Shape;43;p4"/>
          <p:cNvPicPr preferRelativeResize="0"/>
          <p:nvPr/>
        </p:nvPicPr>
        <p:blipFill rotWithShape="1">
          <a:blip r:embed="rId3">
            <a:alphaModFix/>
          </a:blip>
          <a:srcRect b="0" l="0" r="0" t="0"/>
          <a:stretch/>
        </p:blipFill>
        <p:spPr>
          <a:xfrm>
            <a:off x="914400" y="1554480"/>
            <a:ext cx="5943600" cy="4389120"/>
          </a:xfrm>
          <a:prstGeom prst="rect">
            <a:avLst/>
          </a:prstGeom>
          <a:noFill/>
          <a:ln>
            <a:noFill/>
          </a:ln>
        </p:spPr>
      </p:pic>
      <p:sp>
        <p:nvSpPr>
          <p:cNvPr id="44" name="Google Shape;44;p4"/>
          <p:cNvSpPr/>
          <p:nvPr/>
        </p:nvSpPr>
        <p:spPr>
          <a:xfrm>
            <a:off x="7315200" y="1554480"/>
            <a:ext cx="4389120" cy="4572000"/>
          </a:xfrm>
          <a:prstGeom prst="roundRect">
            <a:avLst>
              <a:gd fmla="val 208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4"/>
          <p:cNvSpPr/>
          <p:nvPr/>
        </p:nvSpPr>
        <p:spPr>
          <a:xfrm>
            <a:off x="7452360" y="1645920"/>
            <a:ext cx="4114800" cy="4389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¿Qué es el nivel de significancia (α)?</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Es la probabilidad máxima de cometer un Error Tipo I, es decir, rechazar H₀ cuando en realidad es verdadera.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Valores comunes: α = 0.01, 0.05, 0.10</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Regla de decisión:</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P-valor ≤ α → Se rechaza H₀</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P-valor &gt; α → No se rechaza H₀</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En este ejemplo:</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2,17% ≤ 5% → Se rechaza H₀</a:t>
            </a:r>
            <a:endParaRPr sz="16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50" name="Shape 50"/>
        <p:cNvGrpSpPr/>
        <p:nvPr/>
      </p:nvGrpSpPr>
      <p:grpSpPr>
        <a:xfrm>
          <a:off x="0" y="0"/>
          <a:ext cx="0" cy="0"/>
          <a:chOff x="0" y="0"/>
          <a:chExt cx="0" cy="0"/>
        </a:xfrm>
      </p:grpSpPr>
      <p:sp>
        <p:nvSpPr>
          <p:cNvPr id="51" name="Google Shape;51;p5"/>
          <p:cNvSpPr/>
          <p:nvPr/>
        </p:nvSpPr>
        <p:spPr>
          <a:xfrm>
            <a:off x="228600" y="257176"/>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PRUEBA DE HIPÓTESIS PARA LA MEDIA (DISTR. T)</a:t>
            </a:r>
            <a:endParaRPr sz="3200">
              <a:solidFill>
                <a:schemeClr val="dk1"/>
              </a:solidFill>
              <a:latin typeface="Calibri"/>
              <a:ea typeface="Calibri"/>
              <a:cs typeface="Calibri"/>
              <a:sym typeface="Calibri"/>
            </a:endParaRPr>
          </a:p>
        </p:txBody>
      </p:sp>
      <p:sp>
        <p:nvSpPr>
          <p:cNvPr id="53" name="Google Shape;53;p5"/>
          <p:cNvSpPr/>
          <p:nvPr/>
        </p:nvSpPr>
        <p:spPr>
          <a:xfrm>
            <a:off x="914400" y="1554480"/>
            <a:ext cx="6858000" cy="3657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Se conoce que la media del consumo de energía eléctrica en una pequeña ciudad es 721 kWh.</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La Junta de acción comunal de un barrio tiene la hipótesis que los residentes de dicho sector consumen más que el promedio de la ciudad. Se obtiene información sobre los consumos de 20 hogares escogidos aleatoriamente.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¿Hay evidencias para afirmar que el promedio del consumo de energía eléctrica del Barrio es superior a la media del consumo a nivel de la pequeña ciudad? Usar un nivel de significación del 5%.</a:t>
            </a:r>
            <a:endParaRPr sz="1800">
              <a:solidFill>
                <a:schemeClr val="dk1"/>
              </a:solidFill>
              <a:latin typeface="Calibri"/>
              <a:ea typeface="Calibri"/>
              <a:cs typeface="Calibri"/>
              <a:sym typeface="Calibri"/>
            </a:endParaRPr>
          </a:p>
        </p:txBody>
      </p:sp>
      <p:sp>
        <p:nvSpPr>
          <p:cNvPr id="54" name="Google Shape;54;p5"/>
          <p:cNvSpPr/>
          <p:nvPr/>
        </p:nvSpPr>
        <p:spPr>
          <a:xfrm>
            <a:off x="8046720" y="1645920"/>
            <a:ext cx="3657600" cy="3200400"/>
          </a:xfrm>
          <a:prstGeom prst="roundRect">
            <a:avLst>
              <a:gd fmla="val 285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5"/>
          <p:cNvSpPr/>
          <p:nvPr/>
        </p:nvSpPr>
        <p:spPr>
          <a:xfrm>
            <a:off x="8183880" y="1737360"/>
            <a:ext cx="338328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¿Por qué usamos la distribución t?</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Se usa la distribución t de Student cuando la varianza poblacional (σ²) es desconocida. La distribución t tiene colas más anchas que la normal, lo que compensa la incertidumbre adicional.</a:t>
            </a:r>
            <a:endParaRPr sz="1600">
              <a:solidFill>
                <a:schemeClr val="dk1"/>
              </a:solidFill>
              <a:latin typeface="Calibri"/>
              <a:ea typeface="Calibri"/>
              <a:cs typeface="Calibri"/>
              <a:sym typeface="Calibri"/>
            </a:endParaRPr>
          </a:p>
        </p:txBody>
      </p:sp>
      <p:pic>
        <p:nvPicPr>
          <p:cNvPr descr="/sessions/clever-sweet-sagan/clase2_images/slide05_img00.png" id="56" name="Google Shape;56;p5"/>
          <p:cNvPicPr preferRelativeResize="0"/>
          <p:nvPr/>
        </p:nvPicPr>
        <p:blipFill rotWithShape="1">
          <a:blip r:embed="rId3">
            <a:alphaModFix/>
          </a:blip>
          <a:srcRect b="0" l="0" r="0" t="0"/>
          <a:stretch/>
        </p:blipFill>
        <p:spPr>
          <a:xfrm>
            <a:off x="8412480" y="5029200"/>
            <a:ext cx="1371600" cy="914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61" name="Shape 61"/>
        <p:cNvGrpSpPr/>
        <p:nvPr/>
      </p:nvGrpSpPr>
      <p:grpSpPr>
        <a:xfrm>
          <a:off x="0" y="0"/>
          <a:ext cx="0" cy="0"/>
          <a:chOff x="0" y="0"/>
          <a:chExt cx="0" cy="0"/>
        </a:xfrm>
      </p:grpSpPr>
      <p:sp>
        <p:nvSpPr>
          <p:cNvPr id="62" name="Google Shape;62;p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 PARA LA MEDIA: RESULTADO</a:t>
            </a:r>
            <a:endParaRPr sz="3600">
              <a:solidFill>
                <a:schemeClr val="dk1"/>
              </a:solidFill>
              <a:latin typeface="Calibri"/>
              <a:ea typeface="Calibri"/>
              <a:cs typeface="Calibri"/>
              <a:sym typeface="Calibri"/>
            </a:endParaRPr>
          </a:p>
        </p:txBody>
      </p:sp>
      <p:pic>
        <p:nvPicPr>
          <p:cNvPr descr="/sessions/clever-sweet-sagan/clase2_images/slide06_img00.png" id="64" name="Google Shape;64;p6"/>
          <p:cNvPicPr preferRelativeResize="0"/>
          <p:nvPr/>
        </p:nvPicPr>
        <p:blipFill rotWithShape="1">
          <a:blip r:embed="rId3">
            <a:alphaModFix/>
          </a:blip>
          <a:srcRect b="0" l="0" r="0" t="0"/>
          <a:stretch/>
        </p:blipFill>
        <p:spPr>
          <a:xfrm>
            <a:off x="731520" y="1554480"/>
            <a:ext cx="2286000" cy="731520"/>
          </a:xfrm>
          <a:prstGeom prst="rect">
            <a:avLst/>
          </a:prstGeom>
          <a:noFill/>
          <a:ln>
            <a:noFill/>
          </a:ln>
        </p:spPr>
      </p:pic>
      <p:pic>
        <p:nvPicPr>
          <p:cNvPr descr="/sessions/clever-sweet-sagan/clase2_images/slide06_img01.png" id="65" name="Google Shape;65;p6"/>
          <p:cNvPicPr preferRelativeResize="0"/>
          <p:nvPr/>
        </p:nvPicPr>
        <p:blipFill rotWithShape="1">
          <a:blip r:embed="rId4">
            <a:alphaModFix/>
          </a:blip>
          <a:srcRect b="0" l="0" r="0" t="0"/>
          <a:stretch/>
        </p:blipFill>
        <p:spPr>
          <a:xfrm>
            <a:off x="3200400" y="1554480"/>
            <a:ext cx="1645920" cy="640080"/>
          </a:xfrm>
          <a:prstGeom prst="rect">
            <a:avLst/>
          </a:prstGeom>
          <a:noFill/>
          <a:ln>
            <a:noFill/>
          </a:ln>
        </p:spPr>
      </p:pic>
      <p:pic>
        <p:nvPicPr>
          <p:cNvPr descr="/sessions/clever-sweet-sagan/clase2_images/slide06_img05.png" id="66" name="Google Shape;66;p6"/>
          <p:cNvPicPr preferRelativeResize="0"/>
          <p:nvPr/>
        </p:nvPicPr>
        <p:blipFill rotWithShape="1">
          <a:blip r:embed="rId5">
            <a:alphaModFix/>
          </a:blip>
          <a:srcRect b="0" l="0" r="0" t="0"/>
          <a:stretch/>
        </p:blipFill>
        <p:spPr>
          <a:xfrm>
            <a:off x="731520" y="2560320"/>
            <a:ext cx="1371600" cy="914400"/>
          </a:xfrm>
          <a:prstGeom prst="rect">
            <a:avLst/>
          </a:prstGeom>
          <a:noFill/>
          <a:ln>
            <a:noFill/>
          </a:ln>
        </p:spPr>
      </p:pic>
      <p:pic>
        <p:nvPicPr>
          <p:cNvPr descr="/sessions/clever-sweet-sagan/clase2_images/slide06_img02.png" id="67" name="Google Shape;67;p6"/>
          <p:cNvPicPr preferRelativeResize="0"/>
          <p:nvPr/>
        </p:nvPicPr>
        <p:blipFill rotWithShape="1">
          <a:blip r:embed="rId6">
            <a:alphaModFix/>
          </a:blip>
          <a:srcRect b="0" l="0" r="0" t="0"/>
          <a:stretch/>
        </p:blipFill>
        <p:spPr>
          <a:xfrm>
            <a:off x="2743200" y="2743200"/>
            <a:ext cx="1828800" cy="914400"/>
          </a:xfrm>
          <a:prstGeom prst="rect">
            <a:avLst/>
          </a:prstGeom>
          <a:noFill/>
          <a:ln>
            <a:noFill/>
          </a:ln>
        </p:spPr>
      </p:pic>
      <p:pic>
        <p:nvPicPr>
          <p:cNvPr descr="/sessions/clever-sweet-sagan/clase2_images/slide06_img03.png" id="68" name="Google Shape;68;p6"/>
          <p:cNvPicPr preferRelativeResize="0"/>
          <p:nvPr/>
        </p:nvPicPr>
        <p:blipFill rotWithShape="1">
          <a:blip r:embed="rId7">
            <a:alphaModFix/>
          </a:blip>
          <a:srcRect b="0" l="0" r="0" t="0"/>
          <a:stretch/>
        </p:blipFill>
        <p:spPr>
          <a:xfrm>
            <a:off x="5029200" y="1554480"/>
            <a:ext cx="3108960" cy="1371600"/>
          </a:xfrm>
          <a:prstGeom prst="rect">
            <a:avLst/>
          </a:prstGeom>
          <a:noFill/>
          <a:ln>
            <a:noFill/>
          </a:ln>
        </p:spPr>
      </p:pic>
      <p:sp>
        <p:nvSpPr>
          <p:cNvPr id="69" name="Google Shape;69;p6"/>
          <p:cNvSpPr/>
          <p:nvPr/>
        </p:nvSpPr>
        <p:spPr>
          <a:xfrm>
            <a:off x="914400" y="3840480"/>
            <a:ext cx="10515600" cy="2468880"/>
          </a:xfrm>
          <a:prstGeom prst="roundRect">
            <a:avLst>
              <a:gd fmla="val 3704"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6"/>
          <p:cNvSpPr/>
          <p:nvPr/>
        </p:nvSpPr>
        <p:spPr>
          <a:xfrm>
            <a:off x="1051560" y="3931920"/>
            <a:ext cx="1024128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Conclusión en contexto</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Con un nivel de significancia del 5%, hay evidencia estadística suficiente para rechazar H₀. Esto significa que los datos de la muestra sugieren que el consumo promedio del Barrio es superior a 721 kWh.</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 ≤ α → 2,5% ≤ 5% → Se rechaza H₀</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En palabras simples: el p-valor (2,2%) es menor que el nivel de significancia (5%), por lo que la evidencia apoya que el Barrio consume más energía que el promedio de la ciudad.</a:t>
            </a:r>
            <a:endParaRPr sz="1600">
              <a:solidFill>
                <a:schemeClr val="dk1"/>
              </a:solidFill>
              <a:latin typeface="Calibri"/>
              <a:ea typeface="Calibri"/>
              <a:cs typeface="Calibri"/>
              <a:sym typeface="Calibri"/>
            </a:endParaRPr>
          </a:p>
        </p:txBody>
      </p:sp>
      <p:sp>
        <p:nvSpPr>
          <p:cNvPr id="71" name="Google Shape;71;p6"/>
          <p:cNvSpPr txBox="1"/>
          <p:nvPr/>
        </p:nvSpPr>
        <p:spPr>
          <a:xfrm>
            <a:off x="7621200" y="1645925"/>
            <a:ext cx="35790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Valor crítico T (19 gdl, ɑ = 0.05) = 1.73 </a:t>
            </a:r>
            <a:endParaRPr/>
          </a:p>
        </p:txBody>
      </p:sp>
      <p:sp>
        <p:nvSpPr>
          <p:cNvPr id="72" name="Google Shape;72;p6"/>
          <p:cNvSpPr txBox="1"/>
          <p:nvPr/>
        </p:nvSpPr>
        <p:spPr>
          <a:xfrm>
            <a:off x="6015525" y="3168900"/>
            <a:ext cx="29115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valor p = 0.02188</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77" name="Shape 77"/>
        <p:cNvGrpSpPr/>
        <p:nvPr/>
      </p:nvGrpSpPr>
      <p:grpSpPr>
        <a:xfrm>
          <a:off x="0" y="0"/>
          <a:ext cx="0" cy="0"/>
          <a:chOff x="0" y="0"/>
          <a:chExt cx="0" cy="0"/>
        </a:xfrm>
      </p:grpSpPr>
      <p:sp>
        <p:nvSpPr>
          <p:cNvPr id="78" name="Google Shape;78;p7"/>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7"/>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EN R (1): PRUEBA T PARA LA MEDIA</a:t>
            </a:r>
            <a:endParaRPr sz="3600">
              <a:solidFill>
                <a:schemeClr val="dk1"/>
              </a:solidFill>
              <a:latin typeface="Calibri"/>
              <a:ea typeface="Calibri"/>
              <a:cs typeface="Calibri"/>
              <a:sym typeface="Calibri"/>
            </a:endParaRPr>
          </a:p>
        </p:txBody>
      </p:sp>
      <p:sp>
        <p:nvSpPr>
          <p:cNvPr id="80" name="Google Shape;80;p7"/>
          <p:cNvSpPr/>
          <p:nvPr/>
        </p:nvSpPr>
        <p:spPr>
          <a:xfrm>
            <a:off x="914400" y="1554480"/>
            <a:ext cx="68580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2200"/>
              <a:buFont typeface="Calibri"/>
              <a:buNone/>
            </a:pPr>
            <a:r>
              <a:rPr b="1" lang="en-US" sz="2200">
                <a:solidFill>
                  <a:srgbClr val="595652"/>
                </a:solidFill>
                <a:latin typeface="Calibri"/>
                <a:ea typeface="Calibri"/>
                <a:cs typeface="Calibri"/>
                <a:sym typeface="Calibri"/>
              </a:rPr>
              <a:t>¿Qué vamos a hacer?</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Vamos a usar R para realizar una prueba t de una muestra. Simularemos datos de tiempos de entrega y probaremos si la media es distinta de un valor de referencia.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b="1" lang="en-US" sz="1800">
                <a:solidFill>
                  <a:srgbClr val="595652"/>
                </a:solidFill>
                <a:latin typeface="Calibri"/>
                <a:ea typeface="Calibri"/>
                <a:cs typeface="Calibri"/>
                <a:sym typeface="Calibri"/>
              </a:rPr>
              <a:t>Pasos que seguiremos: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1. Simular 25 observaciones con media cercana a 10.8 y desviación estándar de 1.9</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2. Plantear H₀: μ = 10  vs  H₁: μ ≠ 10  (prueba bilateral)</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3. Usar la función t.test() de R con nivel de significancia α = 0.05</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4. Interpretar el p-valor y tomar la decisión</a:t>
            </a:r>
            <a:endParaRPr sz="1800">
              <a:solidFill>
                <a:schemeClr val="dk1"/>
              </a:solidFill>
              <a:latin typeface="Calibri"/>
              <a:ea typeface="Calibri"/>
              <a:cs typeface="Calibri"/>
              <a:sym typeface="Calibri"/>
            </a:endParaRPr>
          </a:p>
        </p:txBody>
      </p:sp>
      <p:sp>
        <p:nvSpPr>
          <p:cNvPr id="81" name="Google Shape;81;p7"/>
          <p:cNvSpPr/>
          <p:nvPr/>
        </p:nvSpPr>
        <p:spPr>
          <a:xfrm>
            <a:off x="8229600" y="1828800"/>
            <a:ext cx="3474720" cy="3200400"/>
          </a:xfrm>
          <a:prstGeom prst="roundRect">
            <a:avLst>
              <a:gd fmla="val 285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7"/>
          <p:cNvSpPr/>
          <p:nvPr/>
        </p:nvSpPr>
        <p:spPr>
          <a:xfrm>
            <a:off x="8366760" y="1920240"/>
            <a:ext cx="320040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¿Por qué simular datos?</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Simular datos permite entender cómo funciona la prueba en un escenario controlado donde conocemos la "verdad". Si la media real es 10.8, esperamos que la prueba rechace H₀: μ = 10.</a:t>
            </a:r>
            <a:endParaRPr sz="16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tIns="54864" bIns="36576" anchor="ctr">
            <a:spAutoFit/>
          </a:bodyPr>
          <a:lstStyle/>
          <a:p>
            <a:pPr algn="l">
              <a:spcBef>
                <a:spcPts val="0"/>
              </a:spcBef>
              <a:spcAft>
                <a:spcPts val="100"/>
              </a:spcAft>
            </a:pPr>
            <a:r>
              <a:rPr sz="2200" b="1">
                <a:solidFill>
                  <a:srgbClr val="A6B727"/>
                </a:solidFill>
                <a:latin typeface="Calibri"/>
              </a:rPr>
              <a:t>EJEMPLO EN R (1): PRUEBA t — CÓDIGO Y RESULTADO</a:t>
            </a:r>
          </a:p>
        </p:txBody>
      </p:sp>
      <p:sp>
        <p:nvSpPr>
          <p:cNvPr id="4" name="Rectangle 3"/>
          <p:cNvSpPr/>
          <p:nvPr/>
        </p:nvSpPr>
        <p:spPr>
          <a:xfrm>
            <a:off x="822960" y="1371600"/>
            <a:ext cx="6126480" cy="3977639"/>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00" b="0">
                <a:solidFill>
                  <a:srgbClr val="333333"/>
                </a:solidFill>
                <a:latin typeface="Consolas"/>
              </a:rPr>
              <a:t>set.seed(123)</a:t>
            </a:r>
          </a:p>
          <a:p>
            <a:pPr algn="l">
              <a:spcBef>
                <a:spcPts val="0"/>
              </a:spcBef>
              <a:spcAft>
                <a:spcPts val="100"/>
              </a:spcAft>
            </a:pPr>
            <a:r>
              <a:rPr sz="1100" b="0">
                <a:solidFill>
                  <a:srgbClr val="333333"/>
                </a:solidFill>
                <a:latin typeface="Consolas"/>
              </a:rPr>
              <a:t># Simulamos 25 tiempos con media cercana a 10.8 y sd ~ 1.9</a:t>
            </a:r>
          </a:p>
          <a:p>
            <a:pPr algn="l">
              <a:spcBef>
                <a:spcPts val="0"/>
              </a:spcBef>
              <a:spcAft>
                <a:spcPts val="100"/>
              </a:spcAft>
            </a:pPr>
            <a:r>
              <a:rPr sz="1100" b="0">
                <a:solidFill>
                  <a:srgbClr val="333333"/>
                </a:solidFill>
                <a:latin typeface="Consolas"/>
              </a:rPr>
              <a:t>x &lt;- rnorm(25, mean = 10.8, sd = 1.9)</a:t>
            </a:r>
          </a:p>
          <a:p>
            <a:pPr algn="l">
              <a:spcBef>
                <a:spcPts val="0"/>
              </a:spcBef>
              <a:spcAft>
                <a:spcPts val="100"/>
              </a:spcAft>
            </a:pPr>
            <a:r>
              <a:rPr sz="1100" b="0">
                <a:solidFill>
                  <a:srgbClr val="333333"/>
                </a:solidFill>
                <a:latin typeface="Consolas"/>
              </a:rPr>
              <a:t>mu0 &lt;- 10</a:t>
            </a:r>
          </a:p>
          <a:p>
            <a:pPr algn="l">
              <a:spcBef>
                <a:spcPts val="0"/>
              </a:spcBef>
              <a:spcAft>
                <a:spcPts val="100"/>
              </a:spcAft>
            </a:pPr>
            <a:r>
              <a:rPr sz="1100" b="0">
                <a:solidFill>
                  <a:srgbClr val="333333"/>
                </a:solidFill>
                <a:latin typeface="Consolas"/>
              </a:rPr>
              <a:t>alpha &lt;- 0.05</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 Prueba t bilateral ---</a:t>
            </a:r>
          </a:p>
          <a:p>
            <a:pPr algn="l">
              <a:spcBef>
                <a:spcPts val="0"/>
              </a:spcBef>
              <a:spcAft>
                <a:spcPts val="100"/>
              </a:spcAft>
            </a:pPr>
            <a:r>
              <a:rPr sz="1100" b="0">
                <a:solidFill>
                  <a:srgbClr val="333333"/>
                </a:solidFill>
                <a:latin typeface="Consolas"/>
              </a:rPr>
              <a:t>res_t &lt;- t.test(x, mu = mu0, alternative = "two.sided",</a:t>
            </a:r>
          </a:p>
          <a:p>
            <a:pPr algn="l">
              <a:spcBef>
                <a:spcPts val="0"/>
              </a:spcBef>
              <a:spcAft>
                <a:spcPts val="100"/>
              </a:spcAft>
            </a:pPr>
            <a:r>
              <a:rPr sz="1100" b="0">
                <a:solidFill>
                  <a:srgbClr val="333333"/>
                </a:solidFill>
                <a:latin typeface="Consolas"/>
              </a:rPr>
              <a:t>                conf.level = 1 - alpha)</a:t>
            </a:r>
          </a:p>
          <a:p>
            <a:pPr algn="l">
              <a:spcBef>
                <a:spcPts val="0"/>
              </a:spcBef>
              <a:spcAft>
                <a:spcPts val="100"/>
              </a:spcAft>
            </a:pPr>
            <a:r>
              <a:rPr sz="1100" b="0">
                <a:solidFill>
                  <a:srgbClr val="333333"/>
                </a:solidFill>
                <a:latin typeface="Consolas"/>
              </a:rPr>
              <a:t>res_t</a:t>
            </a:r>
          </a:p>
        </p:txBody>
      </p:sp>
      <p:sp>
        <p:nvSpPr>
          <p:cNvPr id="5" name="TextBox 4"/>
          <p:cNvSpPr txBox="1"/>
          <p:nvPr/>
        </p:nvSpPr>
        <p:spPr>
          <a:xfrm>
            <a:off x="822960" y="5486400"/>
            <a:ext cx="6126480" cy="777240"/>
          </a:xfrm>
          <a:prstGeom prst="rect">
            <a:avLst/>
          </a:prstGeom>
          <a:noFill/>
        </p:spPr>
        <p:txBody>
          <a:bodyPr wrap="square" lIns="73152" rIns="73152" tIns="54864" bIns="36576">
            <a:spAutoFit/>
          </a:bodyPr>
          <a:lstStyle/>
          <a:p>
            <a:pPr algn="l">
              <a:spcBef>
                <a:spcPts val="0"/>
              </a:spcBef>
              <a:spcAft>
                <a:spcPts val="100"/>
              </a:spcAft>
            </a:pPr>
            <a:r>
              <a:rPr sz="1200" b="1">
                <a:solidFill>
                  <a:srgbClr val="262626"/>
                </a:solidFill>
                <a:latin typeface="Calibri"/>
              </a:rPr>
              <a:t>Conclusión: </a:t>
            </a:r>
            <a:r>
              <a:rPr sz="1200" b="1">
                <a:solidFill>
                  <a:srgbClr val="262626"/>
                </a:solidFill>
                <a:latin typeface="Calibri"/>
              </a:rPr>
              <a:t>p = 0.0517 &gt; 0.05</a:t>
            </a:r>
            <a:r>
              <a:rPr sz="1200" b="0">
                <a:solidFill>
                  <a:srgbClr val="262626"/>
                </a:solidFill>
                <a:latin typeface="Calibri"/>
              </a:rPr>
              <a:t> → no se rechaza H₀ (caso límite; el IC de 95% contiene μ₀ = 10).</a:t>
            </a:r>
          </a:p>
        </p:txBody>
      </p:sp>
      <p:sp>
        <p:nvSpPr>
          <p:cNvPr id="6" name="Rectangle 5"/>
          <p:cNvSpPr/>
          <p:nvPr/>
        </p:nvSpPr>
        <p:spPr>
          <a:xfrm>
            <a:off x="7086600" y="1371600"/>
            <a:ext cx="4160520" cy="2148840"/>
          </a:xfrm>
          <a:prstGeom prst="rect">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50" b="1">
                <a:solidFill>
                  <a:srgbClr val="A6B727"/>
                </a:solidFill>
                <a:latin typeface="Calibri"/>
              </a:rPr>
              <a:t>Salida en R</a:t>
            </a:r>
          </a:p>
          <a:p>
            <a:pPr algn="l">
              <a:spcBef>
                <a:spcPts val="300"/>
              </a:spcBef>
              <a:spcAft>
                <a:spcPts val="100"/>
              </a:spcAft>
            </a:pPr>
            <a:r>
              <a:rPr sz="1150" b="0">
                <a:solidFill>
                  <a:srgbClr val="EAEAEA"/>
                </a:solidFill>
                <a:latin typeface="Consolas"/>
              </a:rPr>
              <a:t>t = 2.048,  df = 24</a:t>
            </a:r>
          </a:p>
          <a:p>
            <a:pPr algn="l">
              <a:spcBef>
                <a:spcPts val="300"/>
              </a:spcBef>
              <a:spcAft>
                <a:spcPts val="100"/>
              </a:spcAft>
            </a:pPr>
            <a:r>
              <a:rPr sz="1150" b="0">
                <a:solidFill>
                  <a:srgbClr val="EAEAEA"/>
                </a:solidFill>
                <a:latin typeface="Consolas"/>
              </a:rPr>
              <a:t>p-value = 0.0517</a:t>
            </a:r>
          </a:p>
          <a:p>
            <a:pPr algn="l">
              <a:spcBef>
                <a:spcPts val="300"/>
              </a:spcBef>
              <a:spcAft>
                <a:spcPts val="100"/>
              </a:spcAft>
            </a:pPr>
            <a:r>
              <a:rPr sz="1150" b="0">
                <a:solidFill>
                  <a:srgbClr val="EAEAEA"/>
                </a:solidFill>
                <a:latin typeface="Consolas"/>
              </a:rPr>
              <a:t>IC 95%: [9.994, 11.479]</a:t>
            </a:r>
          </a:p>
          <a:p>
            <a:pPr algn="l">
              <a:spcBef>
                <a:spcPts val="300"/>
              </a:spcBef>
              <a:spcAft>
                <a:spcPts val="100"/>
              </a:spcAft>
            </a:pPr>
            <a:r>
              <a:rPr sz="1150" b="0">
                <a:solidFill>
                  <a:srgbClr val="EAEAEA"/>
                </a:solidFill>
                <a:latin typeface="Consolas"/>
              </a:rPr>
              <a:t>mean of x = 10.737</a:t>
            </a:r>
          </a:p>
        </p:txBody>
      </p:sp>
      <p:sp>
        <p:nvSpPr>
          <p:cNvPr id="7" name="Rectangle 6"/>
          <p:cNvSpPr/>
          <p:nvPr/>
        </p:nvSpPr>
        <p:spPr>
          <a:xfrm>
            <a:off x="7086600" y="3703320"/>
            <a:ext cx="4160520" cy="256032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200" b="1">
                <a:solidFill>
                  <a:srgbClr val="A6B727"/>
                </a:solidFill>
                <a:latin typeface="Calibri"/>
              </a:rPr>
              <a:t>Interpretación</a:t>
            </a:r>
          </a:p>
          <a:p>
            <a:pPr algn="l">
              <a:spcBef>
                <a:spcPts val="300"/>
              </a:spcBef>
              <a:spcAft>
                <a:spcPts val="100"/>
              </a:spcAft>
            </a:pPr>
            <a:r>
              <a:rPr sz="1000" b="0">
                <a:solidFill>
                  <a:srgbClr val="595652"/>
                </a:solidFill>
                <a:latin typeface="Calibri"/>
              </a:rPr>
              <a:t>1. Mirar el p-value: si es menor que α (0.05), rechazamos H₀.</a:t>
            </a:r>
          </a:p>
          <a:p>
            <a:pPr algn="l">
              <a:spcBef>
                <a:spcPts val="300"/>
              </a:spcBef>
              <a:spcAft>
                <a:spcPts val="100"/>
              </a:spcAft>
            </a:pPr>
            <a:r>
              <a:rPr sz="1000" b="0">
                <a:solidFill>
                  <a:srgbClr val="595652"/>
                </a:solidFill>
                <a:latin typeface="Calibri"/>
              </a:rPr>
              <a:t>2. Mirar el intervalo de confianza: si NO contiene el valor μ₀ = 10, eso confirma el rechazo.</a:t>
            </a:r>
          </a:p>
          <a:p>
            <a:pPr algn="l">
              <a:spcBef>
                <a:spcPts val="300"/>
              </a:spcBef>
              <a:spcAft>
                <a:spcPts val="100"/>
              </a:spcAft>
            </a:pPr>
            <a:r>
              <a:rPr sz="1000" b="0">
                <a:solidFill>
                  <a:srgbClr val="595652"/>
                </a:solidFill>
                <a:latin typeface="Calibri"/>
              </a:rPr>
              <a:t>3. Mirar la media muestral: nos dice el valor estimado de la media poblacional.</a:t>
            </a:r>
          </a:p>
          <a:p>
            <a:pPr algn="l">
              <a:spcBef>
                <a:spcPts val="300"/>
              </a:spcBef>
              <a:spcAft>
                <a:spcPts val="100"/>
              </a:spcAft>
            </a:pPr>
            <a:r>
              <a:rPr sz="1000" b="0">
                <a:solidFill>
                  <a:srgbClr val="595652"/>
                </a:solidFill>
                <a:latin typeface="Calibri"/>
              </a:rPr>
              <a:t>Regla simple: p-value &lt; α → Rechazar H₀ → Hay evidencia de que la media es distinta de 10.</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09" name="Shape 109"/>
        <p:cNvGrpSpPr/>
        <p:nvPr/>
      </p:nvGrpSpPr>
      <p:grpSpPr>
        <a:xfrm>
          <a:off x="0" y="0"/>
          <a:ext cx="0" cy="0"/>
          <a:chOff x="0" y="0"/>
          <a:chExt cx="0" cy="0"/>
        </a:xfrm>
      </p:grpSpPr>
      <p:sp>
        <p:nvSpPr>
          <p:cNvPr id="110" name="Google Shape;110;p10"/>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10"/>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PRUEBAS UNILATERALES EN R</a:t>
            </a:r>
            <a:endParaRPr sz="3600">
              <a:solidFill>
                <a:schemeClr val="dk1"/>
              </a:solidFill>
              <a:latin typeface="Calibri"/>
              <a:ea typeface="Calibri"/>
              <a:cs typeface="Calibri"/>
              <a:sym typeface="Calibri"/>
            </a:endParaRPr>
          </a:p>
        </p:txBody>
      </p:sp>
      <p:sp>
        <p:nvSpPr>
          <p:cNvPr id="112" name="Google Shape;112;p10"/>
          <p:cNvSpPr/>
          <p:nvPr/>
        </p:nvSpPr>
        <p:spPr>
          <a:xfrm>
            <a:off x="914400" y="1645920"/>
            <a:ext cx="6858000" cy="32004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"mayor que" (cola derecha)</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t.test(x, mu = mu0, alternative = "greater",</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conf.level = 0.95)</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"menor que" (cola izquierda)</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t.test(x, mu = mu0, alternative = "less",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conf.level = 0.95)</a:t>
            </a:r>
            <a:endParaRPr sz="1300">
              <a:solidFill>
                <a:schemeClr val="dk1"/>
              </a:solidFill>
              <a:latin typeface="Calibri"/>
              <a:ea typeface="Calibri"/>
              <a:cs typeface="Calibri"/>
              <a:sym typeface="Calibri"/>
            </a:endParaRPr>
          </a:p>
        </p:txBody>
      </p:sp>
      <p:sp>
        <p:nvSpPr>
          <p:cNvPr id="113" name="Google Shape;113;p10"/>
          <p:cNvSpPr/>
          <p:nvPr/>
        </p:nvSpPr>
        <p:spPr>
          <a:xfrm>
            <a:off x="7772400" y="1554480"/>
            <a:ext cx="3931920" cy="4846320"/>
          </a:xfrm>
          <a:prstGeom prst="roundRect">
            <a:avLst>
              <a:gd fmla="val 2326"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10"/>
          <p:cNvSpPr/>
          <p:nvPr/>
        </p:nvSpPr>
        <p:spPr>
          <a:xfrm>
            <a:off x="7909560" y="1645920"/>
            <a:ext cx="3657600" cy="4663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Tipos de prueba según la hipótesis alternativa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alternative = "greater"</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H₁: μ &gt; μ₀ (cola derecha)</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Se usa cuando sospechamos que la media es MAYOR.</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alternative = "less"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H₁: μ &lt; μ₀ (cola izquierda)</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Se usa cuando sospechamos que la media es MENOR.</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alternative = "two.sided"</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H₁: μ ≠ μ₀ (bilateral)</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Se usa cuando sospechamos que la media es DIFERENTE (mayor o menor).</a:t>
            </a:r>
            <a:endParaRPr sz="16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19" name="Shape 119"/>
        <p:cNvGrpSpPr/>
        <p:nvPr/>
      </p:nvGrpSpPr>
      <p:grpSpPr>
        <a:xfrm>
          <a:off x="0" y="0"/>
          <a:ext cx="0" cy="0"/>
          <a:chOff x="0" y="0"/>
          <a:chExt cx="0" cy="0"/>
        </a:xfrm>
      </p:grpSpPr>
      <p:sp>
        <p:nvSpPr>
          <p:cNvPr id="120" name="Google Shape;120;p11"/>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11"/>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EN R (2): PRUEBA Z PARA LA MEDIA</a:t>
            </a:r>
            <a:endParaRPr sz="3600">
              <a:solidFill>
                <a:schemeClr val="dk1"/>
              </a:solidFill>
              <a:latin typeface="Calibri"/>
              <a:ea typeface="Calibri"/>
              <a:cs typeface="Calibri"/>
              <a:sym typeface="Calibri"/>
            </a:endParaRPr>
          </a:p>
        </p:txBody>
      </p:sp>
      <p:sp>
        <p:nvSpPr>
          <p:cNvPr id="122" name="Google Shape;122;p11"/>
          <p:cNvSpPr/>
          <p:nvPr/>
        </p:nvSpPr>
        <p:spPr>
          <a:xfrm>
            <a:off x="914400" y="1554480"/>
            <a:ext cx="100584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2200"/>
              <a:buFont typeface="Calibri"/>
              <a:buNone/>
            </a:pPr>
            <a:r>
              <a:rPr b="1" lang="en-US" sz="2200">
                <a:solidFill>
                  <a:srgbClr val="595652"/>
                </a:solidFill>
                <a:latin typeface="Calibri"/>
                <a:ea typeface="Calibri"/>
                <a:cs typeface="Calibri"/>
                <a:sym typeface="Calibri"/>
              </a:rPr>
              <a:t>¿Cuándo se usa la prueba Z en lugar de la prueba t?</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La prueba Z se usa cuando la varianza poblacional (σ²) es </a:t>
            </a:r>
            <a:r>
              <a:rPr b="1" lang="en-US" sz="1800">
                <a:solidFill>
                  <a:srgbClr val="595652"/>
                </a:solidFill>
                <a:latin typeface="Calibri"/>
                <a:ea typeface="Calibri"/>
                <a:cs typeface="Calibri"/>
                <a:sym typeface="Calibri"/>
              </a:rPr>
              <a:t>conocida</a:t>
            </a:r>
            <a:r>
              <a:rPr lang="en-US" sz="1800">
                <a:solidFill>
                  <a:srgbClr val="595652"/>
                </a:solidFill>
                <a:latin typeface="Calibri"/>
                <a:ea typeface="Calibri"/>
                <a:cs typeface="Calibri"/>
                <a:sym typeface="Calibri"/>
              </a:rPr>
              <a:t>. Esto es menos común en la práctica, pero puede ocurrir cuando se tiene información histórica sobre la variabilidad de la población.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b="1" lang="en-US" sz="1800">
                <a:solidFill>
                  <a:srgbClr val="595652"/>
                </a:solidFill>
                <a:latin typeface="Calibri"/>
                <a:ea typeface="Calibri"/>
                <a:cs typeface="Calibri"/>
                <a:sym typeface="Calibri"/>
              </a:rPr>
              <a:t>Diferencias clave con la prueba t:</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 Prueba Z: σ conocida → usa distribución Normal estándar</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 Prueba t: σ desconocida → usa distribución t de Student</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A continuación usaremos la función z.test() del paquete BSDA en R.</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tIns="54864" bIns="36576" anchor="ctr">
            <a:spAutoFit/>
          </a:bodyPr>
          <a:lstStyle/>
          <a:p>
            <a:pPr algn="l">
              <a:spcBef>
                <a:spcPts val="0"/>
              </a:spcBef>
              <a:spcAft>
                <a:spcPts val="100"/>
              </a:spcAft>
            </a:pPr>
            <a:r>
              <a:rPr sz="2200" b="1">
                <a:solidFill>
                  <a:srgbClr val="A6B727"/>
                </a:solidFill>
                <a:latin typeface="Calibri"/>
              </a:rPr>
              <a:t>EJEMPLO EN R (2): PRUEBA Z — CÓDIGO Y RESULTADO</a:t>
            </a:r>
          </a:p>
        </p:txBody>
      </p:sp>
      <p:sp>
        <p:nvSpPr>
          <p:cNvPr id="4" name="Rectangle 3"/>
          <p:cNvSpPr/>
          <p:nvPr/>
        </p:nvSpPr>
        <p:spPr>
          <a:xfrm>
            <a:off x="822960" y="1371600"/>
            <a:ext cx="6126480" cy="3977639"/>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00" b="0">
                <a:solidFill>
                  <a:srgbClr val="333333"/>
                </a:solidFill>
                <a:latin typeface="Consolas"/>
              </a:rPr>
              <a:t>x &lt;- c(12.1, 8.9, 10.5, 11.3, 9.7, 13.0, 10.8, 11.6,</a:t>
            </a:r>
          </a:p>
          <a:p>
            <a:pPr algn="l">
              <a:spcBef>
                <a:spcPts val="0"/>
              </a:spcBef>
              <a:spcAft>
                <a:spcPts val="100"/>
              </a:spcAft>
            </a:pPr>
            <a:r>
              <a:rPr sz="1100" b="0">
                <a:solidFill>
                  <a:srgbClr val="333333"/>
                </a:solidFill>
                <a:latin typeface="Consolas"/>
              </a:rPr>
              <a:t>       7.9, 12.4, 9.8, 10.9, 11.1, 10.2, 12.0, 9.3,</a:t>
            </a:r>
          </a:p>
          <a:p>
            <a:pPr algn="l">
              <a:spcBef>
                <a:spcPts val="0"/>
              </a:spcBef>
              <a:spcAft>
                <a:spcPts val="100"/>
              </a:spcAft>
            </a:pPr>
            <a:r>
              <a:rPr sz="1100" b="0">
                <a:solidFill>
                  <a:srgbClr val="333333"/>
                </a:solidFill>
                <a:latin typeface="Consolas"/>
              </a:rPr>
              <a:t>       10.6, 13.2, 8.7, 11.4, 10.0, 12.6, 9.5, 10.7,</a:t>
            </a:r>
          </a:p>
          <a:p>
            <a:pPr algn="l">
              <a:spcBef>
                <a:spcPts val="0"/>
              </a:spcBef>
              <a:spcAft>
                <a:spcPts val="100"/>
              </a:spcAft>
            </a:pPr>
            <a:r>
              <a:rPr sz="1100" b="0">
                <a:solidFill>
                  <a:srgbClr val="333333"/>
                </a:solidFill>
                <a:latin typeface="Consolas"/>
              </a:rPr>
              <a:t>       11.8, 10.1, 12.3, 9.9, 11.0, 10.4)</a:t>
            </a:r>
          </a:p>
          <a:p>
            <a:pPr algn="l">
              <a:spcBef>
                <a:spcPts val="0"/>
              </a:spcBef>
              <a:spcAft>
                <a:spcPts val="100"/>
              </a:spcAft>
            </a:pPr>
            <a:r>
              <a:rPr sz="1100" b="0">
                <a:solidFill>
                  <a:srgbClr val="333333"/>
                </a:solidFill>
                <a:latin typeface="Consolas"/>
              </a:rPr>
              <a:t>length(x)</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library(BSDA)</a:t>
            </a:r>
          </a:p>
          <a:p>
            <a:pPr algn="l">
              <a:spcBef>
                <a:spcPts val="0"/>
              </a:spcBef>
              <a:spcAft>
                <a:spcPts val="100"/>
              </a:spcAft>
            </a:pPr>
            <a:r>
              <a:rPr sz="1100" b="0">
                <a:solidFill>
                  <a:srgbClr val="333333"/>
                </a:solidFill>
                <a:latin typeface="Consolas"/>
              </a:rPr>
              <a:t>sigma &lt;- 2.0</a:t>
            </a:r>
          </a:p>
          <a:p>
            <a:pPr algn="l">
              <a:spcBef>
                <a:spcPts val="0"/>
              </a:spcBef>
              <a:spcAft>
                <a:spcPts val="100"/>
              </a:spcAft>
            </a:pPr>
            <a:r>
              <a:rPr sz="1100" b="0">
                <a:solidFill>
                  <a:srgbClr val="333333"/>
                </a:solidFill>
                <a:latin typeface="Consolas"/>
              </a:rPr>
              <a:t>mu0 &lt;- 10</a:t>
            </a:r>
          </a:p>
          <a:p>
            <a:pPr algn="l">
              <a:spcBef>
                <a:spcPts val="0"/>
              </a:spcBef>
              <a:spcAft>
                <a:spcPts val="100"/>
              </a:spcAft>
            </a:pPr>
            <a:r>
              <a:rPr sz="1100" b="0">
                <a:solidFill>
                  <a:srgbClr val="333333"/>
                </a:solidFill>
                <a:latin typeface="Consolas"/>
              </a:rPr>
              <a:t>alpha &lt;- 0.05</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res_z &lt;- z.test(x = x, mu = mu0, sigma.x = sigma,</a:t>
            </a:r>
          </a:p>
          <a:p>
            <a:pPr algn="l">
              <a:spcBef>
                <a:spcPts val="0"/>
              </a:spcBef>
              <a:spcAft>
                <a:spcPts val="100"/>
              </a:spcAft>
            </a:pPr>
            <a:r>
              <a:rPr sz="1100" b="0">
                <a:solidFill>
                  <a:srgbClr val="333333"/>
                </a:solidFill>
                <a:latin typeface="Consolas"/>
              </a:rPr>
              <a:t>                alternative = "greater",</a:t>
            </a:r>
          </a:p>
          <a:p>
            <a:pPr algn="l">
              <a:spcBef>
                <a:spcPts val="0"/>
              </a:spcBef>
              <a:spcAft>
                <a:spcPts val="100"/>
              </a:spcAft>
            </a:pPr>
            <a:r>
              <a:rPr sz="1100" b="0">
                <a:solidFill>
                  <a:srgbClr val="333333"/>
                </a:solidFill>
                <a:latin typeface="Consolas"/>
              </a:rPr>
              <a:t>                conf.level = 1 - alpha)</a:t>
            </a:r>
          </a:p>
          <a:p>
            <a:pPr algn="l">
              <a:spcBef>
                <a:spcPts val="0"/>
              </a:spcBef>
              <a:spcAft>
                <a:spcPts val="100"/>
              </a:spcAft>
            </a:pPr>
            <a:r>
              <a:rPr sz="1100" b="0">
                <a:solidFill>
                  <a:srgbClr val="333333"/>
                </a:solidFill>
                <a:latin typeface="Consolas"/>
              </a:rPr>
              <a:t>res_z</a:t>
            </a:r>
          </a:p>
        </p:txBody>
      </p:sp>
      <p:sp>
        <p:nvSpPr>
          <p:cNvPr id="5" name="TextBox 4"/>
          <p:cNvSpPr txBox="1"/>
          <p:nvPr/>
        </p:nvSpPr>
        <p:spPr>
          <a:xfrm>
            <a:off x="822960" y="5486400"/>
            <a:ext cx="6126480" cy="777240"/>
          </a:xfrm>
          <a:prstGeom prst="rect">
            <a:avLst/>
          </a:prstGeom>
          <a:noFill/>
        </p:spPr>
        <p:txBody>
          <a:bodyPr wrap="square" lIns="73152" rIns="73152" tIns="54864" bIns="36576">
            <a:spAutoFit/>
          </a:bodyPr>
          <a:lstStyle/>
          <a:p>
            <a:pPr algn="l">
              <a:spcBef>
                <a:spcPts val="0"/>
              </a:spcBef>
              <a:spcAft>
                <a:spcPts val="100"/>
              </a:spcAft>
            </a:pPr>
            <a:r>
              <a:rPr sz="1200" b="1">
                <a:solidFill>
                  <a:srgbClr val="262626"/>
                </a:solidFill>
                <a:latin typeface="Calibri"/>
              </a:rPr>
              <a:t>Conclusión: </a:t>
            </a:r>
            <a:r>
              <a:rPr sz="1200" b="1">
                <a:solidFill>
                  <a:srgbClr val="262626"/>
                </a:solidFill>
                <a:latin typeface="Calibri"/>
              </a:rPr>
              <a:t>p = 0.0153 &lt; 0.05</a:t>
            </a:r>
            <a:r>
              <a:rPr sz="1200" b="0">
                <a:solidFill>
                  <a:srgbClr val="262626"/>
                </a:solidFill>
                <a:latin typeface="Calibri"/>
              </a:rPr>
              <a:t> → se rechaza H₀: hay evidencia de que μ &gt; 10.</a:t>
            </a:r>
          </a:p>
        </p:txBody>
      </p:sp>
      <p:sp>
        <p:nvSpPr>
          <p:cNvPr id="6" name="Rectangle 5"/>
          <p:cNvSpPr/>
          <p:nvPr/>
        </p:nvSpPr>
        <p:spPr>
          <a:xfrm>
            <a:off x="7086600" y="1371600"/>
            <a:ext cx="4160520" cy="2148840"/>
          </a:xfrm>
          <a:prstGeom prst="rect">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50" b="1">
                <a:solidFill>
                  <a:srgbClr val="A6B727"/>
                </a:solidFill>
                <a:latin typeface="Calibri"/>
              </a:rPr>
              <a:t>Salida en R</a:t>
            </a:r>
          </a:p>
          <a:p>
            <a:pPr algn="l">
              <a:spcBef>
                <a:spcPts val="300"/>
              </a:spcBef>
              <a:spcAft>
                <a:spcPts val="100"/>
              </a:spcAft>
            </a:pPr>
            <a:r>
              <a:rPr sz="1150" b="0">
                <a:solidFill>
                  <a:srgbClr val="EAEAEA"/>
                </a:solidFill>
                <a:latin typeface="Consolas"/>
              </a:rPr>
              <a:t>z = 2.164</a:t>
            </a:r>
          </a:p>
          <a:p>
            <a:pPr algn="l">
              <a:spcBef>
                <a:spcPts val="300"/>
              </a:spcBef>
              <a:spcAft>
                <a:spcPts val="100"/>
              </a:spcAft>
            </a:pPr>
            <a:r>
              <a:rPr sz="1150" b="0">
                <a:solidFill>
                  <a:srgbClr val="EAEAEA"/>
                </a:solidFill>
                <a:latin typeface="Consolas"/>
              </a:rPr>
              <a:t>p-value = 0.0153</a:t>
            </a:r>
          </a:p>
          <a:p>
            <a:pPr algn="l">
              <a:spcBef>
                <a:spcPts val="300"/>
              </a:spcBef>
              <a:spcAft>
                <a:spcPts val="100"/>
              </a:spcAft>
            </a:pPr>
            <a:r>
              <a:rPr sz="1150" b="0">
                <a:solidFill>
                  <a:srgbClr val="EAEAEA"/>
                </a:solidFill>
                <a:latin typeface="Consolas"/>
              </a:rPr>
              <a:t>IC 95%: [10.189, Inf)</a:t>
            </a:r>
          </a:p>
          <a:p>
            <a:pPr algn="l">
              <a:spcBef>
                <a:spcPts val="300"/>
              </a:spcBef>
              <a:spcAft>
                <a:spcPts val="100"/>
              </a:spcAft>
            </a:pPr>
            <a:r>
              <a:rPr sz="1150" b="0">
                <a:solidFill>
                  <a:srgbClr val="EAEAEA"/>
                </a:solidFill>
                <a:latin typeface="Consolas"/>
              </a:rPr>
              <a:t>mean of x = 10.790</a:t>
            </a:r>
          </a:p>
        </p:txBody>
      </p:sp>
      <p:sp>
        <p:nvSpPr>
          <p:cNvPr id="7" name="Rectangle 6"/>
          <p:cNvSpPr/>
          <p:nvPr/>
        </p:nvSpPr>
        <p:spPr>
          <a:xfrm>
            <a:off x="7086600" y="3703320"/>
            <a:ext cx="4160520" cy="256032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200" b="1">
                <a:solidFill>
                  <a:srgbClr val="A6B727"/>
                </a:solidFill>
                <a:latin typeface="Calibri"/>
              </a:rPr>
              <a:t>Interpretación</a:t>
            </a:r>
          </a:p>
          <a:p>
            <a:pPr algn="l">
              <a:spcBef>
                <a:spcPts val="300"/>
              </a:spcBef>
              <a:spcAft>
                <a:spcPts val="100"/>
              </a:spcAft>
            </a:pPr>
            <a:r>
              <a:rPr sz="1000" b="0">
                <a:solidFill>
                  <a:srgbClr val="595652"/>
                </a:solidFill>
                <a:latin typeface="Calibri"/>
              </a:rPr>
              <a:t>Si el p-value es menor que α = 0.05, rechazamos H₀ y concluimos que hay evidencia estadística para afirmar que μ &gt; 10.</a:t>
            </a:r>
          </a:p>
          <a:p>
            <a:pPr algn="l">
              <a:spcBef>
                <a:spcPts val="300"/>
              </a:spcBef>
              <a:spcAft>
                <a:spcPts val="100"/>
              </a:spcAft>
            </a:pPr>
            <a:r>
              <a:rPr sz="1000" b="0">
                <a:solidFill>
                  <a:srgbClr val="595652"/>
                </a:solidFill>
                <a:latin typeface="Calibri"/>
              </a:rPr>
              <a:t>Nota: en la prueba unilateral derecha, el intervalo de confianza tiene límite superior Inf (infinito), ya que solo nos interesa el límite inferior.</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49" name="Shape 149"/>
        <p:cNvGrpSpPr/>
        <p:nvPr/>
      </p:nvGrpSpPr>
      <p:grpSpPr>
        <a:xfrm>
          <a:off x="0" y="0"/>
          <a:ext cx="0" cy="0"/>
          <a:chOff x="0" y="0"/>
          <a:chExt cx="0" cy="0"/>
        </a:xfrm>
      </p:grpSpPr>
      <p:sp>
        <p:nvSpPr>
          <p:cNvPr id="150" name="Google Shape;150;p14"/>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14"/>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PRUEBAS PARA PROPORCIONES (NP ≥ 5)</a:t>
            </a:r>
            <a:endParaRPr sz="3600">
              <a:solidFill>
                <a:schemeClr val="dk1"/>
              </a:solidFill>
              <a:latin typeface="Calibri"/>
              <a:ea typeface="Calibri"/>
              <a:cs typeface="Calibri"/>
              <a:sym typeface="Calibri"/>
            </a:endParaRPr>
          </a:p>
        </p:txBody>
      </p:sp>
      <p:sp>
        <p:nvSpPr>
          <p:cNvPr id="152" name="Google Shape;152;p14"/>
          <p:cNvSpPr/>
          <p:nvPr/>
        </p:nvSpPr>
        <p:spPr>
          <a:xfrm>
            <a:off x="914400" y="1554480"/>
            <a:ext cx="6400800" cy="2743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El ministerio del trabajo en conjunto con el ministerio de educación realizan un estudio que afirma que 4 de cada 10 estudiantes universitarios trabajan en sus horas libres.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Se toma una muestra de 120 estudiantes, de los cuales 43 trabajan. ¿Indican los datos de la muestra que la afirmación del estudio es cierta? Nivel de significancia del 10%.</a:t>
            </a:r>
            <a:endParaRPr sz="1800">
              <a:solidFill>
                <a:schemeClr val="dk1"/>
              </a:solidFill>
              <a:latin typeface="Calibri"/>
              <a:ea typeface="Calibri"/>
              <a:cs typeface="Calibri"/>
              <a:sym typeface="Calibri"/>
            </a:endParaRPr>
          </a:p>
        </p:txBody>
      </p:sp>
      <p:sp>
        <p:nvSpPr>
          <p:cNvPr id="153" name="Google Shape;153;p14"/>
          <p:cNvSpPr/>
          <p:nvPr/>
        </p:nvSpPr>
        <p:spPr>
          <a:xfrm>
            <a:off x="7772400" y="1371600"/>
            <a:ext cx="3931920" cy="5029200"/>
          </a:xfrm>
          <a:prstGeom prst="roundRect">
            <a:avLst>
              <a:gd fmla="val 2326"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14"/>
          <p:cNvSpPr/>
          <p:nvPr/>
        </p:nvSpPr>
        <p:spPr>
          <a:xfrm>
            <a:off x="7909560" y="1463040"/>
            <a:ext cx="3657600" cy="484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Planteamiento de la prueba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Pregunta: ¿El 40% de los estudiantes trabajan?</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H₀: p = 0.40 (la proporción es 40%)</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H₁: p ≠ 0.40 (la proporción es diferente)</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Proporción muestral: p̂ = 43/120 = 0.358</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Requisito: np₀ ≥ 5 y n(1-p₀) ≥ 5</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120×0.40 = 48 ≥ 5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120×0.60 = 72 ≥ 5  ✓</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Este requisito garantiza que podemos usar la aproximación normal.</a:t>
            </a:r>
            <a:endParaRPr sz="16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59" name="Shape 159"/>
        <p:cNvGrpSpPr/>
        <p:nvPr/>
      </p:nvGrpSpPr>
      <p:grpSpPr>
        <a:xfrm>
          <a:off x="0" y="0"/>
          <a:ext cx="0" cy="0"/>
          <a:chOff x="0" y="0"/>
          <a:chExt cx="0" cy="0"/>
        </a:xfrm>
      </p:grpSpPr>
      <p:sp>
        <p:nvSpPr>
          <p:cNvPr id="160" name="Google Shape;160;p15"/>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1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PROPORCIONES: CÁLCULO DEL ESTADÍSTICO</a:t>
            </a:r>
            <a:endParaRPr sz="3600">
              <a:solidFill>
                <a:schemeClr val="dk1"/>
              </a:solidFill>
              <a:latin typeface="Calibri"/>
              <a:ea typeface="Calibri"/>
              <a:cs typeface="Calibri"/>
              <a:sym typeface="Calibri"/>
            </a:endParaRPr>
          </a:p>
        </p:txBody>
      </p:sp>
      <p:pic>
        <p:nvPicPr>
          <p:cNvPr descr="/sessions/clever-sweet-sagan/clase2_images/slide15_img00.png" id="162" name="Google Shape;162;p15"/>
          <p:cNvPicPr preferRelativeResize="0"/>
          <p:nvPr/>
        </p:nvPicPr>
        <p:blipFill rotWithShape="1">
          <a:blip r:embed="rId3">
            <a:alphaModFix/>
          </a:blip>
          <a:srcRect b="0" l="0" r="0" t="0"/>
          <a:stretch/>
        </p:blipFill>
        <p:spPr>
          <a:xfrm>
            <a:off x="914400" y="1645920"/>
            <a:ext cx="5029200" cy="2286000"/>
          </a:xfrm>
          <a:prstGeom prst="rect">
            <a:avLst/>
          </a:prstGeom>
          <a:noFill/>
          <a:ln>
            <a:noFill/>
          </a:ln>
        </p:spPr>
      </p:pic>
      <p:sp>
        <p:nvSpPr>
          <p:cNvPr id="163" name="Google Shape;163;p15"/>
          <p:cNvSpPr/>
          <p:nvPr/>
        </p:nvSpPr>
        <p:spPr>
          <a:xfrm>
            <a:off x="6400800" y="1554480"/>
            <a:ext cx="5303520" cy="4572000"/>
          </a:xfrm>
          <a:prstGeom prst="roundRect">
            <a:avLst>
              <a:gd fmla="val 20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15"/>
          <p:cNvSpPr/>
          <p:nvPr/>
        </p:nvSpPr>
        <p:spPr>
          <a:xfrm>
            <a:off x="6537960" y="1645920"/>
            <a:ext cx="5029200" cy="4389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¿Cómo se calcula?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El estadístico Z se calcula como:</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Z = (p̂ - p₀) / √(p₀(1-p₀)/n)</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Donde:</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p̂ = proporción muestral (43/120)</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p₀ = proporción bajo H₀ (0.40)</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n = tamaño de muestra (120)</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Valores críticos para α = 0.10 bilateral:</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Z_crítico = ±1.64</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|Z_obs| &gt; 1.64 → Rechazar H₀</a:t>
            </a:r>
            <a:endParaRPr sz="16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69" name="Shape 169"/>
        <p:cNvGrpSpPr/>
        <p:nvPr/>
      </p:nvGrpSpPr>
      <p:grpSpPr>
        <a:xfrm>
          <a:off x="0" y="0"/>
          <a:ext cx="0" cy="0"/>
          <a:chOff x="0" y="0"/>
          <a:chExt cx="0" cy="0"/>
        </a:xfrm>
      </p:grpSpPr>
      <p:sp>
        <p:nvSpPr>
          <p:cNvPr id="170" name="Google Shape;170;p1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1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PROPORCIONES: P-VALOR</a:t>
            </a:r>
            <a:endParaRPr sz="3600">
              <a:solidFill>
                <a:schemeClr val="dk1"/>
              </a:solidFill>
              <a:latin typeface="Calibri"/>
              <a:ea typeface="Calibri"/>
              <a:cs typeface="Calibri"/>
              <a:sym typeface="Calibri"/>
            </a:endParaRPr>
          </a:p>
        </p:txBody>
      </p:sp>
      <p:pic>
        <p:nvPicPr>
          <p:cNvPr descr="/sessions/clever-sweet-sagan/clase2_images/slide16_img00.png" id="172" name="Google Shape;172;p16"/>
          <p:cNvPicPr preferRelativeResize="0"/>
          <p:nvPr/>
        </p:nvPicPr>
        <p:blipFill rotWithShape="1">
          <a:blip r:embed="rId3">
            <a:alphaModFix/>
          </a:blip>
          <a:srcRect b="0" l="0" r="0" t="0"/>
          <a:stretch/>
        </p:blipFill>
        <p:spPr>
          <a:xfrm>
            <a:off x="914400" y="1645919"/>
            <a:ext cx="5349240" cy="2726055"/>
          </a:xfrm>
          <a:prstGeom prst="rect">
            <a:avLst/>
          </a:prstGeom>
          <a:noFill/>
          <a:ln>
            <a:noFill/>
          </a:ln>
        </p:spPr>
      </p:pic>
      <p:sp>
        <p:nvSpPr>
          <p:cNvPr id="173" name="Google Shape;173;p16"/>
          <p:cNvSpPr/>
          <p:nvPr/>
        </p:nvSpPr>
        <p:spPr>
          <a:xfrm>
            <a:off x="6400800" y="1554480"/>
            <a:ext cx="5303520" cy="2817494"/>
          </a:xfrm>
          <a:prstGeom prst="roundRect">
            <a:avLst>
              <a:gd fmla="val 285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16"/>
          <p:cNvSpPr/>
          <p:nvPr/>
        </p:nvSpPr>
        <p:spPr>
          <a:xfrm>
            <a:off x="6537960" y="1645920"/>
            <a:ext cx="502920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¿Qué es el P-valor?</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Es la probabilidad de obtener un resultado tan extremo o más extremo que el observado, asumiendo que H₀ es verdadera.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En una prueba bilateral, se calcula en ambas colas: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Si Z_obs &lt; 0: P-valor = 2 × P(Z &lt; Z_obs)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Si Z_obs &gt; 0: P-valor = 2 × P(Z &gt; Z_obs)</a:t>
            </a:r>
            <a:endParaRPr sz="1600">
              <a:solidFill>
                <a:schemeClr val="dk1"/>
              </a:solidFill>
              <a:latin typeface="Calibri"/>
              <a:ea typeface="Calibri"/>
              <a:cs typeface="Calibri"/>
              <a:sym typeface="Calibri"/>
            </a:endParaRPr>
          </a:p>
        </p:txBody>
      </p:sp>
      <p:sp>
        <p:nvSpPr>
          <p:cNvPr id="175" name="Google Shape;175;p16"/>
          <p:cNvSpPr/>
          <p:nvPr/>
        </p:nvSpPr>
        <p:spPr>
          <a:xfrm>
            <a:off x="914400" y="5029200"/>
            <a:ext cx="10515600" cy="1371600"/>
          </a:xfrm>
          <a:prstGeom prst="roundRect">
            <a:avLst>
              <a:gd fmla="val 666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16"/>
          <p:cNvSpPr/>
          <p:nvPr/>
        </p:nvSpPr>
        <p:spPr>
          <a:xfrm>
            <a:off x="1051560" y="5120640"/>
            <a:ext cx="1024128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Regla de decisión</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P-valor ≤ α → Se rechaza H₀ (hay evidencia estadística)</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P-valor &gt; α → No se rechaza H₀ (no hay evidencia suficiente)</a:t>
            </a:r>
            <a:endParaRPr sz="16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181" name="Shape 181"/>
        <p:cNvGrpSpPr/>
        <p:nvPr/>
      </p:nvGrpSpPr>
      <p:grpSpPr>
        <a:xfrm>
          <a:off x="0" y="0"/>
          <a:ext cx="0" cy="0"/>
          <a:chOff x="0" y="0"/>
          <a:chExt cx="0" cy="0"/>
        </a:xfrm>
      </p:grpSpPr>
      <p:sp>
        <p:nvSpPr>
          <p:cNvPr id="182" name="Google Shape;182;p17"/>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7"/>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EN R: PRUEBA DE PROPORCIONES</a:t>
            </a:r>
            <a:endParaRPr sz="3600">
              <a:solidFill>
                <a:schemeClr val="dk1"/>
              </a:solidFill>
              <a:latin typeface="Calibri"/>
              <a:ea typeface="Calibri"/>
              <a:cs typeface="Calibri"/>
              <a:sym typeface="Calibri"/>
            </a:endParaRPr>
          </a:p>
        </p:txBody>
      </p:sp>
      <p:sp>
        <p:nvSpPr>
          <p:cNvPr id="184" name="Google Shape;184;p17"/>
          <p:cNvSpPr/>
          <p:nvPr/>
        </p:nvSpPr>
        <p:spPr>
          <a:xfrm>
            <a:off x="914400" y="1554480"/>
            <a:ext cx="100584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2200"/>
              <a:buFont typeface="Calibri"/>
              <a:buNone/>
            </a:pPr>
            <a:r>
              <a:rPr b="1" lang="en-US" sz="2200">
                <a:solidFill>
                  <a:srgbClr val="595652"/>
                </a:solidFill>
                <a:latin typeface="Calibri"/>
                <a:ea typeface="Calibri"/>
                <a:cs typeface="Calibri"/>
                <a:sym typeface="Calibri"/>
              </a:rPr>
              <a:t>¿Qué vamos a hacer?</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Vamos a realizar una prueba de proporciones en R de dos formas: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1. Cálculo manual del estadístico Z: para entender la fórmula paso a paso.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2. Usando la función prop.test(): forma directa y más práctica.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Ejemplo: De 120 personas encuestadas, 78 respondieron afirmativamente. Queremos probar si la proporción poblacional es mayor que 0.60 con α = 0.05.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tIns="54864" bIns="36576" anchor="ctr">
            <a:spAutoFit/>
          </a:bodyPr>
          <a:lstStyle/>
          <a:p>
            <a:pPr algn="l">
              <a:spcBef>
                <a:spcPts val="0"/>
              </a:spcBef>
              <a:spcAft>
                <a:spcPts val="100"/>
              </a:spcAft>
            </a:pPr>
            <a:r>
              <a:rPr sz="2200" b="1">
                <a:solidFill>
                  <a:srgbClr val="A6B727"/>
                </a:solidFill>
                <a:latin typeface="Calibri"/>
              </a:rPr>
              <a:t>EJEMPLO EN R: PROPORCIONES — CÓDIGO Y RESULTADO</a:t>
            </a:r>
          </a:p>
        </p:txBody>
      </p:sp>
      <p:sp>
        <p:nvSpPr>
          <p:cNvPr id="4" name="Rectangle 3"/>
          <p:cNvSpPr/>
          <p:nvPr/>
        </p:nvSpPr>
        <p:spPr>
          <a:xfrm>
            <a:off x="822960" y="1371600"/>
            <a:ext cx="6126480" cy="3977639"/>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00" b="0">
                <a:solidFill>
                  <a:srgbClr val="333333"/>
                </a:solidFill>
                <a:latin typeface="Consolas"/>
              </a:rPr>
              <a:t>X  &lt;- 78</a:t>
            </a:r>
          </a:p>
          <a:p>
            <a:pPr algn="l">
              <a:spcBef>
                <a:spcPts val="0"/>
              </a:spcBef>
              <a:spcAft>
                <a:spcPts val="100"/>
              </a:spcAft>
            </a:pPr>
            <a:r>
              <a:rPr sz="1100" b="0">
                <a:solidFill>
                  <a:srgbClr val="333333"/>
                </a:solidFill>
                <a:latin typeface="Consolas"/>
              </a:rPr>
              <a:t>n  &lt;- 120</a:t>
            </a:r>
          </a:p>
          <a:p>
            <a:pPr algn="l">
              <a:spcBef>
                <a:spcPts val="0"/>
              </a:spcBef>
              <a:spcAft>
                <a:spcPts val="100"/>
              </a:spcAft>
            </a:pPr>
            <a:r>
              <a:rPr sz="1100" b="0">
                <a:solidFill>
                  <a:srgbClr val="333333"/>
                </a:solidFill>
                <a:latin typeface="Consolas"/>
              </a:rPr>
              <a:t>phat &lt;- X / n</a:t>
            </a:r>
          </a:p>
          <a:p>
            <a:pPr algn="l">
              <a:spcBef>
                <a:spcPts val="0"/>
              </a:spcBef>
              <a:spcAft>
                <a:spcPts val="100"/>
              </a:spcAft>
            </a:pPr>
            <a:r>
              <a:rPr sz="1100" b="0">
                <a:solidFill>
                  <a:srgbClr val="333333"/>
                </a:solidFill>
                <a:latin typeface="Consolas"/>
              </a:rPr>
              <a:t>p0   &lt;- 0.60</a:t>
            </a:r>
          </a:p>
          <a:p>
            <a:pPr algn="l">
              <a:spcBef>
                <a:spcPts val="0"/>
              </a:spcBef>
              <a:spcAft>
                <a:spcPts val="100"/>
              </a:spcAft>
            </a:pPr>
            <a:r>
              <a:rPr sz="1100" b="0">
                <a:solidFill>
                  <a:srgbClr val="333333"/>
                </a:solidFill>
                <a:latin typeface="Consolas"/>
              </a:rPr>
              <a:t>alpha &lt;- 0.05</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Estadístico z (cálculo manual)</a:t>
            </a:r>
          </a:p>
          <a:p>
            <a:pPr algn="l">
              <a:spcBef>
                <a:spcPts val="0"/>
              </a:spcBef>
              <a:spcAft>
                <a:spcPts val="100"/>
              </a:spcAft>
            </a:pPr>
            <a:r>
              <a:rPr sz="1100" b="0">
                <a:solidFill>
                  <a:srgbClr val="333333"/>
                </a:solidFill>
                <a:latin typeface="Consolas"/>
              </a:rPr>
              <a:t>z_obs &lt;- (phat - p0) / sqrt(p0 * (1 - p0) / n)</a:t>
            </a:r>
          </a:p>
          <a:p>
            <a:pPr algn="l">
              <a:spcBef>
                <a:spcPts val="0"/>
              </a:spcBef>
              <a:spcAft>
                <a:spcPts val="100"/>
              </a:spcAft>
            </a:pPr>
            <a:r>
              <a:rPr sz="1100" b="0">
                <a:solidFill>
                  <a:srgbClr val="333333"/>
                </a:solidFill>
                <a:latin typeface="Consolas"/>
              </a:rPr>
              <a:t>z_obs</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p-value unilateral (cola derecha)</a:t>
            </a:r>
          </a:p>
          <a:p>
            <a:pPr algn="l">
              <a:spcBef>
                <a:spcPts val="0"/>
              </a:spcBef>
              <a:spcAft>
                <a:spcPts val="100"/>
              </a:spcAft>
            </a:pPr>
            <a:r>
              <a:rPr sz="1100" b="0">
                <a:solidFill>
                  <a:srgbClr val="333333"/>
                </a:solidFill>
                <a:latin typeface="Consolas"/>
              </a:rPr>
              <a:t>p_value &lt;- 1 - pnorm(z_obs)</a:t>
            </a:r>
          </a:p>
          <a:p>
            <a:pPr algn="l">
              <a:spcBef>
                <a:spcPts val="0"/>
              </a:spcBef>
              <a:spcAft>
                <a:spcPts val="100"/>
              </a:spcAft>
            </a:pPr>
            <a:r>
              <a:rPr sz="1100" b="0">
                <a:solidFill>
                  <a:srgbClr val="333333"/>
                </a:solidFill>
                <a:latin typeface="Consolas"/>
              </a:rPr>
              <a:t>p_value</a:t>
            </a:r>
          </a:p>
        </p:txBody>
      </p:sp>
      <p:sp>
        <p:nvSpPr>
          <p:cNvPr id="5" name="TextBox 4"/>
          <p:cNvSpPr txBox="1"/>
          <p:nvPr/>
        </p:nvSpPr>
        <p:spPr>
          <a:xfrm>
            <a:off x="822960" y="5486400"/>
            <a:ext cx="6126480" cy="777240"/>
          </a:xfrm>
          <a:prstGeom prst="rect">
            <a:avLst/>
          </a:prstGeom>
          <a:noFill/>
        </p:spPr>
        <p:txBody>
          <a:bodyPr wrap="square" lIns="73152" rIns="73152" tIns="54864" bIns="36576">
            <a:spAutoFit/>
          </a:bodyPr>
          <a:lstStyle/>
          <a:p>
            <a:pPr algn="l">
              <a:spcBef>
                <a:spcPts val="0"/>
              </a:spcBef>
              <a:spcAft>
                <a:spcPts val="100"/>
              </a:spcAft>
            </a:pPr>
            <a:r>
              <a:rPr sz="1200" b="1">
                <a:solidFill>
                  <a:srgbClr val="262626"/>
                </a:solidFill>
                <a:latin typeface="Calibri"/>
              </a:rPr>
              <a:t>Conclusión: </a:t>
            </a:r>
            <a:r>
              <a:rPr sz="1200" b="1">
                <a:solidFill>
                  <a:srgbClr val="262626"/>
                </a:solidFill>
                <a:latin typeface="Calibri"/>
              </a:rPr>
              <a:t>p = 0.1318 &gt; 0.05</a:t>
            </a:r>
            <a:r>
              <a:rPr sz="1200" b="0">
                <a:solidFill>
                  <a:srgbClr val="262626"/>
                </a:solidFill>
                <a:latin typeface="Calibri"/>
              </a:rPr>
              <a:t> → no se rechaza H₀: p̂ = 0.65 no difiere de 0.60 de forma significativa.</a:t>
            </a:r>
          </a:p>
        </p:txBody>
      </p:sp>
      <p:sp>
        <p:nvSpPr>
          <p:cNvPr id="6" name="Rectangle 5"/>
          <p:cNvSpPr/>
          <p:nvPr/>
        </p:nvSpPr>
        <p:spPr>
          <a:xfrm>
            <a:off x="7086600" y="1371600"/>
            <a:ext cx="4160520" cy="2148840"/>
          </a:xfrm>
          <a:prstGeom prst="rect">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50" b="1">
                <a:solidFill>
                  <a:srgbClr val="A6B727"/>
                </a:solidFill>
                <a:latin typeface="Calibri"/>
              </a:rPr>
              <a:t>Salida en R</a:t>
            </a:r>
          </a:p>
          <a:p>
            <a:pPr algn="l">
              <a:spcBef>
                <a:spcPts val="300"/>
              </a:spcBef>
              <a:spcAft>
                <a:spcPts val="100"/>
              </a:spcAft>
            </a:pPr>
            <a:r>
              <a:rPr sz="1150" b="0">
                <a:solidFill>
                  <a:srgbClr val="EAEAEA"/>
                </a:solidFill>
                <a:latin typeface="Consolas"/>
              </a:rPr>
              <a:t>prop.test(78, 120, 0.6,</a:t>
            </a:r>
          </a:p>
          <a:p>
            <a:pPr algn="l">
              <a:spcBef>
                <a:spcPts val="300"/>
              </a:spcBef>
              <a:spcAft>
                <a:spcPts val="100"/>
              </a:spcAft>
            </a:pPr>
            <a:r>
              <a:rPr sz="1150" b="0">
                <a:solidFill>
                  <a:srgbClr val="EAEAEA"/>
                </a:solidFill>
                <a:latin typeface="Consolas"/>
              </a:rPr>
              <a:t>          "greater", correct=FALSE)</a:t>
            </a:r>
          </a:p>
          <a:p>
            <a:pPr algn="l">
              <a:spcBef>
                <a:spcPts val="300"/>
              </a:spcBef>
              <a:spcAft>
                <a:spcPts val="100"/>
              </a:spcAft>
            </a:pPr>
            <a:r>
              <a:rPr sz="1150" b="0">
                <a:solidFill>
                  <a:srgbClr val="EAEAEA"/>
                </a:solidFill>
                <a:latin typeface="Consolas"/>
              </a:rPr>
              <a:t>X-squared = 1.25,  df = 1</a:t>
            </a:r>
          </a:p>
          <a:p>
            <a:pPr algn="l">
              <a:spcBef>
                <a:spcPts val="300"/>
              </a:spcBef>
              <a:spcAft>
                <a:spcPts val="100"/>
              </a:spcAft>
            </a:pPr>
            <a:r>
              <a:rPr sz="1150" b="0">
                <a:solidFill>
                  <a:srgbClr val="EAEAEA"/>
                </a:solidFill>
                <a:latin typeface="Consolas"/>
              </a:rPr>
              <a:t>p-value = 0.1318</a:t>
            </a:r>
          </a:p>
        </p:txBody>
      </p:sp>
      <p:sp>
        <p:nvSpPr>
          <p:cNvPr id="7" name="Rectangle 6"/>
          <p:cNvSpPr/>
          <p:nvPr/>
        </p:nvSpPr>
        <p:spPr>
          <a:xfrm>
            <a:off x="7086600" y="3703320"/>
            <a:ext cx="4160520" cy="256032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200" b="1">
                <a:solidFill>
                  <a:srgbClr val="A6B727"/>
                </a:solidFill>
                <a:latin typeface="Calibri"/>
              </a:rPr>
              <a:t>Interpretación</a:t>
            </a:r>
          </a:p>
          <a:p>
            <a:pPr algn="l">
              <a:spcBef>
                <a:spcPts val="300"/>
              </a:spcBef>
              <a:spcAft>
                <a:spcPts val="100"/>
              </a:spcAft>
            </a:pPr>
            <a:r>
              <a:rPr sz="1000" b="0">
                <a:solidFill>
                  <a:srgbClr val="595652"/>
                </a:solidFill>
                <a:latin typeface="Calibri"/>
              </a:rPr>
              <a:t># Usando la función prop.test()</a:t>
            </a:r>
          </a:p>
          <a:p>
            <a:pPr algn="l">
              <a:spcBef>
                <a:spcPts val="300"/>
              </a:spcBef>
              <a:spcAft>
                <a:spcPts val="100"/>
              </a:spcAft>
            </a:pPr>
            <a:r>
              <a:rPr sz="1000" b="0">
                <a:solidFill>
                  <a:srgbClr val="595652"/>
                </a:solidFill>
                <a:latin typeface="Calibri"/>
              </a:rPr>
              <a:t>&gt; prop.test(78, 120, 0.6, "greater", correct = FALSE)</a:t>
            </a:r>
          </a:p>
          <a:p>
            <a:pPr algn="l">
              <a:spcBef>
                <a:spcPts val="300"/>
              </a:spcBef>
              <a:spcAft>
                <a:spcPts val="100"/>
              </a:spcAft>
            </a:pPr>
            <a:r>
              <a:rPr sz="1000" b="0">
                <a:solidFill>
                  <a:srgbClr val="595652"/>
                </a:solidFill>
                <a:latin typeface="Calibri"/>
              </a:rPr>
              <a:t>1-sample proportions test without continuity correction</a:t>
            </a:r>
          </a:p>
          <a:p>
            <a:pPr algn="l">
              <a:spcBef>
                <a:spcPts val="300"/>
              </a:spcBef>
              <a:spcAft>
                <a:spcPts val="100"/>
              </a:spcAft>
            </a:pPr>
            <a:r>
              <a:rPr sz="1000" b="0">
                <a:solidFill>
                  <a:srgbClr val="595652"/>
                </a:solidFill>
                <a:latin typeface="Calibri"/>
              </a:rPr>
              <a:t>data:  78 out of 120, null probability 0.6</a:t>
            </a:r>
          </a:p>
          <a:p>
            <a:pPr algn="l">
              <a:spcBef>
                <a:spcPts val="300"/>
              </a:spcBef>
              <a:spcAft>
                <a:spcPts val="100"/>
              </a:spcAft>
            </a:pPr>
            <a:r>
              <a:rPr sz="1000" b="0">
                <a:solidFill>
                  <a:srgbClr val="595652"/>
                </a:solidFill>
                <a:latin typeface="Calibri"/>
              </a:rPr>
              <a:t>X-squared = 1.25, df = 1, p-value = 0.1318</a:t>
            </a:r>
          </a:p>
          <a:p>
            <a:pPr algn="l">
              <a:spcBef>
                <a:spcPts val="300"/>
              </a:spcBef>
              <a:spcAft>
                <a:spcPts val="100"/>
              </a:spcAft>
            </a:pPr>
            <a:r>
              <a:rPr sz="1000" b="0">
                <a:solidFill>
                  <a:srgbClr val="595652"/>
                </a:solidFill>
                <a:latin typeface="Calibri"/>
              </a:rPr>
              <a:t>alternative hypothesis: true p is greater than 0.6</a:t>
            </a:r>
          </a:p>
          <a:p>
            <a:pPr algn="l">
              <a:spcBef>
                <a:spcPts val="300"/>
              </a:spcBef>
              <a:spcAft>
                <a:spcPts val="100"/>
              </a:spcAft>
            </a:pPr>
            <a:r>
              <a:rPr sz="1000" b="0">
                <a:solidFill>
                  <a:srgbClr val="595652"/>
                </a:solidFill>
                <a:latin typeface="Calibri"/>
              </a:rPr>
              <a:t>95 percent confidence interval:</a:t>
            </a:r>
          </a:p>
          <a:p>
            <a:pPr algn="l">
              <a:spcBef>
                <a:spcPts val="300"/>
              </a:spcBef>
              <a:spcAft>
                <a:spcPts val="100"/>
              </a:spcAft>
            </a:pPr>
            <a:r>
              <a:rPr sz="1000" b="0">
                <a:solidFill>
                  <a:srgbClr val="595652"/>
                </a:solidFill>
                <a:latin typeface="Calibri"/>
              </a:rPr>
              <a:t>0.5757906 1.0000000</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10" name="Shape 210"/>
        <p:cNvGrpSpPr/>
        <p:nvPr/>
      </p:nvGrpSpPr>
      <p:grpSpPr>
        <a:xfrm>
          <a:off x="0" y="0"/>
          <a:ext cx="0" cy="0"/>
          <a:chOff x="0" y="0"/>
          <a:chExt cx="0" cy="0"/>
        </a:xfrm>
      </p:grpSpPr>
      <p:sp>
        <p:nvSpPr>
          <p:cNvPr id="211" name="Google Shape;211;p20"/>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20"/>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 DE HIPÓTESIS PARA VARIANZAS</a:t>
            </a:r>
            <a:endParaRPr sz="3600">
              <a:solidFill>
                <a:schemeClr val="dk1"/>
              </a:solidFill>
              <a:latin typeface="Calibri"/>
              <a:ea typeface="Calibri"/>
              <a:cs typeface="Calibri"/>
              <a:sym typeface="Calibri"/>
            </a:endParaRPr>
          </a:p>
        </p:txBody>
      </p:sp>
      <p:pic>
        <p:nvPicPr>
          <p:cNvPr descr="/sessions/clever-sweet-sagan/clase2_images/slide20_img00.png" id="213" name="Google Shape;213;p20"/>
          <p:cNvPicPr preferRelativeResize="0"/>
          <p:nvPr/>
        </p:nvPicPr>
        <p:blipFill rotWithShape="1">
          <a:blip r:embed="rId3">
            <a:alphaModFix/>
          </a:blip>
          <a:srcRect b="0" l="0" r="0" t="0"/>
          <a:stretch/>
        </p:blipFill>
        <p:spPr>
          <a:xfrm>
            <a:off x="914400" y="1828800"/>
            <a:ext cx="4572000" cy="1188720"/>
          </a:xfrm>
          <a:prstGeom prst="rect">
            <a:avLst/>
          </a:prstGeom>
          <a:noFill/>
          <a:ln>
            <a:noFill/>
          </a:ln>
        </p:spPr>
      </p:pic>
      <p:pic>
        <p:nvPicPr>
          <p:cNvPr descr="/sessions/clever-sweet-sagan/clase2_images/slide20_img01.png" id="214" name="Google Shape;214;p20"/>
          <p:cNvPicPr preferRelativeResize="0"/>
          <p:nvPr/>
        </p:nvPicPr>
        <p:blipFill rotWithShape="1">
          <a:blip r:embed="rId4">
            <a:alphaModFix/>
          </a:blip>
          <a:srcRect b="0" l="0" r="0" t="0"/>
          <a:stretch/>
        </p:blipFill>
        <p:spPr>
          <a:xfrm>
            <a:off x="1371600" y="3200400"/>
            <a:ext cx="2743200" cy="1097280"/>
          </a:xfrm>
          <a:prstGeom prst="rect">
            <a:avLst/>
          </a:prstGeom>
          <a:noFill/>
          <a:ln>
            <a:noFill/>
          </a:ln>
        </p:spPr>
      </p:pic>
      <p:sp>
        <p:nvSpPr>
          <p:cNvPr id="215" name="Google Shape;215;p20"/>
          <p:cNvSpPr/>
          <p:nvPr/>
        </p:nvSpPr>
        <p:spPr>
          <a:xfrm>
            <a:off x="5943600" y="1554480"/>
            <a:ext cx="5760720" cy="4846320"/>
          </a:xfrm>
          <a:prstGeom prst="roundRect">
            <a:avLst>
              <a:gd fmla="val 188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20"/>
          <p:cNvSpPr/>
          <p:nvPr/>
        </p:nvSpPr>
        <p:spPr>
          <a:xfrm>
            <a:off x="6080760" y="1645920"/>
            <a:ext cx="5486400" cy="4663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¿Cuándo se usa esta prueba?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Cuando queremos evaluar si la variabilidad de una población es igual, mayor o menor que un valor de referencia.</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Estadístico Chi-Cuadrado:</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χ² = (n-1) × s² / σ₀²</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Donde:</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n = tamaño de muestra</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s² = varianza muestral</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σ₀² = varianza bajo H₀</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Se distribuye como χ² con (n-1) grados de libertad.</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Hipótesis: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H₀: σ² = σ₀²</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H₁: σ² ≠ σ₀² (o &gt; o &lt;)</a:t>
            </a:r>
            <a:endParaRPr sz="16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21" name="Shape 221"/>
        <p:cNvGrpSpPr/>
        <p:nvPr/>
      </p:nvGrpSpPr>
      <p:grpSpPr>
        <a:xfrm>
          <a:off x="0" y="0"/>
          <a:ext cx="0" cy="0"/>
          <a:chOff x="0" y="0"/>
          <a:chExt cx="0" cy="0"/>
        </a:xfrm>
      </p:grpSpPr>
      <p:sp>
        <p:nvSpPr>
          <p:cNvPr id="222" name="Google Shape;222;p21"/>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21"/>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 PARA VARIANZAS: EJERCICIO</a:t>
            </a:r>
            <a:endParaRPr sz="3600">
              <a:solidFill>
                <a:schemeClr val="dk1"/>
              </a:solidFill>
              <a:latin typeface="Calibri"/>
              <a:ea typeface="Calibri"/>
              <a:cs typeface="Calibri"/>
              <a:sym typeface="Calibri"/>
            </a:endParaRPr>
          </a:p>
        </p:txBody>
      </p:sp>
      <p:sp>
        <p:nvSpPr>
          <p:cNvPr id="224" name="Google Shape;224;p21"/>
          <p:cNvSpPr/>
          <p:nvPr/>
        </p:nvSpPr>
        <p:spPr>
          <a:xfrm>
            <a:off x="914400" y="1554480"/>
            <a:ext cx="6400800" cy="228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Los estudiantes afirman que la variabilidad en el tiempo que demoran conectándose a las clases remotas es baja. Se afirma que la desviación estándar es máximo 2 minutos.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Se toma una muestra de 24 estudiantes, con varianza muestral de 4.9 min².</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¿La información de la muestra soporta la afirmación? Nivel de significancia del 5%.</a:t>
            </a:r>
            <a:endParaRPr sz="1800">
              <a:solidFill>
                <a:schemeClr val="dk1"/>
              </a:solidFill>
              <a:latin typeface="Calibri"/>
              <a:ea typeface="Calibri"/>
              <a:cs typeface="Calibri"/>
              <a:sym typeface="Calibri"/>
            </a:endParaRPr>
          </a:p>
        </p:txBody>
      </p:sp>
      <p:sp>
        <p:nvSpPr>
          <p:cNvPr id="225" name="Google Shape;225;p21"/>
          <p:cNvSpPr/>
          <p:nvPr/>
        </p:nvSpPr>
        <p:spPr>
          <a:xfrm>
            <a:off x="7589520" y="1554480"/>
            <a:ext cx="4114800" cy="5029200"/>
          </a:xfrm>
          <a:prstGeom prst="roundRect">
            <a:avLst>
              <a:gd fmla="val 2222"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21"/>
          <p:cNvSpPr/>
          <p:nvPr/>
        </p:nvSpPr>
        <p:spPr>
          <a:xfrm>
            <a:off x="7726680" y="1645920"/>
            <a:ext cx="3840480" cy="484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Planteamiento y resolución</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H₀: σ² ≤ 4  (σ ≤ 2 min)</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H₁: σ² &gt; 4  (σ &gt; 2 min)</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α = 0.05</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Estadístico: χ² = (24-1) × 4.9 / 4 = 28.175</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Valor crítico: χ²(0.05, 23) = 35.172</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Como 28.175 &lt; 35.172 → No está en zona de rechazo</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Conclusión: No se rechaza H₀. No hay evidencia suficiente para afirmar que la desviación estándar sea mayor a 2 minutos. La afirmación de los estudiantes es consistente con los datos.</a:t>
            </a:r>
            <a:endParaRPr sz="14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31" name="Shape 231"/>
        <p:cNvGrpSpPr/>
        <p:nvPr/>
      </p:nvGrpSpPr>
      <p:grpSpPr>
        <a:xfrm>
          <a:off x="0" y="0"/>
          <a:ext cx="0" cy="0"/>
          <a:chOff x="0" y="0"/>
          <a:chExt cx="0" cy="0"/>
        </a:xfrm>
      </p:grpSpPr>
      <p:sp>
        <p:nvSpPr>
          <p:cNvPr id="232" name="Google Shape;232;p2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2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EN R: PRUEBA PARA VARIANZAS</a:t>
            </a:r>
            <a:endParaRPr sz="3600">
              <a:solidFill>
                <a:schemeClr val="dk1"/>
              </a:solidFill>
              <a:latin typeface="Calibri"/>
              <a:ea typeface="Calibri"/>
              <a:cs typeface="Calibri"/>
              <a:sym typeface="Calibri"/>
            </a:endParaRPr>
          </a:p>
        </p:txBody>
      </p:sp>
      <p:sp>
        <p:nvSpPr>
          <p:cNvPr id="234" name="Google Shape;234;p22"/>
          <p:cNvSpPr/>
          <p:nvPr/>
        </p:nvSpPr>
        <p:spPr>
          <a:xfrm>
            <a:off x="914400" y="1554480"/>
            <a:ext cx="100584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2200"/>
              <a:buFont typeface="Calibri"/>
              <a:buNone/>
            </a:pPr>
            <a:r>
              <a:rPr b="1" lang="en-US" sz="2200">
                <a:solidFill>
                  <a:srgbClr val="595652"/>
                </a:solidFill>
                <a:latin typeface="Calibri"/>
                <a:ea typeface="Calibri"/>
                <a:cs typeface="Calibri"/>
                <a:sym typeface="Calibri"/>
              </a:rPr>
              <a:t>¿Cómo hacerlo en R?</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R no tiene una función built-in específica para prueba χ² de varianzas (como t.test para la media). Por eso, calcularemos el estadístico y el p-value manualmente usando funciones de la distribución chi-cuadrado: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 qchisq(): para obtener valores críticos de la distribución χ²</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 pchisq(): para obtener probabilidades acumuladas (p-value)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Este cálculo manual también ayuda a entender el procedimiento paso a paso.</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tIns="54864" bIns="36576" anchor="ctr">
            <a:spAutoFit/>
          </a:bodyPr>
          <a:lstStyle/>
          <a:p>
            <a:pPr algn="l">
              <a:spcBef>
                <a:spcPts val="0"/>
              </a:spcBef>
              <a:spcAft>
                <a:spcPts val="100"/>
              </a:spcAft>
            </a:pPr>
            <a:r>
              <a:rPr sz="2200" b="1">
                <a:solidFill>
                  <a:srgbClr val="A6B727"/>
                </a:solidFill>
                <a:latin typeface="Calibri"/>
              </a:rPr>
              <a:t>EJEMPLO EN R: VARIANZAS — CÓDIGO Y RESULTADO</a:t>
            </a:r>
          </a:p>
        </p:txBody>
      </p:sp>
      <p:sp>
        <p:nvSpPr>
          <p:cNvPr id="4" name="Rectangle 3"/>
          <p:cNvSpPr/>
          <p:nvPr/>
        </p:nvSpPr>
        <p:spPr>
          <a:xfrm>
            <a:off x="822960" y="1371600"/>
            <a:ext cx="6126480" cy="3977639"/>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00" b="0">
                <a:solidFill>
                  <a:srgbClr val="333333"/>
                </a:solidFill>
                <a:latin typeface="Consolas"/>
              </a:rPr>
              <a:t># Datos</a:t>
            </a:r>
          </a:p>
          <a:p>
            <a:pPr algn="l">
              <a:spcBef>
                <a:spcPts val="0"/>
              </a:spcBef>
              <a:spcAft>
                <a:spcPts val="100"/>
              </a:spcAft>
            </a:pPr>
            <a:r>
              <a:rPr sz="1100" b="0">
                <a:solidFill>
                  <a:srgbClr val="333333"/>
                </a:solidFill>
                <a:latin typeface="Consolas"/>
              </a:rPr>
              <a:t>x &lt;- c(10.2, 9.8, 11.1, 10.7, 9.5, 10.0, 10.8, 11.3,</a:t>
            </a:r>
          </a:p>
          <a:p>
            <a:pPr algn="l">
              <a:spcBef>
                <a:spcPts val="0"/>
              </a:spcBef>
              <a:spcAft>
                <a:spcPts val="100"/>
              </a:spcAft>
            </a:pPr>
            <a:r>
              <a:rPr sz="1100" b="0">
                <a:solidFill>
                  <a:srgbClr val="333333"/>
                </a:solidFill>
                <a:latin typeface="Consolas"/>
              </a:rPr>
              <a:t>       9.7, 10.4, 10.9, 9.6, 10.5, 11.0, 10.1)</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Parámetros</a:t>
            </a:r>
          </a:p>
          <a:p>
            <a:pPr algn="l">
              <a:spcBef>
                <a:spcPts val="0"/>
              </a:spcBef>
              <a:spcAft>
                <a:spcPts val="100"/>
              </a:spcAft>
            </a:pPr>
            <a:r>
              <a:rPr sz="1100" b="0">
                <a:solidFill>
                  <a:srgbClr val="333333"/>
                </a:solidFill>
                <a:latin typeface="Consolas"/>
              </a:rPr>
              <a:t>sigma2_0 &lt;- 4</a:t>
            </a:r>
          </a:p>
          <a:p>
            <a:pPr algn="l">
              <a:spcBef>
                <a:spcPts val="0"/>
              </a:spcBef>
              <a:spcAft>
                <a:spcPts val="100"/>
              </a:spcAft>
            </a:pPr>
            <a:r>
              <a:rPr sz="1100" b="0">
                <a:solidFill>
                  <a:srgbClr val="333333"/>
                </a:solidFill>
                <a:latin typeface="Consolas"/>
              </a:rPr>
              <a:t>alpha &lt;- 0.05</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Estadísticos</a:t>
            </a:r>
          </a:p>
          <a:p>
            <a:pPr algn="l">
              <a:spcBef>
                <a:spcPts val="0"/>
              </a:spcBef>
              <a:spcAft>
                <a:spcPts val="100"/>
              </a:spcAft>
            </a:pPr>
            <a:r>
              <a:rPr sz="1100" b="0">
                <a:solidFill>
                  <a:srgbClr val="333333"/>
                </a:solidFill>
                <a:latin typeface="Consolas"/>
              </a:rPr>
              <a:t>n  &lt;- length(x)</a:t>
            </a:r>
          </a:p>
          <a:p>
            <a:pPr algn="l">
              <a:spcBef>
                <a:spcPts val="0"/>
              </a:spcBef>
              <a:spcAft>
                <a:spcPts val="100"/>
              </a:spcAft>
            </a:pPr>
            <a:r>
              <a:rPr sz="1100" b="0">
                <a:solidFill>
                  <a:srgbClr val="333333"/>
                </a:solidFill>
                <a:latin typeface="Consolas"/>
              </a:rPr>
              <a:t>s2 &lt;- var(x)</a:t>
            </a:r>
          </a:p>
          <a:p>
            <a:pPr algn="l">
              <a:spcBef>
                <a:spcPts val="0"/>
              </a:spcBef>
              <a:spcAft>
                <a:spcPts val="100"/>
              </a:spcAft>
            </a:pPr>
            <a:r>
              <a:rPr sz="1100" b="0">
                <a:solidFill>
                  <a:srgbClr val="333333"/>
                </a:solidFill>
                <a:latin typeface="Consolas"/>
              </a:rPr>
              <a:t>chi_obs &lt;- (n - 1) * s2 / sigma2_0</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Valor crítico (prueba unilateral derecha)</a:t>
            </a:r>
          </a:p>
          <a:p>
            <a:pPr algn="l">
              <a:spcBef>
                <a:spcPts val="0"/>
              </a:spcBef>
              <a:spcAft>
                <a:spcPts val="100"/>
              </a:spcAft>
            </a:pPr>
            <a:r>
              <a:rPr sz="1100" b="0">
                <a:solidFill>
                  <a:srgbClr val="333333"/>
                </a:solidFill>
                <a:latin typeface="Consolas"/>
              </a:rPr>
              <a:t>chi_crit &lt;- qchisq(1 - alpha, df = n - 1)</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p-value</a:t>
            </a:r>
          </a:p>
          <a:p>
            <a:pPr algn="l">
              <a:spcBef>
                <a:spcPts val="0"/>
              </a:spcBef>
              <a:spcAft>
                <a:spcPts val="100"/>
              </a:spcAft>
            </a:pPr>
            <a:r>
              <a:rPr sz="1100" b="0">
                <a:solidFill>
                  <a:srgbClr val="333333"/>
                </a:solidFill>
                <a:latin typeface="Consolas"/>
              </a:rPr>
              <a:t>p_value &lt;- 1 - pchisq(chi_obs, df = n - 1)</a:t>
            </a:r>
          </a:p>
        </p:txBody>
      </p:sp>
      <p:sp>
        <p:nvSpPr>
          <p:cNvPr id="5" name="TextBox 4"/>
          <p:cNvSpPr txBox="1"/>
          <p:nvPr/>
        </p:nvSpPr>
        <p:spPr>
          <a:xfrm>
            <a:off x="822960" y="5486400"/>
            <a:ext cx="6126480" cy="777240"/>
          </a:xfrm>
          <a:prstGeom prst="rect">
            <a:avLst/>
          </a:prstGeom>
          <a:noFill/>
        </p:spPr>
        <p:txBody>
          <a:bodyPr wrap="square" lIns="73152" rIns="73152" tIns="54864" bIns="36576">
            <a:spAutoFit/>
          </a:bodyPr>
          <a:lstStyle/>
          <a:p>
            <a:pPr algn="l">
              <a:spcBef>
                <a:spcPts val="0"/>
              </a:spcBef>
              <a:spcAft>
                <a:spcPts val="100"/>
              </a:spcAft>
            </a:pPr>
            <a:r>
              <a:rPr sz="1200" b="1">
                <a:solidFill>
                  <a:srgbClr val="262626"/>
                </a:solidFill>
                <a:latin typeface="Calibri"/>
              </a:rPr>
              <a:t>Conclusión: </a:t>
            </a:r>
            <a:r>
              <a:rPr sz="1200" b="1">
                <a:solidFill>
                  <a:srgbClr val="262626"/>
                </a:solidFill>
                <a:latin typeface="Calibri"/>
              </a:rPr>
              <a:t>chi_obs = 1.19 &lt; chi_crit = 23.68</a:t>
            </a:r>
            <a:r>
              <a:rPr sz="1200" b="0">
                <a:solidFill>
                  <a:srgbClr val="262626"/>
                </a:solidFill>
                <a:latin typeface="Calibri"/>
              </a:rPr>
              <a:t> (p ≈ 1) → no se rechaza H₀: sin evidencia de que σ² &gt; 4.</a:t>
            </a:r>
          </a:p>
        </p:txBody>
      </p:sp>
      <p:sp>
        <p:nvSpPr>
          <p:cNvPr id="6" name="Rectangle 5"/>
          <p:cNvSpPr/>
          <p:nvPr/>
        </p:nvSpPr>
        <p:spPr>
          <a:xfrm>
            <a:off x="7086600" y="1371600"/>
            <a:ext cx="4160520" cy="2148840"/>
          </a:xfrm>
          <a:prstGeom prst="rect">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50" b="1">
                <a:solidFill>
                  <a:srgbClr val="A6B727"/>
                </a:solidFill>
                <a:latin typeface="Calibri"/>
              </a:rPr>
              <a:t>Salida en R</a:t>
            </a:r>
          </a:p>
          <a:p>
            <a:pPr algn="l">
              <a:spcBef>
                <a:spcPts val="300"/>
              </a:spcBef>
              <a:spcAft>
                <a:spcPts val="100"/>
              </a:spcAft>
            </a:pPr>
            <a:r>
              <a:rPr sz="1150" b="0">
                <a:solidFill>
                  <a:srgbClr val="EAEAEA"/>
                </a:solidFill>
                <a:latin typeface="Consolas"/>
              </a:rPr>
              <a:t>s² = 0.339</a:t>
            </a:r>
          </a:p>
          <a:p>
            <a:pPr algn="l">
              <a:spcBef>
                <a:spcPts val="300"/>
              </a:spcBef>
              <a:spcAft>
                <a:spcPts val="100"/>
              </a:spcAft>
            </a:pPr>
            <a:r>
              <a:rPr sz="1150" b="0">
                <a:solidFill>
                  <a:srgbClr val="EAEAEA"/>
                </a:solidFill>
                <a:latin typeface="Consolas"/>
              </a:rPr>
              <a:t>chi_obs = 1.187</a:t>
            </a:r>
          </a:p>
          <a:p>
            <a:pPr algn="l">
              <a:spcBef>
                <a:spcPts val="300"/>
              </a:spcBef>
              <a:spcAft>
                <a:spcPts val="100"/>
              </a:spcAft>
            </a:pPr>
            <a:r>
              <a:rPr sz="1150" b="0">
                <a:solidFill>
                  <a:srgbClr val="EAEAEA"/>
                </a:solidFill>
                <a:latin typeface="Consolas"/>
              </a:rPr>
              <a:t>chi_crit = 23.685  (gl = 14)</a:t>
            </a:r>
          </a:p>
          <a:p>
            <a:pPr algn="l">
              <a:spcBef>
                <a:spcPts val="300"/>
              </a:spcBef>
              <a:spcAft>
                <a:spcPts val="100"/>
              </a:spcAft>
            </a:pPr>
            <a:r>
              <a:rPr sz="1150" b="0">
                <a:solidFill>
                  <a:srgbClr val="EAEAEA"/>
                </a:solidFill>
                <a:latin typeface="Consolas"/>
              </a:rPr>
              <a:t>p-value = 1.000</a:t>
            </a:r>
          </a:p>
        </p:txBody>
      </p:sp>
      <p:sp>
        <p:nvSpPr>
          <p:cNvPr id="7" name="Rectangle 6"/>
          <p:cNvSpPr/>
          <p:nvPr/>
        </p:nvSpPr>
        <p:spPr>
          <a:xfrm>
            <a:off x="7086600" y="3703320"/>
            <a:ext cx="4160520" cy="256032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200" b="1">
                <a:solidFill>
                  <a:srgbClr val="A6B727"/>
                </a:solidFill>
                <a:latin typeface="Calibri"/>
              </a:rPr>
              <a:t>Interpretación</a:t>
            </a:r>
          </a:p>
          <a:p>
            <a:pPr algn="l">
              <a:spcBef>
                <a:spcPts val="300"/>
              </a:spcBef>
              <a:spcAft>
                <a:spcPts val="100"/>
              </a:spcAft>
            </a:pPr>
            <a:r>
              <a:rPr sz="1000" b="0">
                <a:solidFill>
                  <a:srgbClr val="595652"/>
                </a:solidFill>
                <a:latin typeface="Calibri"/>
              </a:rPr>
              <a:t>1. Comparar χ²_obs con χ²_crit:</a:t>
            </a:r>
          </a:p>
          <a:p>
            <a:pPr algn="l">
              <a:spcBef>
                <a:spcPts val="300"/>
              </a:spcBef>
              <a:spcAft>
                <a:spcPts val="100"/>
              </a:spcAft>
            </a:pPr>
            <a:r>
              <a:rPr sz="1000" b="0">
                <a:solidFill>
                  <a:srgbClr val="595652"/>
                </a:solidFill>
                <a:latin typeface="Calibri"/>
              </a:rPr>
              <a:t>• Si χ²_obs &gt; χ²_crit → Rechazar H₀</a:t>
            </a:r>
          </a:p>
          <a:p>
            <a:pPr algn="l">
              <a:spcBef>
                <a:spcPts val="300"/>
              </a:spcBef>
              <a:spcAft>
                <a:spcPts val="100"/>
              </a:spcAft>
            </a:pPr>
            <a:r>
              <a:rPr sz="1000" b="0">
                <a:solidFill>
                  <a:srgbClr val="595652"/>
                </a:solidFill>
                <a:latin typeface="Calibri"/>
              </a:rPr>
              <a:t>• Si χ²_obs ≤ χ²_crit → No rechazar H₀</a:t>
            </a:r>
          </a:p>
          <a:p>
            <a:pPr algn="l">
              <a:spcBef>
                <a:spcPts val="300"/>
              </a:spcBef>
              <a:spcAft>
                <a:spcPts val="100"/>
              </a:spcAft>
            </a:pPr>
            <a:r>
              <a:rPr sz="1000" b="0">
                <a:solidFill>
                  <a:srgbClr val="595652"/>
                </a:solidFill>
                <a:latin typeface="Calibri"/>
              </a:rPr>
              <a:t>2. Verificar con el p-value:</a:t>
            </a:r>
          </a:p>
          <a:p>
            <a:pPr algn="l">
              <a:spcBef>
                <a:spcPts val="300"/>
              </a:spcBef>
              <a:spcAft>
                <a:spcPts val="100"/>
              </a:spcAft>
            </a:pPr>
            <a:r>
              <a:rPr sz="1000" b="0">
                <a:solidFill>
                  <a:srgbClr val="595652"/>
                </a:solidFill>
                <a:latin typeface="Calibri"/>
              </a:rPr>
              <a:t>• Si p-value &lt; α → Rechazar H₀</a:t>
            </a:r>
          </a:p>
          <a:p>
            <a:pPr algn="l">
              <a:spcBef>
                <a:spcPts val="300"/>
              </a:spcBef>
              <a:spcAft>
                <a:spcPts val="100"/>
              </a:spcAft>
            </a:pPr>
            <a:r>
              <a:rPr sz="1000" b="0">
                <a:solidFill>
                  <a:srgbClr val="595652"/>
                </a:solidFill>
                <a:latin typeface="Calibri"/>
              </a:rPr>
              <a:t>• Si p-value ≥ α → No rechazar H₀</a:t>
            </a:r>
          </a:p>
          <a:p>
            <a:pPr algn="l">
              <a:spcBef>
                <a:spcPts val="300"/>
              </a:spcBef>
              <a:spcAft>
                <a:spcPts val="100"/>
              </a:spcAft>
            </a:pPr>
            <a:r>
              <a:rPr sz="1000" b="0">
                <a:solidFill>
                  <a:srgbClr val="595652"/>
                </a:solidFill>
                <a:latin typeface="Calibri"/>
              </a:rPr>
              <a:t>Ambos métodos (valor crítico y p-value) siempre llevan a la misma decisión.</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68" name="Shape 268"/>
        <p:cNvGrpSpPr/>
        <p:nvPr/>
      </p:nvGrpSpPr>
      <p:grpSpPr>
        <a:xfrm>
          <a:off x="0" y="0"/>
          <a:ext cx="0" cy="0"/>
          <a:chOff x="0" y="0"/>
          <a:chExt cx="0" cy="0"/>
        </a:xfrm>
      </p:grpSpPr>
      <p:sp>
        <p:nvSpPr>
          <p:cNvPr id="269" name="Google Shape;269;p25"/>
          <p:cNvSpPr/>
          <p:nvPr/>
        </p:nvSpPr>
        <p:spPr>
          <a:xfrm>
            <a:off x="239880" y="228600"/>
            <a:ext cx="11731800"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2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PRUEBAS DE HIPÓTESIS PARA DOS POBLACIONES</a:t>
            </a:r>
            <a:endParaRPr sz="3600">
              <a:solidFill>
                <a:schemeClr val="dk1"/>
              </a:solidFill>
              <a:latin typeface="Calibri"/>
              <a:ea typeface="Calibri"/>
              <a:cs typeface="Calibri"/>
              <a:sym typeface="Calibri"/>
            </a:endParaRPr>
          </a:p>
        </p:txBody>
      </p:sp>
      <p:pic>
        <p:nvPicPr>
          <p:cNvPr descr="/sessions/clever-sweet-sagan/clase2_images/slide26_img00.png" id="271" name="Google Shape;271;p25"/>
          <p:cNvPicPr preferRelativeResize="0"/>
          <p:nvPr/>
        </p:nvPicPr>
        <p:blipFill rotWithShape="1">
          <a:blip r:embed="rId3">
            <a:alphaModFix/>
          </a:blip>
          <a:srcRect b="0" l="0" r="0" t="0"/>
          <a:stretch/>
        </p:blipFill>
        <p:spPr>
          <a:xfrm>
            <a:off x="914400" y="1803849"/>
            <a:ext cx="5943600" cy="3609375"/>
          </a:xfrm>
          <a:prstGeom prst="rect">
            <a:avLst/>
          </a:prstGeom>
          <a:noFill/>
          <a:ln>
            <a:noFill/>
          </a:ln>
        </p:spPr>
      </p:pic>
      <p:sp>
        <p:nvSpPr>
          <p:cNvPr id="272" name="Google Shape;272;p25"/>
          <p:cNvSpPr/>
          <p:nvPr/>
        </p:nvSpPr>
        <p:spPr>
          <a:xfrm>
            <a:off x="7589520" y="1371600"/>
            <a:ext cx="4114800" cy="5029200"/>
          </a:xfrm>
          <a:prstGeom prst="roundRect">
            <a:avLst>
              <a:gd fmla="val 2222"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25"/>
          <p:cNvSpPr/>
          <p:nvPr/>
        </p:nvSpPr>
        <p:spPr>
          <a:xfrm>
            <a:off x="7726680" y="1463040"/>
            <a:ext cx="3840480" cy="484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¿Cuándo comparamos dos poblaciones?</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Cuando queremos saber si hay diferencias significativas entre dos grupos. Los tipos de prueba dependen de qué comparamos:</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Cociente de varianzas (prueba F): ¿las dos poblaciones tienen la misma variabilidad?</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Diferencia de medias: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 Varianzas iguales (t pooled)</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 Varianzas diferentes (t de Welch)</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Muestras dependientes (datos pareados): cuando los mismos sujetos se miden dos veces.</a:t>
            </a:r>
            <a:endParaRPr sz="14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278" name="Shape 278"/>
        <p:cNvGrpSpPr/>
        <p:nvPr/>
      </p:nvGrpSpPr>
      <p:grpSpPr>
        <a:xfrm>
          <a:off x="0" y="0"/>
          <a:ext cx="0" cy="0"/>
          <a:chOff x="0" y="0"/>
          <a:chExt cx="0" cy="0"/>
        </a:xfrm>
      </p:grpSpPr>
      <p:sp>
        <p:nvSpPr>
          <p:cNvPr id="279" name="Google Shape;279;p2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2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PRUEBAS PARA EL COCIENTE DE VARIANZAS</a:t>
            </a:r>
            <a:endParaRPr sz="3600">
              <a:solidFill>
                <a:schemeClr val="dk1"/>
              </a:solidFill>
              <a:latin typeface="Calibri"/>
              <a:ea typeface="Calibri"/>
              <a:cs typeface="Calibri"/>
              <a:sym typeface="Calibri"/>
            </a:endParaRPr>
          </a:p>
        </p:txBody>
      </p:sp>
      <p:pic>
        <p:nvPicPr>
          <p:cNvPr descr="/sessions/clever-sweet-sagan/clase2_images/slide27_img00.png" id="281" name="Google Shape;281;p26"/>
          <p:cNvPicPr preferRelativeResize="0"/>
          <p:nvPr/>
        </p:nvPicPr>
        <p:blipFill rotWithShape="1">
          <a:blip r:embed="rId3">
            <a:alphaModFix/>
          </a:blip>
          <a:srcRect b="0" l="0" r="0" t="0"/>
          <a:stretch/>
        </p:blipFill>
        <p:spPr>
          <a:xfrm>
            <a:off x="914400" y="1828800"/>
            <a:ext cx="3200400" cy="1371600"/>
          </a:xfrm>
          <a:prstGeom prst="rect">
            <a:avLst/>
          </a:prstGeom>
          <a:noFill/>
          <a:ln>
            <a:noFill/>
          </a:ln>
        </p:spPr>
      </p:pic>
      <p:pic>
        <p:nvPicPr>
          <p:cNvPr descr="/sessions/clever-sweet-sagan/clase2_images/slide27_img01.png" id="282" name="Google Shape;282;p26"/>
          <p:cNvPicPr preferRelativeResize="0"/>
          <p:nvPr/>
        </p:nvPicPr>
        <p:blipFill rotWithShape="1">
          <a:blip r:embed="rId3">
            <a:alphaModFix/>
          </a:blip>
          <a:srcRect b="0" l="0" r="0" t="0"/>
          <a:stretch/>
        </p:blipFill>
        <p:spPr>
          <a:xfrm>
            <a:off x="914400" y="3474720"/>
            <a:ext cx="3200400" cy="1371600"/>
          </a:xfrm>
          <a:prstGeom prst="rect">
            <a:avLst/>
          </a:prstGeom>
          <a:noFill/>
          <a:ln>
            <a:noFill/>
          </a:ln>
        </p:spPr>
      </p:pic>
      <p:pic>
        <p:nvPicPr>
          <p:cNvPr descr="/sessions/clever-sweet-sagan/clase2_images/slide27_img02.png" id="283" name="Google Shape;283;p26"/>
          <p:cNvPicPr preferRelativeResize="0"/>
          <p:nvPr/>
        </p:nvPicPr>
        <p:blipFill rotWithShape="1">
          <a:blip r:embed="rId3">
            <a:alphaModFix/>
          </a:blip>
          <a:srcRect b="0" l="0" r="0" t="0"/>
          <a:stretch/>
        </p:blipFill>
        <p:spPr>
          <a:xfrm>
            <a:off x="914400" y="5029200"/>
            <a:ext cx="3200400" cy="1371600"/>
          </a:xfrm>
          <a:prstGeom prst="rect">
            <a:avLst/>
          </a:prstGeom>
          <a:noFill/>
          <a:ln>
            <a:noFill/>
          </a:ln>
        </p:spPr>
      </p:pic>
      <p:sp>
        <p:nvSpPr>
          <p:cNvPr id="284" name="Google Shape;284;p26"/>
          <p:cNvSpPr/>
          <p:nvPr/>
        </p:nvSpPr>
        <p:spPr>
          <a:xfrm>
            <a:off x="5029200" y="1554480"/>
            <a:ext cx="6675120" cy="5029200"/>
          </a:xfrm>
          <a:prstGeom prst="roundRect">
            <a:avLst>
              <a:gd fmla="val 1818"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6"/>
          <p:cNvSpPr/>
          <p:nvPr/>
        </p:nvSpPr>
        <p:spPr>
          <a:xfrm>
            <a:off x="5166360" y="1645920"/>
            <a:ext cx="6400800" cy="484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¿Para qué sirve la prueba F?</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Permite comparar la variabilidad de dos poblaciones. Es un paso previo importante: antes de comparar medias de dos grupos, necesitamos saber si sus varianzas son iguales o diferentes (esto determina qué prueba t usar).</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Estadístico F = S₁²/S₂²</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Se distribuye como F con (n₁-1, n₂-1) grados de libertad.</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H₀: σ₁² = σ₂² (varianzas iguales)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H₁: σ₁² ≠ σ₂² (o &gt; o &lt;)</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Si F ≈ 1 → las varianzas son similares.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Si F &gt;&gt; 1 o F &lt;&lt; 1 → las varianzas son diferentes.</a:t>
            </a:r>
            <a:endParaRPr sz="14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311" name="Shape 311"/>
        <p:cNvGrpSpPr/>
        <p:nvPr/>
      </p:nvGrpSpPr>
      <p:grpSpPr>
        <a:xfrm>
          <a:off x="0" y="0"/>
          <a:ext cx="0" cy="0"/>
          <a:chOff x="0" y="0"/>
          <a:chExt cx="0" cy="0"/>
        </a:xfrm>
      </p:grpSpPr>
      <p:sp>
        <p:nvSpPr>
          <p:cNvPr id="312" name="Google Shape;312;p29"/>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29"/>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EN R: PRUEBA F PARA VARIANZAS</a:t>
            </a:r>
            <a:endParaRPr sz="3600">
              <a:solidFill>
                <a:schemeClr val="dk1"/>
              </a:solidFill>
              <a:latin typeface="Calibri"/>
              <a:ea typeface="Calibri"/>
              <a:cs typeface="Calibri"/>
              <a:sym typeface="Calibri"/>
            </a:endParaRPr>
          </a:p>
        </p:txBody>
      </p:sp>
      <p:sp>
        <p:nvSpPr>
          <p:cNvPr id="314" name="Google Shape;314;p29"/>
          <p:cNvSpPr/>
          <p:nvPr/>
        </p:nvSpPr>
        <p:spPr>
          <a:xfrm>
            <a:off x="914400" y="1554480"/>
            <a:ext cx="100584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2200"/>
              <a:buFont typeface="Calibri"/>
              <a:buNone/>
            </a:pPr>
            <a:r>
              <a:rPr b="1" lang="en-US" sz="2200">
                <a:solidFill>
                  <a:srgbClr val="595652"/>
                </a:solidFill>
                <a:latin typeface="Calibri"/>
                <a:ea typeface="Calibri"/>
                <a:cs typeface="Calibri"/>
                <a:sym typeface="Calibri"/>
              </a:rPr>
              <a:t>¿Cómo realizar la prueba F en R?</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R ofrece dos formas: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1. Cálculo manual: calcular F = s₁²/s₂², luego usar qf() para el valor crítico y pf() para el p-value.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2. Función directa: var.test(A, B) realiza la prueba F completa de forma automática.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lang="en-US" sz="1800">
                <a:solidFill>
                  <a:srgbClr val="595652"/>
                </a:solidFill>
                <a:latin typeface="Calibri"/>
                <a:ea typeface="Calibri"/>
                <a:cs typeface="Calibri"/>
                <a:sym typeface="Calibri"/>
              </a:rPr>
              <a:t>A continuación veremos ambas formas.</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tIns="54864" bIns="36576" anchor="ctr">
            <a:spAutoFit/>
          </a:bodyPr>
          <a:lstStyle/>
          <a:p>
            <a:pPr algn="l">
              <a:spcBef>
                <a:spcPts val="0"/>
              </a:spcBef>
              <a:spcAft>
                <a:spcPts val="100"/>
              </a:spcAft>
            </a:pPr>
            <a:r>
              <a:rPr sz="2200" b="1">
                <a:solidFill>
                  <a:srgbClr val="A6B727"/>
                </a:solidFill>
                <a:latin typeface="Calibri"/>
              </a:rPr>
              <a:t>EJEMPLO EN R: COCIENTE DE VARIANZAS — CÓDIGO Y RESULTADO</a:t>
            </a:r>
          </a:p>
        </p:txBody>
      </p:sp>
      <p:sp>
        <p:nvSpPr>
          <p:cNvPr id="4" name="Rectangle 3"/>
          <p:cNvSpPr/>
          <p:nvPr/>
        </p:nvSpPr>
        <p:spPr>
          <a:xfrm>
            <a:off x="822960" y="1371600"/>
            <a:ext cx="6126480" cy="3977639"/>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00" b="0">
                <a:solidFill>
                  <a:srgbClr val="333333"/>
                </a:solidFill>
                <a:latin typeface="Consolas"/>
              </a:rPr>
              <a:t># Datos</a:t>
            </a:r>
          </a:p>
          <a:p>
            <a:pPr algn="l">
              <a:spcBef>
                <a:spcPts val="0"/>
              </a:spcBef>
              <a:spcAft>
                <a:spcPts val="100"/>
              </a:spcAft>
            </a:pPr>
            <a:r>
              <a:rPr sz="1100" b="0">
                <a:solidFill>
                  <a:srgbClr val="333333"/>
                </a:solidFill>
                <a:latin typeface="Consolas"/>
              </a:rPr>
              <a:t>A &lt;- c(10.2, 11.0, 9.8, 10.7, 11.4, 10.9,</a:t>
            </a:r>
          </a:p>
          <a:p>
            <a:pPr algn="l">
              <a:spcBef>
                <a:spcPts val="0"/>
              </a:spcBef>
              <a:spcAft>
                <a:spcPts val="100"/>
              </a:spcAft>
            </a:pPr>
            <a:r>
              <a:rPr sz="1100" b="0">
                <a:solidFill>
                  <a:srgbClr val="333333"/>
                </a:solidFill>
                <a:latin typeface="Consolas"/>
              </a:rPr>
              <a:t>       9.6, 12.2, 10.5, 11.3, 10.1, 11.6)</a:t>
            </a:r>
          </a:p>
          <a:p>
            <a:pPr algn="l">
              <a:spcBef>
                <a:spcPts val="0"/>
              </a:spcBef>
              <a:spcAft>
                <a:spcPts val="100"/>
              </a:spcAft>
            </a:pPr>
            <a:r>
              <a:rPr sz="1100" b="0">
                <a:solidFill>
                  <a:srgbClr val="333333"/>
                </a:solidFill>
                <a:latin typeface="Consolas"/>
              </a:rPr>
              <a:t>B &lt;- c(9.9, 10.1, 10.4, 9.7, 10.3,</a:t>
            </a:r>
          </a:p>
          <a:p>
            <a:pPr algn="l">
              <a:spcBef>
                <a:spcPts val="0"/>
              </a:spcBef>
              <a:spcAft>
                <a:spcPts val="100"/>
              </a:spcAft>
            </a:pPr>
            <a:r>
              <a:rPr sz="1100" b="0">
                <a:solidFill>
                  <a:srgbClr val="333333"/>
                </a:solidFill>
                <a:latin typeface="Consolas"/>
              </a:rPr>
              <a:t>       9.8, 10.0, 9.6, 10.2, 9.9)</a:t>
            </a:r>
          </a:p>
          <a:p>
            <a:pPr algn="l">
              <a:spcBef>
                <a:spcPts val="0"/>
              </a:spcBef>
              <a:spcAft>
                <a:spcPts val="100"/>
              </a:spcAft>
            </a:pPr>
            <a:r>
              <a:rPr sz="1100" b="0">
                <a:solidFill>
                  <a:srgbClr val="333333"/>
                </a:solidFill>
                <a:latin typeface="Consolas"/>
              </a:rPr>
              <a:t>alpha &lt;- 0.05</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Tamaños y varianzas muestrales</a:t>
            </a:r>
          </a:p>
          <a:p>
            <a:pPr algn="l">
              <a:spcBef>
                <a:spcPts val="0"/>
              </a:spcBef>
              <a:spcAft>
                <a:spcPts val="100"/>
              </a:spcAft>
            </a:pPr>
            <a:r>
              <a:rPr sz="1100" b="0">
                <a:solidFill>
                  <a:srgbClr val="333333"/>
                </a:solidFill>
                <a:latin typeface="Consolas"/>
              </a:rPr>
              <a:t>nA &lt;- length(A);  nB &lt;- length(B)</a:t>
            </a:r>
          </a:p>
          <a:p>
            <a:pPr algn="l">
              <a:spcBef>
                <a:spcPts val="0"/>
              </a:spcBef>
              <a:spcAft>
                <a:spcPts val="100"/>
              </a:spcAft>
            </a:pPr>
            <a:r>
              <a:rPr sz="1100" b="0">
                <a:solidFill>
                  <a:srgbClr val="333333"/>
                </a:solidFill>
                <a:latin typeface="Consolas"/>
              </a:rPr>
              <a:t>s2A &lt;- var(A);    s2B &lt;- var(B)</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Estadístico F</a:t>
            </a:r>
          </a:p>
          <a:p>
            <a:pPr algn="l">
              <a:spcBef>
                <a:spcPts val="0"/>
              </a:spcBef>
              <a:spcAft>
                <a:spcPts val="100"/>
              </a:spcAft>
            </a:pPr>
            <a:r>
              <a:rPr sz="1100" b="0">
                <a:solidFill>
                  <a:srgbClr val="333333"/>
                </a:solidFill>
                <a:latin typeface="Consolas"/>
              </a:rPr>
              <a:t>F_obs &lt;- s2A / s2B</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Valor crítico F (prueba unilateral derecha)</a:t>
            </a:r>
          </a:p>
          <a:p>
            <a:pPr algn="l">
              <a:spcBef>
                <a:spcPts val="0"/>
              </a:spcBef>
              <a:spcAft>
                <a:spcPts val="100"/>
              </a:spcAft>
            </a:pPr>
            <a:r>
              <a:rPr sz="1100" b="0">
                <a:solidFill>
                  <a:srgbClr val="333333"/>
                </a:solidFill>
                <a:latin typeface="Consolas"/>
              </a:rPr>
              <a:t>F_crit &lt;- qf(1 - alpha, df1 = nA - 1, df2 = nB - 1)</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p-value</a:t>
            </a:r>
          </a:p>
          <a:p>
            <a:pPr algn="l">
              <a:spcBef>
                <a:spcPts val="0"/>
              </a:spcBef>
              <a:spcAft>
                <a:spcPts val="100"/>
              </a:spcAft>
            </a:pPr>
            <a:r>
              <a:rPr sz="1100" b="0">
                <a:solidFill>
                  <a:srgbClr val="333333"/>
                </a:solidFill>
                <a:latin typeface="Consolas"/>
              </a:rPr>
              <a:t>p_value &lt;- 1 - pf(F_obs, df1 = nA - 1, df2 = nB - 1)</a:t>
            </a:r>
          </a:p>
        </p:txBody>
      </p:sp>
      <p:sp>
        <p:nvSpPr>
          <p:cNvPr id="5" name="TextBox 4"/>
          <p:cNvSpPr txBox="1"/>
          <p:nvPr/>
        </p:nvSpPr>
        <p:spPr>
          <a:xfrm>
            <a:off x="822960" y="5486400"/>
            <a:ext cx="6126480" cy="777240"/>
          </a:xfrm>
          <a:prstGeom prst="rect">
            <a:avLst/>
          </a:prstGeom>
          <a:noFill/>
        </p:spPr>
        <p:txBody>
          <a:bodyPr wrap="square" lIns="73152" rIns="73152" tIns="54864" bIns="36576">
            <a:spAutoFit/>
          </a:bodyPr>
          <a:lstStyle/>
          <a:p>
            <a:pPr algn="l">
              <a:spcBef>
                <a:spcPts val="0"/>
              </a:spcBef>
              <a:spcAft>
                <a:spcPts val="100"/>
              </a:spcAft>
            </a:pPr>
            <a:r>
              <a:rPr sz="1200" b="1">
                <a:solidFill>
                  <a:srgbClr val="262626"/>
                </a:solidFill>
                <a:latin typeface="Calibri"/>
              </a:rPr>
              <a:t>Conclusión: </a:t>
            </a:r>
            <a:r>
              <a:rPr sz="1200" b="1">
                <a:solidFill>
                  <a:srgbClr val="262626"/>
                </a:solidFill>
                <a:latin typeface="Calibri"/>
              </a:rPr>
              <a:t>p = 0.0014 &lt; 0.05</a:t>
            </a:r>
            <a:r>
              <a:rPr sz="1200" b="0">
                <a:solidFill>
                  <a:srgbClr val="262626"/>
                </a:solidFill>
                <a:latin typeface="Calibri"/>
              </a:rPr>
              <a:t> → se rechaza H₀: las varianzas difieren (A ≈ 9× la de B).</a:t>
            </a:r>
          </a:p>
        </p:txBody>
      </p:sp>
      <p:sp>
        <p:nvSpPr>
          <p:cNvPr id="6" name="Rectangle 5"/>
          <p:cNvSpPr/>
          <p:nvPr/>
        </p:nvSpPr>
        <p:spPr>
          <a:xfrm>
            <a:off x="7086600" y="1371600"/>
            <a:ext cx="4160520" cy="2148840"/>
          </a:xfrm>
          <a:prstGeom prst="rect">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50" b="1">
                <a:solidFill>
                  <a:srgbClr val="A6B727"/>
                </a:solidFill>
                <a:latin typeface="Calibri"/>
              </a:rPr>
              <a:t>Salida en R</a:t>
            </a:r>
          </a:p>
          <a:p>
            <a:pPr algn="l">
              <a:spcBef>
                <a:spcPts val="300"/>
              </a:spcBef>
              <a:spcAft>
                <a:spcPts val="100"/>
              </a:spcAft>
            </a:pPr>
            <a:r>
              <a:rPr sz="1150" b="0">
                <a:solidFill>
                  <a:srgbClr val="EAEAEA"/>
                </a:solidFill>
                <a:latin typeface="Consolas"/>
              </a:rPr>
              <a:t>var.test(A, B, alternative="greater")</a:t>
            </a:r>
          </a:p>
          <a:p>
            <a:pPr algn="l">
              <a:spcBef>
                <a:spcPts val="300"/>
              </a:spcBef>
              <a:spcAft>
                <a:spcPts val="100"/>
              </a:spcAft>
            </a:pPr>
            <a:r>
              <a:rPr sz="1150" b="0">
                <a:solidFill>
                  <a:srgbClr val="EAEAEA"/>
                </a:solidFill>
                <a:latin typeface="Consolas"/>
              </a:rPr>
              <a:t>F = 8.924,  df = (11, 9)</a:t>
            </a:r>
          </a:p>
          <a:p>
            <a:pPr algn="l">
              <a:spcBef>
                <a:spcPts val="300"/>
              </a:spcBef>
              <a:spcAft>
                <a:spcPts val="100"/>
              </a:spcAft>
            </a:pPr>
            <a:r>
              <a:rPr sz="1150" b="0">
                <a:solidFill>
                  <a:srgbClr val="EAEAEA"/>
                </a:solidFill>
                <a:latin typeface="Consolas"/>
              </a:rPr>
              <a:t>p-value = 0.001388</a:t>
            </a:r>
          </a:p>
          <a:p>
            <a:pPr algn="l">
              <a:spcBef>
                <a:spcPts val="300"/>
              </a:spcBef>
              <a:spcAft>
                <a:spcPts val="100"/>
              </a:spcAft>
            </a:pPr>
            <a:r>
              <a:rPr sz="1150" b="0">
                <a:solidFill>
                  <a:srgbClr val="EAEAEA"/>
                </a:solidFill>
                <a:latin typeface="Consolas"/>
              </a:rPr>
              <a:t>IC 95%: [2.876, Inf)</a:t>
            </a:r>
          </a:p>
        </p:txBody>
      </p:sp>
      <p:sp>
        <p:nvSpPr>
          <p:cNvPr id="7" name="Rectangle 6"/>
          <p:cNvSpPr/>
          <p:nvPr/>
        </p:nvSpPr>
        <p:spPr>
          <a:xfrm>
            <a:off x="7086600" y="3703320"/>
            <a:ext cx="4160520" cy="256032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200" b="1">
                <a:solidFill>
                  <a:srgbClr val="A6B727"/>
                </a:solidFill>
                <a:latin typeface="Calibri"/>
              </a:rPr>
              <a:t>Interpretación</a:t>
            </a:r>
          </a:p>
          <a:p>
            <a:pPr algn="l">
              <a:spcBef>
                <a:spcPts val="300"/>
              </a:spcBef>
              <a:spcAft>
                <a:spcPts val="100"/>
              </a:spcAft>
            </a:pPr>
            <a:r>
              <a:rPr sz="1000" b="0">
                <a:solidFill>
                  <a:srgbClr val="595652"/>
                </a:solidFill>
                <a:latin typeface="Calibri"/>
              </a:rPr>
              <a:t>• F = 8.92: la varianza de A es casi 9 veces mayor que la de B.</a:t>
            </a:r>
          </a:p>
          <a:p>
            <a:pPr algn="l">
              <a:spcBef>
                <a:spcPts val="300"/>
              </a:spcBef>
              <a:spcAft>
                <a:spcPts val="100"/>
              </a:spcAft>
            </a:pPr>
            <a:r>
              <a:rPr sz="1000" b="0">
                <a:solidFill>
                  <a:srgbClr val="595652"/>
                </a:solidFill>
                <a:latin typeface="Calibri"/>
              </a:rPr>
              <a:t>• p-value = 0.0014: extremadamente bajo.</a:t>
            </a:r>
          </a:p>
          <a:p>
            <a:pPr algn="l">
              <a:spcBef>
                <a:spcPts val="300"/>
              </a:spcBef>
              <a:spcAft>
                <a:spcPts val="100"/>
              </a:spcAft>
            </a:pPr>
            <a:r>
              <a:rPr sz="1000" b="0">
                <a:solidFill>
                  <a:srgbClr val="595652"/>
                </a:solidFill>
                <a:latin typeface="Calibri"/>
              </a:rPr>
              <a:t>• Como 0.0014 &lt; 0.05 → Se rechaza H₀</a:t>
            </a:r>
          </a:p>
          <a:p>
            <a:pPr algn="l">
              <a:spcBef>
                <a:spcPts val="300"/>
              </a:spcBef>
              <a:spcAft>
                <a:spcPts val="100"/>
              </a:spcAft>
            </a:pPr>
            <a:r>
              <a:rPr sz="1000" b="0">
                <a:solidFill>
                  <a:srgbClr val="595652"/>
                </a:solidFill>
                <a:latin typeface="Calibri"/>
              </a:rPr>
              <a:t>Conclusión: Hay evidencia estadística muy fuerte de que las varianzas de las dos poblaciones son diferentes (σ₁² &gt; σ₂²).</a:t>
            </a:r>
          </a:p>
          <a:p>
            <a:pPr algn="l">
              <a:spcBef>
                <a:spcPts val="300"/>
              </a:spcBef>
              <a:spcAft>
                <a:spcPts val="100"/>
              </a:spcAft>
            </a:pPr>
            <a:r>
              <a:rPr sz="1000" b="0">
                <a:solidFill>
                  <a:srgbClr val="595652"/>
                </a:solidFill>
                <a:latin typeface="Calibri"/>
              </a:rPr>
              <a:t>var.test() hace todo el cálculo automáticamente y es la forma más práctica.</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339" name="Shape 339"/>
        <p:cNvGrpSpPr/>
        <p:nvPr/>
      </p:nvGrpSpPr>
      <p:grpSpPr>
        <a:xfrm>
          <a:off x="0" y="0"/>
          <a:ext cx="0" cy="0"/>
          <a:chOff x="0" y="0"/>
          <a:chExt cx="0" cy="0"/>
        </a:xfrm>
      </p:grpSpPr>
      <p:sp>
        <p:nvSpPr>
          <p:cNvPr id="340" name="Google Shape;340;p32"/>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32"/>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DIFERENCIA DE MEDIAS (VARIANZAS DIFERENTES)</a:t>
            </a:r>
            <a:endParaRPr sz="3200">
              <a:solidFill>
                <a:schemeClr val="dk1"/>
              </a:solidFill>
              <a:latin typeface="Calibri"/>
              <a:ea typeface="Calibri"/>
              <a:cs typeface="Calibri"/>
              <a:sym typeface="Calibri"/>
            </a:endParaRPr>
          </a:p>
        </p:txBody>
      </p:sp>
      <p:sp>
        <p:nvSpPr>
          <p:cNvPr id="342" name="Google Shape;342;p32"/>
          <p:cNvSpPr/>
          <p:nvPr/>
        </p:nvSpPr>
        <p:spPr>
          <a:xfrm>
            <a:off x="914400" y="1554480"/>
            <a:ext cx="6858000" cy="32004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Se recoge información sobre productos de primera necesidad. El limón tuvo un incremento considerable:</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1 de enero de 2023: promedio $1.938/kg (s = $230), n = 13 puntos de venta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22 de abril de 2023: promedio $3.560/kg (s = $445), n = 15 puntos de venta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¿Se podría afirmar que el precio promedio aumentó en más de $1.500?</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Distribución normal, α = 5%.</a:t>
            </a:r>
            <a:endParaRPr sz="1800">
              <a:solidFill>
                <a:schemeClr val="dk1"/>
              </a:solidFill>
              <a:latin typeface="Calibri"/>
              <a:ea typeface="Calibri"/>
              <a:cs typeface="Calibri"/>
              <a:sym typeface="Calibri"/>
            </a:endParaRPr>
          </a:p>
        </p:txBody>
      </p:sp>
      <p:sp>
        <p:nvSpPr>
          <p:cNvPr id="343" name="Google Shape;343;p32"/>
          <p:cNvSpPr/>
          <p:nvPr/>
        </p:nvSpPr>
        <p:spPr>
          <a:xfrm>
            <a:off x="8046720" y="1371600"/>
            <a:ext cx="3657600" cy="5029200"/>
          </a:xfrm>
          <a:prstGeom prst="roundRect">
            <a:avLst>
              <a:gd fmla="val 25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32"/>
          <p:cNvSpPr/>
          <p:nvPr/>
        </p:nvSpPr>
        <p:spPr>
          <a:xfrm>
            <a:off x="8183880" y="1463040"/>
            <a:ext cx="3383280" cy="484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¿Qué es la prueba t de Welch?</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Se usa para comparar medias de dos poblaciones cuando las varianzas son desconocidas Y DIFERENTES.</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H₀: μ₂ - μ₁ ≤ 1500</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H₁: μ₂ - μ₁ &gt; 1500</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α = 0.05</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La prueba de Welch ajusta los grados de libertad para compensar la desigualdad de varianzas. Es más conservadora (y más segura) que asumir varianzas iguales.</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En R: t.test(A, B, var.equal = FALSE)</a:t>
            </a:r>
            <a:endParaRPr sz="14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371" name="Shape 371"/>
        <p:cNvGrpSpPr/>
        <p:nvPr/>
      </p:nvGrpSpPr>
      <p:grpSpPr>
        <a:xfrm>
          <a:off x="0" y="0"/>
          <a:ext cx="0" cy="0"/>
          <a:chOff x="0" y="0"/>
          <a:chExt cx="0" cy="0"/>
        </a:xfrm>
      </p:grpSpPr>
      <p:sp>
        <p:nvSpPr>
          <p:cNvPr id="372" name="Google Shape;372;p35"/>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3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200"/>
              <a:buFont typeface="Calibri"/>
              <a:buNone/>
            </a:pPr>
            <a:r>
              <a:rPr lang="en-US" sz="3200">
                <a:solidFill>
                  <a:srgbClr val="A6B727"/>
                </a:solidFill>
                <a:latin typeface="Calibri"/>
                <a:ea typeface="Calibri"/>
                <a:cs typeface="Calibri"/>
                <a:sym typeface="Calibri"/>
              </a:rPr>
              <a:t>DIFERENCIA DE MEDIAS (VARIANZAS IGUALES)</a:t>
            </a:r>
            <a:endParaRPr sz="3200">
              <a:solidFill>
                <a:schemeClr val="dk1"/>
              </a:solidFill>
              <a:latin typeface="Calibri"/>
              <a:ea typeface="Calibri"/>
              <a:cs typeface="Calibri"/>
              <a:sym typeface="Calibri"/>
            </a:endParaRPr>
          </a:p>
        </p:txBody>
      </p:sp>
      <p:sp>
        <p:nvSpPr>
          <p:cNvPr id="374" name="Google Shape;374;p35"/>
          <p:cNvSpPr/>
          <p:nvPr/>
        </p:nvSpPr>
        <p:spPr>
          <a:xfrm>
            <a:off x="914400" y="1554480"/>
            <a:ext cx="6858000" cy="2743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Se recoge información de productos de primera necesidad:</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1 de enero: promedio $1.520/kg (s = $140), n = 18 puntos de venta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20 de abril: promedio $2.607/kg (s = $170), n = 10 puntos de venta</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b="1" lang="en-US" sz="1600">
                <a:solidFill>
                  <a:srgbClr val="595652"/>
                </a:solidFill>
                <a:latin typeface="Calibri"/>
                <a:ea typeface="Calibri"/>
                <a:cs typeface="Calibri"/>
                <a:sym typeface="Calibri"/>
              </a:rPr>
              <a:t>¿Se podría afirmar que a nivel nacional hubo un aumento igual a $1.000?</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Distribución normal, α = 10%.</a:t>
            </a:r>
            <a:endParaRPr sz="1800">
              <a:solidFill>
                <a:schemeClr val="dk1"/>
              </a:solidFill>
              <a:latin typeface="Calibri"/>
              <a:ea typeface="Calibri"/>
              <a:cs typeface="Calibri"/>
              <a:sym typeface="Calibri"/>
            </a:endParaRPr>
          </a:p>
        </p:txBody>
      </p:sp>
      <p:sp>
        <p:nvSpPr>
          <p:cNvPr id="375" name="Google Shape;375;p35"/>
          <p:cNvSpPr/>
          <p:nvPr/>
        </p:nvSpPr>
        <p:spPr>
          <a:xfrm>
            <a:off x="8046720" y="1371600"/>
            <a:ext cx="3657600" cy="5029200"/>
          </a:xfrm>
          <a:prstGeom prst="roundRect">
            <a:avLst>
              <a:gd fmla="val 25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35"/>
          <p:cNvSpPr/>
          <p:nvPr/>
        </p:nvSpPr>
        <p:spPr>
          <a:xfrm>
            <a:off x="8183880" y="1463040"/>
            <a:ext cx="3383280" cy="4846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¿Cuándo se asumen varianzas iguales?</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Cuando una prueba F previa no rechazó H₀: σ₁² = σ₂².</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En este caso se usa la varianza combinada (pooled):</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Sp² = [(n₁-1)s₁² + (n₂-1)s₂²] / (n₁+n₂-2)</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H₀: μ₂ - μ₁ = 1000</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H₁: μ₂ - μ₁ ≠ 1000 (bilateral)</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α = 0.10</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Grados de libertad: n₁ + n₂ - 2 = 26</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En R: t.test(A, B, var.equal = TRUE)</a:t>
            </a:r>
            <a:endParaRPr sz="14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02" name="Shape 402"/>
        <p:cNvGrpSpPr/>
        <p:nvPr/>
      </p:nvGrpSpPr>
      <p:grpSpPr>
        <a:xfrm>
          <a:off x="0" y="0"/>
          <a:ext cx="0" cy="0"/>
          <a:chOff x="0" y="0"/>
          <a:chExt cx="0" cy="0"/>
        </a:xfrm>
      </p:grpSpPr>
      <p:sp>
        <p:nvSpPr>
          <p:cNvPr id="403" name="Google Shape;403;p38"/>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38"/>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DIFERENCIA DE MEDIAS PARA MUESTRAS DEPENDIENTES</a:t>
            </a:r>
            <a:endParaRPr sz="3600">
              <a:solidFill>
                <a:schemeClr val="dk1"/>
              </a:solidFill>
              <a:latin typeface="Calibri"/>
              <a:ea typeface="Calibri"/>
              <a:cs typeface="Calibri"/>
              <a:sym typeface="Calibri"/>
            </a:endParaRPr>
          </a:p>
        </p:txBody>
      </p:sp>
      <p:sp>
        <p:nvSpPr>
          <p:cNvPr id="405" name="Google Shape;405;p38"/>
          <p:cNvSpPr/>
          <p:nvPr/>
        </p:nvSpPr>
        <p:spPr>
          <a:xfrm>
            <a:off x="914400" y="1554480"/>
            <a:ext cx="10058400" cy="22860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800"/>
              <a:buFont typeface="Calibri"/>
              <a:buNone/>
            </a:pPr>
            <a:r>
              <a:rPr b="1" lang="en-US" sz="1800">
                <a:solidFill>
                  <a:srgbClr val="595652"/>
                </a:solidFill>
                <a:latin typeface="Calibri"/>
                <a:ea typeface="Calibri"/>
                <a:cs typeface="Calibri"/>
                <a:sym typeface="Calibri"/>
              </a:rPr>
              <a:t>¿Qué son las muestras dependientes (datos pareados)?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Son muestras donde cada observación del grupo 1 está naturalmente vinculada a una observación del grupo 2. Ejemplo: medir el mismo paciente antes y después de un tratamiento.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700"/>
              <a:buFont typeface="Calibri"/>
              <a:buNone/>
            </a:pPr>
            <a:r>
              <a:rPr lang="en-US" sz="1700">
                <a:solidFill>
                  <a:srgbClr val="595652"/>
                </a:solidFill>
                <a:latin typeface="Calibri"/>
                <a:ea typeface="Calibri"/>
                <a:cs typeface="Calibri"/>
                <a:sym typeface="Calibri"/>
              </a:rPr>
              <a:t>Se desea evaluar la eficacia de un medicamento para reducir el colesterol (en mg/dl de sangre). Se mide el colesterol de 11 pacientes antes y después del tratamiento:</a:t>
            </a:r>
            <a:endParaRPr sz="1800">
              <a:solidFill>
                <a:schemeClr val="dk1"/>
              </a:solidFill>
              <a:latin typeface="Calibri"/>
              <a:ea typeface="Calibri"/>
              <a:cs typeface="Calibri"/>
              <a:sym typeface="Calibri"/>
            </a:endParaRPr>
          </a:p>
        </p:txBody>
      </p:sp>
      <p:graphicFrame>
        <p:nvGraphicFramePr>
          <p:cNvPr id="406" name="Google Shape;406;p38"/>
          <p:cNvGraphicFramePr/>
          <p:nvPr/>
        </p:nvGraphicFramePr>
        <p:xfrm>
          <a:off x="914400" y="3931920"/>
          <a:ext cx="3000000" cy="3000000"/>
        </p:xfrm>
        <a:graphic>
          <a:graphicData uri="http://schemas.openxmlformats.org/drawingml/2006/table">
            <a:tbl>
              <a:tblPr>
                <a:noFill/>
                <a:tableStyleId>{DADA3AF7-B80B-4F97-9D7C-50D34325631F}</a:tableStyleId>
              </a:tblPr>
              <a:tblGrid>
                <a:gridCol w="1097275"/>
                <a:gridCol w="777250"/>
                <a:gridCol w="777250"/>
                <a:gridCol w="777250"/>
                <a:gridCol w="777250"/>
                <a:gridCol w="777250"/>
                <a:gridCol w="777250"/>
                <a:gridCol w="777250"/>
                <a:gridCol w="777250"/>
                <a:gridCol w="777250"/>
                <a:gridCol w="777250"/>
                <a:gridCol w="777250"/>
              </a:tblGrid>
              <a:tr h="177800">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Antes</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A6B727"/>
                    </a:solidFill>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135</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140</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152</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150</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140</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157</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153</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154</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141</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130</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136</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177800">
                <a:tc>
                  <a:txBody>
                    <a:bodyPr/>
                    <a:lstStyle/>
                    <a:p>
                      <a:pPr indent="0" lvl="0" marL="0" marR="0" rtl="0" algn="ctr">
                        <a:spcBef>
                          <a:spcPts val="0"/>
                        </a:spcBef>
                        <a:spcAft>
                          <a:spcPts val="0"/>
                        </a:spcAft>
                        <a:buClr>
                          <a:srgbClr val="595652"/>
                        </a:buClr>
                        <a:buSzPts val="1400"/>
                        <a:buFont typeface="Calibri"/>
                        <a:buNone/>
                      </a:pPr>
                      <a:r>
                        <a:rPr b="1" lang="en-US" sz="1400" u="none" cap="none" strike="noStrike">
                          <a:solidFill>
                            <a:srgbClr val="595652"/>
                          </a:solidFill>
                          <a:latin typeface="Calibri"/>
                          <a:ea typeface="Calibri"/>
                          <a:cs typeface="Calibri"/>
                          <a:sym typeface="Calibri"/>
                        </a:rPr>
                        <a:t>Después</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4F7E9"/>
                    </a:solidFill>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110</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125</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132</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143</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120</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124</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137</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130</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128</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115</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spcBef>
                          <a:spcPts val="0"/>
                        </a:spcBef>
                        <a:spcAft>
                          <a:spcPts val="0"/>
                        </a:spcAft>
                        <a:buClr>
                          <a:srgbClr val="595652"/>
                        </a:buClr>
                        <a:buSzPts val="1400"/>
                        <a:buFont typeface="Calibri"/>
                        <a:buNone/>
                      </a:pPr>
                      <a:r>
                        <a:rPr lang="en-US" sz="1400" u="none" cap="none" strike="noStrike">
                          <a:solidFill>
                            <a:srgbClr val="595652"/>
                          </a:solidFill>
                          <a:latin typeface="Calibri"/>
                          <a:ea typeface="Calibri"/>
                          <a:cs typeface="Calibri"/>
                          <a:sym typeface="Calibri"/>
                        </a:rPr>
                        <a:t>115</a:t>
                      </a:r>
                      <a:endParaRPr sz="1400" u="none" cap="none" strike="noStrike">
                        <a:latin typeface="Calibri"/>
                        <a:ea typeface="Calibri"/>
                        <a:cs typeface="Calibri"/>
                        <a:sym typeface="Calibri"/>
                      </a:endParaRPr>
                    </a:p>
                  </a:txBody>
                  <a:tcPr marT="45725" marB="45725" marR="91450" marL="9145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bl>
          </a:graphicData>
        </a:graphic>
      </p:graphicFrame>
      <p:sp>
        <p:nvSpPr>
          <p:cNvPr id="407" name="Google Shape;407;p38"/>
          <p:cNvSpPr/>
          <p:nvPr/>
        </p:nvSpPr>
        <p:spPr>
          <a:xfrm>
            <a:off x="914400" y="5303520"/>
            <a:ext cx="10515600" cy="1097280"/>
          </a:xfrm>
          <a:prstGeom prst="roundRect">
            <a:avLst>
              <a:gd fmla="val 833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38"/>
          <p:cNvSpPr/>
          <p:nvPr/>
        </p:nvSpPr>
        <p:spPr>
          <a:xfrm>
            <a:off x="1051560" y="5394960"/>
            <a:ext cx="1024128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En muestras dependientes se trabaja con las diferencias d = Antes - Después para cada par, y se aplica una prueba t de una muestra sobre esas diferencias.</a:t>
            </a:r>
            <a:endParaRPr sz="14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tIns="54864" bIns="36576" anchor="ctr">
            <a:spAutoFit/>
          </a:bodyPr>
          <a:lstStyle/>
          <a:p>
            <a:pPr algn="l">
              <a:spcBef>
                <a:spcPts val="0"/>
              </a:spcBef>
              <a:spcAft>
                <a:spcPts val="100"/>
              </a:spcAft>
            </a:pPr>
            <a:r>
              <a:rPr sz="2200" b="1">
                <a:solidFill>
                  <a:srgbClr val="A6B727"/>
                </a:solidFill>
                <a:latin typeface="Calibri"/>
              </a:rPr>
              <a:t>EJEMPLO EN R: DOS MUESTRAS (WELCH) — CÓDIGO Y RESULTADO</a:t>
            </a:r>
          </a:p>
        </p:txBody>
      </p:sp>
      <p:sp>
        <p:nvSpPr>
          <p:cNvPr id="4" name="Rectangle 3"/>
          <p:cNvSpPr/>
          <p:nvPr/>
        </p:nvSpPr>
        <p:spPr>
          <a:xfrm>
            <a:off x="822960" y="1371600"/>
            <a:ext cx="6126480" cy="3977639"/>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00" b="0">
                <a:solidFill>
                  <a:srgbClr val="333333"/>
                </a:solidFill>
                <a:latin typeface="Consolas"/>
              </a:rPr>
              <a:t>A &lt;- c(14.2, 13.5, 15.1, 14.7, 13.9, 14.0,</a:t>
            </a:r>
          </a:p>
          <a:p>
            <a:pPr algn="l">
              <a:spcBef>
                <a:spcPts val="0"/>
              </a:spcBef>
              <a:spcAft>
                <a:spcPts val="100"/>
              </a:spcAft>
            </a:pPr>
            <a:r>
              <a:rPr sz="1100" b="0">
                <a:solidFill>
                  <a:srgbClr val="333333"/>
                </a:solidFill>
                <a:latin typeface="Consolas"/>
              </a:rPr>
              <a:t>       15.4, 14.8, 13.8, 14.1, 15.0, 14.4)</a:t>
            </a:r>
          </a:p>
          <a:p>
            <a:pPr algn="l">
              <a:spcBef>
                <a:spcPts val="0"/>
              </a:spcBef>
              <a:spcAft>
                <a:spcPts val="100"/>
              </a:spcAft>
            </a:pPr>
            <a:r>
              <a:rPr sz="1100" b="0">
                <a:solidFill>
                  <a:srgbClr val="333333"/>
                </a:solidFill>
                <a:latin typeface="Consolas"/>
              </a:rPr>
              <a:t>B &lt;- c(16.0, 15.7, 17.3, 16.5, 15.9,</a:t>
            </a:r>
          </a:p>
          <a:p>
            <a:pPr algn="l">
              <a:spcBef>
                <a:spcPts val="0"/>
              </a:spcBef>
              <a:spcAft>
                <a:spcPts val="100"/>
              </a:spcAft>
            </a:pPr>
            <a:r>
              <a:rPr sz="1100" b="0">
                <a:solidFill>
                  <a:srgbClr val="333333"/>
                </a:solidFill>
                <a:latin typeface="Consolas"/>
              </a:rPr>
              <a:t>       17.1, 16.8, 16.2, 17.4, 15.8)</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Prueba de Welch (varianzas desiguales)</a:t>
            </a:r>
          </a:p>
          <a:p>
            <a:pPr algn="l">
              <a:spcBef>
                <a:spcPts val="0"/>
              </a:spcBef>
              <a:spcAft>
                <a:spcPts val="100"/>
              </a:spcAft>
            </a:pPr>
            <a:r>
              <a:rPr sz="1100" b="0">
                <a:solidFill>
                  <a:srgbClr val="333333"/>
                </a:solidFill>
                <a:latin typeface="Consolas"/>
              </a:rPr>
              <a:t>res &lt;- t.test(A, B, alternative = "less",</a:t>
            </a:r>
          </a:p>
          <a:p>
            <a:pPr algn="l">
              <a:spcBef>
                <a:spcPts val="0"/>
              </a:spcBef>
              <a:spcAft>
                <a:spcPts val="100"/>
              </a:spcAft>
            </a:pPr>
            <a:r>
              <a:rPr sz="1100" b="0">
                <a:solidFill>
                  <a:srgbClr val="333333"/>
                </a:solidFill>
                <a:latin typeface="Consolas"/>
              </a:rPr>
              <a:t>              var.equal = FALSE)</a:t>
            </a:r>
          </a:p>
          <a:p>
            <a:pPr algn="l">
              <a:spcBef>
                <a:spcPts val="0"/>
              </a:spcBef>
              <a:spcAft>
                <a:spcPts val="100"/>
              </a:spcAft>
            </a:pPr>
            <a:r>
              <a:rPr sz="1100" b="0">
                <a:solidFill>
                  <a:srgbClr val="333333"/>
                </a:solidFill>
                <a:latin typeface="Consolas"/>
              </a:rPr>
              <a:t>res</a:t>
            </a:r>
          </a:p>
        </p:txBody>
      </p:sp>
      <p:sp>
        <p:nvSpPr>
          <p:cNvPr id="5" name="TextBox 4"/>
          <p:cNvSpPr txBox="1"/>
          <p:nvPr/>
        </p:nvSpPr>
        <p:spPr>
          <a:xfrm>
            <a:off x="822960" y="5486400"/>
            <a:ext cx="6126480" cy="777240"/>
          </a:xfrm>
          <a:prstGeom prst="rect">
            <a:avLst/>
          </a:prstGeom>
          <a:noFill/>
        </p:spPr>
        <p:txBody>
          <a:bodyPr wrap="square" lIns="73152" rIns="73152" tIns="54864" bIns="36576">
            <a:spAutoFit/>
          </a:bodyPr>
          <a:lstStyle/>
          <a:p>
            <a:pPr algn="l">
              <a:spcBef>
                <a:spcPts val="0"/>
              </a:spcBef>
              <a:spcAft>
                <a:spcPts val="100"/>
              </a:spcAft>
            </a:pPr>
            <a:r>
              <a:rPr sz="1200" b="1">
                <a:solidFill>
                  <a:srgbClr val="262626"/>
                </a:solidFill>
                <a:latin typeface="Calibri"/>
              </a:rPr>
              <a:t>Conclusión: </a:t>
            </a:r>
            <a:r>
              <a:rPr sz="1200" b="1">
                <a:solidFill>
                  <a:srgbClr val="262626"/>
                </a:solidFill>
                <a:latin typeface="Calibri"/>
              </a:rPr>
              <a:t>p &lt; 0.0001</a:t>
            </a:r>
            <a:r>
              <a:rPr sz="1200" b="0">
                <a:solidFill>
                  <a:srgbClr val="262626"/>
                </a:solidFill>
                <a:latin typeface="Calibri"/>
              </a:rPr>
              <a:t> → se rechaza H₀: μ_A &lt; μ_B (el grupo B es mayor).</a:t>
            </a:r>
          </a:p>
        </p:txBody>
      </p:sp>
      <p:sp>
        <p:nvSpPr>
          <p:cNvPr id="6" name="Rectangle 5"/>
          <p:cNvSpPr/>
          <p:nvPr/>
        </p:nvSpPr>
        <p:spPr>
          <a:xfrm>
            <a:off x="7086600" y="1371600"/>
            <a:ext cx="4160520" cy="2148840"/>
          </a:xfrm>
          <a:prstGeom prst="rect">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50" b="1">
                <a:solidFill>
                  <a:srgbClr val="A6B727"/>
                </a:solidFill>
                <a:latin typeface="Calibri"/>
              </a:rPr>
              <a:t>Salida en R</a:t>
            </a:r>
          </a:p>
          <a:p>
            <a:pPr algn="l">
              <a:spcBef>
                <a:spcPts val="300"/>
              </a:spcBef>
              <a:spcAft>
                <a:spcPts val="100"/>
              </a:spcAft>
            </a:pPr>
            <a:r>
              <a:rPr sz="1150" b="0">
                <a:solidFill>
                  <a:srgbClr val="EAEAEA"/>
                </a:solidFill>
                <a:latin typeface="Consolas"/>
              </a:rPr>
              <a:t>t = -7.781,  df = 18.55</a:t>
            </a:r>
          </a:p>
          <a:p>
            <a:pPr algn="l">
              <a:spcBef>
                <a:spcPts val="300"/>
              </a:spcBef>
              <a:spcAft>
                <a:spcPts val="100"/>
              </a:spcAft>
            </a:pPr>
            <a:r>
              <a:rPr sz="1150" b="0">
                <a:solidFill>
                  <a:srgbClr val="EAEAEA"/>
                </a:solidFill>
                <a:latin typeface="Consolas"/>
              </a:rPr>
              <a:t>p-value &lt; 0.0001</a:t>
            </a:r>
          </a:p>
          <a:p>
            <a:pPr algn="l">
              <a:spcBef>
                <a:spcPts val="300"/>
              </a:spcBef>
              <a:spcAft>
                <a:spcPts val="100"/>
              </a:spcAft>
            </a:pPr>
            <a:r>
              <a:rPr sz="1150" b="0">
                <a:solidFill>
                  <a:srgbClr val="EAEAEA"/>
                </a:solidFill>
                <a:latin typeface="Consolas"/>
              </a:rPr>
              <a:t>mean A = 14.408</a:t>
            </a:r>
          </a:p>
          <a:p>
            <a:pPr algn="l">
              <a:spcBef>
                <a:spcPts val="300"/>
              </a:spcBef>
              <a:spcAft>
                <a:spcPts val="100"/>
              </a:spcAft>
            </a:pPr>
            <a:r>
              <a:rPr sz="1150" b="0">
                <a:solidFill>
                  <a:srgbClr val="EAEAEA"/>
                </a:solidFill>
                <a:latin typeface="Consolas"/>
              </a:rPr>
              <a:t>mean B = 16.470</a:t>
            </a:r>
          </a:p>
        </p:txBody>
      </p:sp>
      <p:sp>
        <p:nvSpPr>
          <p:cNvPr id="7" name="Rectangle 6"/>
          <p:cNvSpPr/>
          <p:nvPr/>
        </p:nvSpPr>
        <p:spPr>
          <a:xfrm>
            <a:off x="7086600" y="3703320"/>
            <a:ext cx="4160520" cy="256032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200" b="1">
                <a:solidFill>
                  <a:srgbClr val="A6B727"/>
                </a:solidFill>
                <a:latin typeface="Calibri"/>
              </a:rPr>
              <a:t>Interpretación</a:t>
            </a:r>
          </a:p>
          <a:p>
            <a:pPr algn="l">
              <a:spcBef>
                <a:spcPts val="300"/>
              </a:spcBef>
              <a:spcAft>
                <a:spcPts val="100"/>
              </a:spcAft>
            </a:pPr>
            <a:r>
              <a:rPr sz="1000" b="0">
                <a:solidFill>
                  <a:srgbClr val="595652"/>
                </a:solidFill>
                <a:latin typeface="Calibri"/>
              </a:rPr>
              <a:t>1. Si p-value &lt; α → Rechazar H₀ → Hay evidencia de diferencia.</a:t>
            </a:r>
          </a:p>
          <a:p>
            <a:pPr algn="l">
              <a:spcBef>
                <a:spcPts val="300"/>
              </a:spcBef>
              <a:spcAft>
                <a:spcPts val="100"/>
              </a:spcAft>
            </a:pPr>
            <a:r>
              <a:rPr sz="1000" b="0">
                <a:solidFill>
                  <a:srgbClr val="595652"/>
                </a:solidFill>
                <a:latin typeface="Calibri"/>
              </a:rPr>
              <a:t>2. Revisar las medias muestrales para ver la magnitud de la diferencia.</a:t>
            </a:r>
          </a:p>
          <a:p>
            <a:pPr algn="l">
              <a:spcBef>
                <a:spcPts val="300"/>
              </a:spcBef>
              <a:spcAft>
                <a:spcPts val="100"/>
              </a:spcAft>
            </a:pPr>
            <a:r>
              <a:rPr sz="1000" b="0">
                <a:solidFill>
                  <a:srgbClr val="595652"/>
                </a:solidFill>
                <a:latin typeface="Calibri"/>
              </a:rPr>
              <a:t>3. El intervalo de confianza muestra el rango plausible para la diferencia de medias.</a:t>
            </a:r>
          </a:p>
          <a:p>
            <a:pPr algn="l">
              <a:spcBef>
                <a:spcPts val="300"/>
              </a:spcBef>
              <a:spcAft>
                <a:spcPts val="100"/>
              </a:spcAft>
            </a:pPr>
            <a:r>
              <a:rPr sz="1000" b="0">
                <a:solidFill>
                  <a:srgbClr val="595652"/>
                </a:solidFill>
                <a:latin typeface="Calibri"/>
              </a:rPr>
              <a:t>4. Si el intervalo NO contiene 0 (o el valor D₀ bajo H₀), esto confirma el rechazo.</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52" name="Shape 452"/>
        <p:cNvGrpSpPr/>
        <p:nvPr/>
      </p:nvGrpSpPr>
      <p:grpSpPr>
        <a:xfrm>
          <a:off x="0" y="0"/>
          <a:ext cx="0" cy="0"/>
          <a:chOff x="0" y="0"/>
          <a:chExt cx="0" cy="0"/>
        </a:xfrm>
      </p:grpSpPr>
      <p:sp>
        <p:nvSpPr>
          <p:cNvPr id="453" name="Google Shape;453;p43"/>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43"/>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RESUMEN DE FUNCIONES EN R PARA DOS MUESTRAS</a:t>
            </a:r>
            <a:endParaRPr sz="3600">
              <a:solidFill>
                <a:schemeClr val="dk1"/>
              </a:solidFill>
              <a:latin typeface="Calibri"/>
              <a:ea typeface="Calibri"/>
              <a:cs typeface="Calibri"/>
              <a:sym typeface="Calibri"/>
            </a:endParaRPr>
          </a:p>
        </p:txBody>
      </p:sp>
      <p:sp>
        <p:nvSpPr>
          <p:cNvPr id="455" name="Google Shape;455;p43"/>
          <p:cNvSpPr/>
          <p:nvPr/>
        </p:nvSpPr>
        <p:spPr>
          <a:xfrm>
            <a:off x="914400" y="1554480"/>
            <a:ext cx="10058400" cy="3657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595652"/>
              </a:buClr>
              <a:buSzPts val="1800"/>
              <a:buFont typeface="Calibri"/>
              <a:buNone/>
            </a:pPr>
            <a:r>
              <a:rPr b="1" lang="en-US" sz="1800">
                <a:solidFill>
                  <a:srgbClr val="595652"/>
                </a:solidFill>
                <a:latin typeface="Calibri"/>
                <a:ea typeface="Calibri"/>
                <a:cs typeface="Calibri"/>
                <a:sym typeface="Calibri"/>
              </a:rPr>
              <a:t>Prueba de varianzas: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var.test(A, B)  →  Prueba F para comparar varianzas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b="1" lang="en-US" sz="1800">
                <a:solidFill>
                  <a:srgbClr val="595652"/>
                </a:solidFill>
                <a:latin typeface="Calibri"/>
                <a:ea typeface="Calibri"/>
                <a:cs typeface="Calibri"/>
                <a:sym typeface="Calibri"/>
              </a:rPr>
              <a:t>Prueba de medias (muestras independientes):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t.test(A, B, var.equal = FALSE)  →  Welch (varianzas diferentes)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t.test(A, B, var.equal = TRUE)   →  Pooled (varianzas iguales)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595652"/>
              </a:buClr>
              <a:buSzPts val="1800"/>
              <a:buFont typeface="Calibri"/>
              <a:buNone/>
            </a:pPr>
            <a:r>
              <a:rPr b="1" lang="en-US" sz="1800">
                <a:solidFill>
                  <a:srgbClr val="595652"/>
                </a:solidFill>
                <a:latin typeface="Calibri"/>
                <a:ea typeface="Calibri"/>
                <a:cs typeface="Calibri"/>
                <a:sym typeface="Calibri"/>
              </a:rPr>
              <a:t>Prueba de medias (muestras dependientes):</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6B727"/>
              </a:buClr>
              <a:buSzPts val="1600"/>
              <a:buFont typeface="Consolas"/>
              <a:buNone/>
            </a:pPr>
            <a:r>
              <a:rPr lang="en-US" sz="1600">
                <a:solidFill>
                  <a:srgbClr val="A6B727"/>
                </a:solidFill>
                <a:latin typeface="Consolas"/>
                <a:ea typeface="Consolas"/>
                <a:cs typeface="Consolas"/>
                <a:sym typeface="Consolas"/>
              </a:rPr>
              <a:t>t.test(A, B, paired = TRUE)      →  Datos pareados</a:t>
            </a:r>
            <a:endParaRPr sz="1800">
              <a:solidFill>
                <a:schemeClr val="dk1"/>
              </a:solidFill>
              <a:latin typeface="Calibri"/>
              <a:ea typeface="Calibri"/>
              <a:cs typeface="Calibri"/>
              <a:sym typeface="Calibri"/>
            </a:endParaRPr>
          </a:p>
        </p:txBody>
      </p:sp>
      <p:sp>
        <p:nvSpPr>
          <p:cNvPr id="456" name="Google Shape;456;p43"/>
          <p:cNvSpPr/>
          <p:nvPr/>
        </p:nvSpPr>
        <p:spPr>
          <a:xfrm>
            <a:off x="914400" y="4657725"/>
            <a:ext cx="10515600" cy="1645920"/>
          </a:xfrm>
          <a:prstGeom prst="roundRect">
            <a:avLst>
              <a:gd fmla="val 5556"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43"/>
          <p:cNvSpPr/>
          <p:nvPr/>
        </p:nvSpPr>
        <p:spPr>
          <a:xfrm>
            <a:off x="1051560" y="4749165"/>
            <a:ext cx="1024128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¿Cómo elegir la prueba correcta?</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1. ¿Las muestras son dependientes (pareadas)? → paired = TRUE</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2. Si son independientes, ¿</a:t>
            </a:r>
            <a:r>
              <a:rPr lang="en-US">
                <a:solidFill>
                  <a:srgbClr val="595652"/>
                </a:solidFill>
                <a:latin typeface="Calibri"/>
                <a:ea typeface="Calibri"/>
                <a:cs typeface="Calibri"/>
                <a:sym typeface="Calibri"/>
              </a:rPr>
              <a:t>V</a:t>
            </a:r>
            <a:r>
              <a:rPr lang="en-US" sz="1400">
                <a:solidFill>
                  <a:srgbClr val="595652"/>
                </a:solidFill>
                <a:latin typeface="Calibri"/>
                <a:ea typeface="Calibri"/>
                <a:cs typeface="Calibri"/>
                <a:sym typeface="Calibri"/>
              </a:rPr>
              <a:t>arianzas iguales o diferentes?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a:t>
            </a:r>
            <a:r>
              <a:rPr lang="en-US">
                <a:solidFill>
                  <a:srgbClr val="595652"/>
                </a:solidFill>
                <a:latin typeface="Calibri"/>
                <a:ea typeface="Calibri"/>
                <a:cs typeface="Calibri"/>
                <a:sym typeface="Calibri"/>
              </a:rPr>
              <a:t>Actualmente se recomienda usar el test de varianzas diferentes a no ser que uno tenga certeza (o fuerte evidencia) de que son iguales (Zimmerman, 2004)</a:t>
            </a:r>
            <a:endParaRPr sz="14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62" name="Shape 462"/>
        <p:cNvGrpSpPr/>
        <p:nvPr/>
      </p:nvGrpSpPr>
      <p:grpSpPr>
        <a:xfrm>
          <a:off x="0" y="0"/>
          <a:ext cx="0" cy="0"/>
          <a:chOff x="0" y="0"/>
          <a:chExt cx="0" cy="0"/>
        </a:xfrm>
      </p:grpSpPr>
      <p:sp>
        <p:nvSpPr>
          <p:cNvPr id="463" name="Google Shape;463;p44"/>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44"/>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EJEMPLO: DIFERENCIAS PAREADAS EN R</a:t>
            </a:r>
            <a:endParaRPr sz="3600">
              <a:solidFill>
                <a:schemeClr val="dk1"/>
              </a:solidFill>
              <a:latin typeface="Calibri"/>
              <a:ea typeface="Calibri"/>
              <a:cs typeface="Calibri"/>
              <a:sym typeface="Calibri"/>
            </a:endParaRPr>
          </a:p>
        </p:txBody>
      </p:sp>
      <p:sp>
        <p:nvSpPr>
          <p:cNvPr id="465" name="Google Shape;465;p44"/>
          <p:cNvSpPr/>
          <p:nvPr/>
        </p:nvSpPr>
        <p:spPr>
          <a:xfrm>
            <a:off x="914400" y="1554480"/>
            <a:ext cx="6400800" cy="36576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Datos del ejemplo del colesterol</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antes   &lt;- c(135, 140, 152, 150, 140, 157, 153, 154, 141, 130, 136)</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despues &lt;- c(110, 125, 132, 143, 120, 124, 137, 130, 128, 115, 115)</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Prueba t para datos pareados</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t.test(antes, despues, paired = TRUE,</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alternative = "two.sided",</a:t>
            </a:r>
            <a:endParaRPr sz="13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A6B727"/>
              </a:buClr>
              <a:buSzPts val="1300"/>
              <a:buFont typeface="Consolas"/>
              <a:buNone/>
            </a:pPr>
            <a:r>
              <a:rPr lang="en-US" sz="1300">
                <a:solidFill>
                  <a:srgbClr val="A6B727"/>
                </a:solidFill>
                <a:latin typeface="Consolas"/>
                <a:ea typeface="Consolas"/>
                <a:cs typeface="Consolas"/>
                <a:sym typeface="Consolas"/>
              </a:rPr>
              <a:t>       conf.level = 0.95)</a:t>
            </a:r>
            <a:endParaRPr sz="1300">
              <a:solidFill>
                <a:schemeClr val="dk1"/>
              </a:solidFill>
              <a:latin typeface="Calibri"/>
              <a:ea typeface="Calibri"/>
              <a:cs typeface="Calibri"/>
              <a:sym typeface="Calibri"/>
            </a:endParaRPr>
          </a:p>
        </p:txBody>
      </p:sp>
      <p:sp>
        <p:nvSpPr>
          <p:cNvPr id="466" name="Google Shape;466;p44"/>
          <p:cNvSpPr/>
          <p:nvPr/>
        </p:nvSpPr>
        <p:spPr>
          <a:xfrm>
            <a:off x="8229600" y="1554480"/>
            <a:ext cx="3474720" cy="4846320"/>
          </a:xfrm>
          <a:prstGeom prst="roundRect">
            <a:avLst>
              <a:gd fmla="val 2632"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44"/>
          <p:cNvSpPr/>
          <p:nvPr/>
        </p:nvSpPr>
        <p:spPr>
          <a:xfrm>
            <a:off x="8366760" y="1645920"/>
            <a:ext cx="3200400" cy="46634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¿Qué hace paired = TRUE?</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Internamente, R calcula las diferencias d = antes - despues para cada par, y luego prueba si la media de esas diferencias es distinta de cero.</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Es equivalente a hacer:</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t.test(antes - despues, mu = 0)</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el p-value &lt; α → el tratamiento tiene efecto significativo.</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Nota: el orden importa. Si d̄ &gt; 0 y H₁ es bilateral, se concluye que "antes" es mayor que "después".</a:t>
            </a:r>
            <a:endParaRPr sz="16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72" name="Shape 472"/>
        <p:cNvGrpSpPr/>
        <p:nvPr/>
      </p:nvGrpSpPr>
      <p:grpSpPr>
        <a:xfrm>
          <a:off x="0" y="0"/>
          <a:ext cx="0" cy="0"/>
          <a:chOff x="0" y="0"/>
          <a:chExt cx="0" cy="0"/>
        </a:xfrm>
      </p:grpSpPr>
      <p:sp>
        <p:nvSpPr>
          <p:cNvPr id="473" name="Google Shape;473;p45"/>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45"/>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EVALUACIÓN DE ERRORES</a:t>
            </a:r>
            <a:endParaRPr sz="3600">
              <a:solidFill>
                <a:schemeClr val="dk1"/>
              </a:solidFill>
              <a:latin typeface="Calibri"/>
              <a:ea typeface="Calibri"/>
              <a:cs typeface="Calibri"/>
              <a:sym typeface="Calibri"/>
            </a:endParaRPr>
          </a:p>
        </p:txBody>
      </p:sp>
      <p:pic>
        <p:nvPicPr>
          <p:cNvPr descr="/sessions/clever-sweet-sagan/clase2_images/slide53_img00.png" id="475" name="Google Shape;475;p45"/>
          <p:cNvPicPr preferRelativeResize="0"/>
          <p:nvPr/>
        </p:nvPicPr>
        <p:blipFill rotWithShape="1">
          <a:blip r:embed="rId3">
            <a:alphaModFix/>
          </a:blip>
          <a:srcRect b="0" l="0" r="0" t="0"/>
          <a:stretch/>
        </p:blipFill>
        <p:spPr>
          <a:xfrm>
            <a:off x="914400" y="1645920"/>
            <a:ext cx="9601200" cy="2743200"/>
          </a:xfrm>
          <a:prstGeom prst="rect">
            <a:avLst/>
          </a:prstGeom>
          <a:noFill/>
          <a:ln>
            <a:noFill/>
          </a:ln>
        </p:spPr>
      </p:pic>
      <p:sp>
        <p:nvSpPr>
          <p:cNvPr id="476" name="Google Shape;476;p45"/>
          <p:cNvSpPr/>
          <p:nvPr/>
        </p:nvSpPr>
        <p:spPr>
          <a:xfrm>
            <a:off x="914400" y="4572000"/>
            <a:ext cx="10515600" cy="2011680"/>
          </a:xfrm>
          <a:prstGeom prst="roundRect">
            <a:avLst>
              <a:gd fmla="val 4545"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45"/>
          <p:cNvSpPr/>
          <p:nvPr/>
        </p:nvSpPr>
        <p:spPr>
          <a:xfrm>
            <a:off x="1051560" y="4663440"/>
            <a:ext cx="10241280" cy="182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Error Tipo I (α): Rechazar H₀ cuando es verdadera ("falsa alarma"). Probabilidad = α.</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Error Tipo II (β): No rechazar H₀ cuando es falsa ("no detectar" un efecto real). Probabilidad = β.</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Potencia = 1 - β: capacidad de detectar un efecto real. A mayor potencia, mejor la prueba.</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Relación: si disminuimos α, aumenta β. El equilibrio depende del contexto.</a:t>
            </a:r>
            <a:endParaRPr sz="14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82" name="Shape 482"/>
        <p:cNvGrpSpPr/>
        <p:nvPr/>
      </p:nvGrpSpPr>
      <p:grpSpPr>
        <a:xfrm>
          <a:off x="0" y="0"/>
          <a:ext cx="0" cy="0"/>
          <a:chOff x="0" y="0"/>
          <a:chExt cx="0" cy="0"/>
        </a:xfrm>
      </p:grpSpPr>
      <p:sp>
        <p:nvSpPr>
          <p:cNvPr id="483" name="Google Shape;483;p46"/>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46"/>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EVALUACIÓN DE ERRORES: CONCEPTOS</a:t>
            </a:r>
            <a:endParaRPr sz="3600">
              <a:solidFill>
                <a:schemeClr val="dk1"/>
              </a:solidFill>
              <a:latin typeface="Calibri"/>
              <a:ea typeface="Calibri"/>
              <a:cs typeface="Calibri"/>
              <a:sym typeface="Calibri"/>
            </a:endParaRPr>
          </a:p>
        </p:txBody>
      </p:sp>
      <p:pic>
        <p:nvPicPr>
          <p:cNvPr descr="/sessions/clever-sweet-sagan/clase2_images/slide54_img00.png" id="485" name="Google Shape;485;p46"/>
          <p:cNvPicPr preferRelativeResize="0"/>
          <p:nvPr/>
        </p:nvPicPr>
        <p:blipFill rotWithShape="1">
          <a:blip r:embed="rId3">
            <a:alphaModFix/>
          </a:blip>
          <a:srcRect b="0" l="0" r="0" t="0"/>
          <a:stretch/>
        </p:blipFill>
        <p:spPr>
          <a:xfrm>
            <a:off x="914400" y="1554480"/>
            <a:ext cx="9601200" cy="4114800"/>
          </a:xfrm>
          <a:prstGeom prst="rect">
            <a:avLst/>
          </a:prstGeom>
          <a:noFill/>
          <a:ln>
            <a:noFill/>
          </a:ln>
        </p:spPr>
      </p:pic>
      <p:sp>
        <p:nvSpPr>
          <p:cNvPr id="486" name="Google Shape;486;p46"/>
          <p:cNvSpPr/>
          <p:nvPr/>
        </p:nvSpPr>
        <p:spPr>
          <a:xfrm>
            <a:off x="914400" y="5486400"/>
            <a:ext cx="10515600" cy="1097280"/>
          </a:xfrm>
          <a:prstGeom prst="roundRect">
            <a:avLst>
              <a:gd fmla="val 833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46"/>
          <p:cNvSpPr/>
          <p:nvPr/>
        </p:nvSpPr>
        <p:spPr>
          <a:xfrm>
            <a:off x="1051560" y="5577840"/>
            <a:ext cx="1024128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En el gráfico se observa cómo se relacionan α, β y la potencia. El área sombreada bajo la distribución de H₀ representa α (error tipo I), y el área bajo la distribución de H₁ que queda a la izquierda del valor crítico representa β (error tipo II).</a:t>
            </a:r>
            <a:endParaRPr sz="14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492" name="Shape 492"/>
        <p:cNvGrpSpPr/>
        <p:nvPr/>
      </p:nvGrpSpPr>
      <p:grpSpPr>
        <a:xfrm>
          <a:off x="0" y="0"/>
          <a:ext cx="0" cy="0"/>
          <a:chOff x="0" y="0"/>
          <a:chExt cx="0" cy="0"/>
        </a:xfrm>
      </p:grpSpPr>
      <p:sp>
        <p:nvSpPr>
          <p:cNvPr id="493" name="Google Shape;493;p47"/>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47"/>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EVALUACIÓN DE ERRORES: CÁLCULOS</a:t>
            </a:r>
            <a:endParaRPr sz="3600">
              <a:solidFill>
                <a:schemeClr val="dk1"/>
              </a:solidFill>
              <a:latin typeface="Calibri"/>
              <a:ea typeface="Calibri"/>
              <a:cs typeface="Calibri"/>
              <a:sym typeface="Calibri"/>
            </a:endParaRPr>
          </a:p>
        </p:txBody>
      </p:sp>
      <p:pic>
        <p:nvPicPr>
          <p:cNvPr descr="/sessions/clever-sweet-sagan/clase2_images/slide55_img00.png" id="495" name="Google Shape;495;p47"/>
          <p:cNvPicPr preferRelativeResize="0"/>
          <p:nvPr/>
        </p:nvPicPr>
        <p:blipFill rotWithShape="1">
          <a:blip r:embed="rId3">
            <a:alphaModFix/>
          </a:blip>
          <a:srcRect b="0" l="0" r="0" t="0"/>
          <a:stretch/>
        </p:blipFill>
        <p:spPr>
          <a:xfrm>
            <a:off x="1371600" y="1645920"/>
            <a:ext cx="8686800" cy="3200400"/>
          </a:xfrm>
          <a:prstGeom prst="rect">
            <a:avLst/>
          </a:prstGeom>
          <a:noFill/>
          <a:ln>
            <a:noFill/>
          </a:ln>
        </p:spPr>
      </p:pic>
      <p:sp>
        <p:nvSpPr>
          <p:cNvPr id="496" name="Google Shape;496;p47"/>
          <p:cNvSpPr/>
          <p:nvPr/>
        </p:nvSpPr>
        <p:spPr>
          <a:xfrm>
            <a:off x="1371600" y="5029200"/>
            <a:ext cx="8686800" cy="1554480"/>
          </a:xfrm>
          <a:prstGeom prst="roundRect">
            <a:avLst>
              <a:gd fmla="val 5882"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47"/>
          <p:cNvSpPr/>
          <p:nvPr/>
        </p:nvSpPr>
        <p:spPr>
          <a:xfrm>
            <a:off x="1508760" y="5120640"/>
            <a:ext cx="8412480" cy="1371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Para calcular β, necesitamos conocer el valor real del parámetro bajo H₁. β depende de: el tamaño de muestra (n), el nivel de significancia (α), la diferencia real entre el valor verdadero y el valor bajo H₀, y la variabilidad de los datos (σ).</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A mayor n → menor β → mayor potencia.</a:t>
            </a:r>
            <a:endParaRPr sz="14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502" name="Shape 502"/>
        <p:cNvGrpSpPr/>
        <p:nvPr/>
      </p:nvGrpSpPr>
      <p:grpSpPr>
        <a:xfrm>
          <a:off x="0" y="0"/>
          <a:ext cx="0" cy="0"/>
          <a:chOff x="0" y="0"/>
          <a:chExt cx="0" cy="0"/>
        </a:xfrm>
      </p:grpSpPr>
      <p:sp>
        <p:nvSpPr>
          <p:cNvPr id="503" name="Google Shape;503;p48"/>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48"/>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EVALUACIÓN DE ERRORES: EJEMPLO</a:t>
            </a:r>
            <a:endParaRPr sz="3600">
              <a:solidFill>
                <a:schemeClr val="dk1"/>
              </a:solidFill>
              <a:latin typeface="Calibri"/>
              <a:ea typeface="Calibri"/>
              <a:cs typeface="Calibri"/>
              <a:sym typeface="Calibri"/>
            </a:endParaRPr>
          </a:p>
        </p:txBody>
      </p:sp>
      <p:pic>
        <p:nvPicPr>
          <p:cNvPr descr="/sessions/clever-sweet-sagan/clase2_images/slide56_img00.png" id="505" name="Google Shape;505;p48"/>
          <p:cNvPicPr preferRelativeResize="0"/>
          <p:nvPr/>
        </p:nvPicPr>
        <p:blipFill rotWithShape="1">
          <a:blip r:embed="rId3">
            <a:alphaModFix/>
          </a:blip>
          <a:srcRect b="0" l="0" r="0" t="0"/>
          <a:stretch/>
        </p:blipFill>
        <p:spPr>
          <a:xfrm>
            <a:off x="1371600" y="1645920"/>
            <a:ext cx="8686800" cy="3200400"/>
          </a:xfrm>
          <a:prstGeom prst="rect">
            <a:avLst/>
          </a:prstGeom>
          <a:noFill/>
          <a:ln>
            <a:noFill/>
          </a:ln>
        </p:spPr>
      </p:pic>
      <p:sp>
        <p:nvSpPr>
          <p:cNvPr id="506" name="Google Shape;506;p48"/>
          <p:cNvSpPr/>
          <p:nvPr/>
        </p:nvSpPr>
        <p:spPr>
          <a:xfrm>
            <a:off x="1371600" y="5029200"/>
            <a:ext cx="8686800" cy="1371600"/>
          </a:xfrm>
          <a:prstGeom prst="roundRect">
            <a:avLst>
              <a:gd fmla="val 6667"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48"/>
          <p:cNvSpPr/>
          <p:nvPr/>
        </p:nvSpPr>
        <p:spPr>
          <a:xfrm>
            <a:off x="1508760" y="5120640"/>
            <a:ext cx="841248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Este ejemplo muestra cómo calcular la probabilidad de error Tipo II (β) para un valor específico del parámetro bajo la hipótesis alternativa. La potencia (1 - β) nos dice qué tan probable es que la prueba detecte correctamente esa diferencia.</a:t>
            </a:r>
            <a:endParaRPr sz="14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727"/>
        </a:solidFill>
      </p:bgPr>
    </p:bg>
    <p:spTree>
      <p:nvGrpSpPr>
        <p:cNvPr id="512" name="Shape 512"/>
        <p:cNvGrpSpPr/>
        <p:nvPr/>
      </p:nvGrpSpPr>
      <p:grpSpPr>
        <a:xfrm>
          <a:off x="0" y="0"/>
          <a:ext cx="0" cy="0"/>
          <a:chOff x="0" y="0"/>
          <a:chExt cx="0" cy="0"/>
        </a:xfrm>
      </p:grpSpPr>
      <p:sp>
        <p:nvSpPr>
          <p:cNvPr id="513" name="Google Shape;513;p49"/>
          <p:cNvSpPr/>
          <p:nvPr/>
        </p:nvSpPr>
        <p:spPr>
          <a:xfrm>
            <a:off x="228600" y="228600"/>
            <a:ext cx="11731752" cy="6400800"/>
          </a:xfrm>
          <a:prstGeom prst="rect">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49"/>
          <p:cNvSpPr/>
          <p:nvPr/>
        </p:nvSpPr>
        <p:spPr>
          <a:xfrm>
            <a:off x="914400" y="411480"/>
            <a:ext cx="1033272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B727"/>
              </a:buClr>
              <a:buSzPts val="3600"/>
              <a:buFont typeface="Calibri"/>
              <a:buNone/>
            </a:pPr>
            <a:r>
              <a:rPr lang="en-US" sz="3600">
                <a:solidFill>
                  <a:srgbClr val="A6B727"/>
                </a:solidFill>
                <a:latin typeface="Calibri"/>
                <a:ea typeface="Calibri"/>
                <a:cs typeface="Calibri"/>
                <a:sym typeface="Calibri"/>
              </a:rPr>
              <a:t>RECORDATORIO IMPORTANTE</a:t>
            </a:r>
            <a:endParaRPr sz="3600">
              <a:solidFill>
                <a:schemeClr val="dk1"/>
              </a:solidFill>
              <a:latin typeface="Calibri"/>
              <a:ea typeface="Calibri"/>
              <a:cs typeface="Calibri"/>
              <a:sym typeface="Calibri"/>
            </a:endParaRPr>
          </a:p>
        </p:txBody>
      </p:sp>
      <p:sp>
        <p:nvSpPr>
          <p:cNvPr id="515" name="Google Shape;515;p49"/>
          <p:cNvSpPr/>
          <p:nvPr/>
        </p:nvSpPr>
        <p:spPr>
          <a:xfrm>
            <a:off x="914400" y="1554480"/>
            <a:ext cx="10058400" cy="2743200"/>
          </a:xfrm>
          <a:prstGeom prst="roundRect">
            <a:avLst>
              <a:gd fmla="val 3333"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49"/>
          <p:cNvSpPr/>
          <p:nvPr/>
        </p:nvSpPr>
        <p:spPr>
          <a:xfrm>
            <a:off x="1051560" y="1645920"/>
            <a:ext cx="9784080" cy="2560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Verificación para pruebas de proporciones</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Antes de aplicar la prueba Z para proporciones, siempre verificar:</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np₀ ≥ 5  (número esperado de éxitos)</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 n(1-p₀) ≥ 5  (número esperado de fracasos)</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600"/>
              <a:buFont typeface="Calibri"/>
              <a:buNone/>
            </a:pPr>
            <a:r>
              <a:rPr lang="en-US" sz="1600">
                <a:solidFill>
                  <a:srgbClr val="595652"/>
                </a:solidFill>
                <a:latin typeface="Calibri"/>
                <a:ea typeface="Calibri"/>
                <a:cs typeface="Calibri"/>
                <a:sym typeface="Calibri"/>
              </a:rPr>
              <a:t>Si no se cumple, la aproximación normal no es válida y se debe usar un método exacto (como la prueba binomial exacta).</a:t>
            </a:r>
            <a:endParaRPr sz="1600">
              <a:solidFill>
                <a:schemeClr val="dk1"/>
              </a:solidFill>
              <a:latin typeface="Calibri"/>
              <a:ea typeface="Calibri"/>
              <a:cs typeface="Calibri"/>
              <a:sym typeface="Calibri"/>
            </a:endParaRPr>
          </a:p>
        </p:txBody>
      </p:sp>
      <p:sp>
        <p:nvSpPr>
          <p:cNvPr id="517" name="Google Shape;517;p49"/>
          <p:cNvSpPr/>
          <p:nvPr/>
        </p:nvSpPr>
        <p:spPr>
          <a:xfrm>
            <a:off x="914400" y="4480560"/>
            <a:ext cx="10058400" cy="1965960"/>
          </a:xfrm>
          <a:prstGeom prst="roundRect">
            <a:avLst>
              <a:gd fmla="val 4000" name="adj"/>
            </a:avLst>
          </a:prstGeom>
          <a:solidFill>
            <a:srgbClr val="F4F7E9"/>
          </a:solidFill>
          <a:ln cap="flat" cmpd="sng" w="12700">
            <a:solidFill>
              <a:srgbClr val="C8D5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49"/>
          <p:cNvSpPr/>
          <p:nvPr/>
        </p:nvSpPr>
        <p:spPr>
          <a:xfrm>
            <a:off x="1051560" y="4572000"/>
            <a:ext cx="9784080" cy="2103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Resumen general del capítulo</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Una prueba de hipótesis evalúa evidencia en los datos para tomar decisiones sobre parámetros poblacionales.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Siempre se plantean H₀ y H₁, y la decisión se basa en el p-valor comparado con α.</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La elección de la prueba depende de: qué parámetro se evalúa (μ, p, σ²), si σ es conocida, si se comparan 1 o 2 poblaciones, y si las muestras son independientes o pareadas.</a:t>
            </a:r>
            <a:endParaRPr sz="1400">
              <a:solidFill>
                <a:schemeClr val="dk1"/>
              </a:solidFill>
              <a:latin typeface="Calibri"/>
              <a:ea typeface="Calibri"/>
              <a:cs typeface="Calibri"/>
              <a:sym typeface="Calibri"/>
            </a:endParaRPr>
          </a:p>
          <a:p>
            <a:pPr indent="0" lvl="0" marL="0" marR="0" rtl="0" algn="l">
              <a:spcBef>
                <a:spcPts val="0"/>
              </a:spcBef>
              <a:spcAft>
                <a:spcPts val="0"/>
              </a:spcAft>
              <a:buClr>
                <a:srgbClr val="595652"/>
              </a:buClr>
              <a:buSzPts val="1400"/>
              <a:buFont typeface="Calibri"/>
              <a:buNone/>
            </a:pPr>
            <a:r>
              <a:rPr lang="en-US" sz="1400">
                <a:solidFill>
                  <a:srgbClr val="595652"/>
                </a:solidFill>
                <a:latin typeface="Calibri"/>
                <a:ea typeface="Calibri"/>
                <a:cs typeface="Calibri"/>
                <a:sym typeface="Calibri"/>
              </a:rPr>
              <a:t>• El Error Tipo I (α) y Tipo II (β) son inherentes al proceso; la potencia (1-β) mide la capacidad de detectar efectos reales.</a:t>
            </a:r>
            <a:endParaRPr sz="14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TextBox 1"/>
          <p:cNvSpPr txBox="1"/>
          <p:nvPr/>
        </p:nvSpPr>
        <p:spPr>
          <a:xfrm>
            <a:off x="1005840" y="2286000"/>
            <a:ext cx="10149840" cy="1463040"/>
          </a:xfrm>
          <a:prstGeom prst="rect">
            <a:avLst/>
          </a:prstGeom>
          <a:noFill/>
        </p:spPr>
        <p:txBody>
          <a:bodyPr wrap="square" lIns="73152" rIns="73152" tIns="36576" bIns="36576" anchor="ctr">
            <a:spAutoFit/>
          </a:bodyPr>
          <a:lstStyle/>
          <a:p>
            <a:pPr algn="l">
              <a:spcBef>
                <a:spcPts val="0"/>
              </a:spcBef>
              <a:spcAft>
                <a:spcPts val="200"/>
              </a:spcAft>
            </a:pPr>
            <a:r>
              <a:rPr sz="4000" b="1">
                <a:solidFill>
                  <a:srgbClr val="FFFFFF"/>
                </a:solidFill>
                <a:latin typeface="Calibri"/>
              </a:rPr>
              <a:t>Inferencia sobre el vector de medias</a:t>
            </a:r>
          </a:p>
        </p:txBody>
      </p:sp>
      <p:sp>
        <p:nvSpPr>
          <p:cNvPr id="3" name="TextBox 2"/>
          <p:cNvSpPr txBox="1"/>
          <p:nvPr/>
        </p:nvSpPr>
        <p:spPr>
          <a:xfrm>
            <a:off x="1005840" y="3703320"/>
            <a:ext cx="10149840" cy="731520"/>
          </a:xfrm>
          <a:prstGeom prst="rect">
            <a:avLst/>
          </a:prstGeom>
          <a:noFill/>
        </p:spPr>
        <p:txBody>
          <a:bodyPr wrap="square" lIns="73152" rIns="73152" tIns="36576" bIns="36576">
            <a:spAutoFit/>
          </a:bodyPr>
          <a:lstStyle/>
          <a:p>
            <a:pPr algn="l">
              <a:spcBef>
                <a:spcPts val="0"/>
              </a:spcBef>
              <a:spcAft>
                <a:spcPts val="200"/>
              </a:spcAft>
            </a:pPr>
            <a:r>
              <a:rPr sz="1600" b="0">
                <a:solidFill>
                  <a:srgbClr val="FFFFFF"/>
                </a:solidFill>
                <a:latin typeface="Calibri"/>
              </a:rPr>
              <a:t>T² DE HOTELLING · REGIONES E INTERVALOS DE CONFIANZA SIMULTÁNEOS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68680"/>
          </a:xfrm>
          <a:prstGeom prst="rect">
            <a:avLst/>
          </a:prstGeom>
          <a:noFill/>
        </p:spPr>
        <p:txBody>
          <a:bodyPr wrap="square" lIns="73152" rIns="73152" tIns="36576" bIns="36576" anchor="ctr">
            <a:spAutoFit/>
          </a:bodyPr>
          <a:lstStyle/>
          <a:p>
            <a:pPr algn="l">
              <a:spcBef>
                <a:spcPts val="0"/>
              </a:spcBef>
              <a:spcAft>
                <a:spcPts val="200"/>
              </a:spcAft>
            </a:pPr>
            <a:r>
              <a:rPr sz="3200" b="1">
                <a:solidFill>
                  <a:srgbClr val="A6B727"/>
                </a:solidFill>
                <a:latin typeface="Calibri"/>
              </a:rPr>
              <a:t>DEL CASO UNIVARIADO AL MULTIVARIADO</a:t>
            </a:r>
          </a:p>
        </p:txBody>
      </p:sp>
      <p:sp>
        <p:nvSpPr>
          <p:cNvPr id="4" name="TextBox 3"/>
          <p:cNvSpPr txBox="1"/>
          <p:nvPr/>
        </p:nvSpPr>
        <p:spPr>
          <a:xfrm>
            <a:off x="822960" y="1463040"/>
            <a:ext cx="6126480" cy="4754880"/>
          </a:xfrm>
          <a:prstGeom prst="rect">
            <a:avLst/>
          </a:prstGeom>
          <a:noFill/>
        </p:spPr>
        <p:txBody>
          <a:bodyPr wrap="square" lIns="73152" rIns="73152" tIns="36576" bIns="36576">
            <a:spAutoFit/>
          </a:bodyPr>
          <a:lstStyle/>
          <a:p>
            <a:pPr algn="l">
              <a:spcBef>
                <a:spcPts val="0"/>
              </a:spcBef>
              <a:spcAft>
                <a:spcPts val="200"/>
              </a:spcAft>
            </a:pPr>
            <a:r>
              <a:rPr sz="1500" b="0">
                <a:solidFill>
                  <a:srgbClr val="595652"/>
                </a:solidFill>
                <a:latin typeface="Calibri"/>
              </a:rPr>
              <a:t>Cuando medimos p variables a la vez, interesa contrastar el vector de medias μ = (μ₁, …, μₚ)′ de forma conjunta, no cada media por separado.</a:t>
            </a:r>
          </a:p>
          <a:p>
            <a:pPr algn="l">
              <a:spcBef>
                <a:spcPts val="600"/>
              </a:spcBef>
              <a:spcAft>
                <a:spcPts val="200"/>
              </a:spcAft>
            </a:pPr>
            <a:r>
              <a:rPr sz="1500" b="0">
                <a:solidFill>
                  <a:srgbClr val="595652"/>
                </a:solidFill>
                <a:latin typeface="Calibri"/>
              </a:rPr>
              <a:t>Hacer p pruebas t individuales no equivale a un contraste conjunto: se puede aceptar cada hipótesis por separado y aun así rechazar la hipótesis conjunta (y también lo contrario).</a:t>
            </a:r>
          </a:p>
          <a:p>
            <a:pPr algn="l">
              <a:spcBef>
                <a:spcPts val="600"/>
              </a:spcBef>
              <a:spcAft>
                <a:spcPts val="200"/>
              </a:spcAft>
            </a:pPr>
            <a:r>
              <a:rPr sz="1500" b="0">
                <a:solidFill>
                  <a:srgbClr val="595652"/>
                </a:solidFill>
                <a:latin typeface="Calibri"/>
              </a:rPr>
              <a:t>Según el estadístico que se use, la región de aceptación puede ser rectangular, lineal, circular o elíptica. El enfoque correcto aprovecha la correlación entre las variables y conduce a una región elíptica.</a:t>
            </a:r>
          </a:p>
        </p:txBody>
      </p:sp>
      <p:sp>
        <p:nvSpPr>
          <p:cNvPr id="5" name="Rectangle 4"/>
          <p:cNvSpPr/>
          <p:nvPr/>
        </p:nvSpPr>
        <p:spPr>
          <a:xfrm>
            <a:off x="7269480" y="1554480"/>
            <a:ext cx="4069080" cy="4297680"/>
          </a:xfrm>
          <a:prstGeom prst="rect">
            <a:avLst/>
          </a:prstGeom>
          <a:solidFill>
            <a:srgbClr val="F4F7E9"/>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36576"/>
          <a:lstStyle/>
          <a:p>
            <a:pPr algn="l">
              <a:spcBef>
                <a:spcPts val="0"/>
              </a:spcBef>
              <a:spcAft>
                <a:spcPts val="200"/>
              </a:spcAft>
            </a:pPr>
            <a:r>
              <a:rPr sz="1500" b="1">
                <a:solidFill>
                  <a:srgbClr val="595652"/>
                </a:solidFill>
                <a:latin typeface="Calibri"/>
              </a:rPr>
              <a:t>Idea clave</a:t>
            </a:r>
          </a:p>
          <a:p>
            <a:pPr algn="l">
              <a:spcBef>
                <a:spcPts val="600"/>
              </a:spcBef>
              <a:spcAft>
                <a:spcPts val="200"/>
              </a:spcAft>
            </a:pPr>
            <a:r>
              <a:rPr sz="1350" b="0">
                <a:solidFill>
                  <a:srgbClr val="595652"/>
                </a:solidFill>
                <a:latin typeface="Calibri"/>
              </a:rPr>
              <a:t>El contraste conjunto controla el error global y usa la correlación entre variables.</a:t>
            </a:r>
          </a:p>
          <a:p>
            <a:pPr algn="l">
              <a:spcBef>
                <a:spcPts val="600"/>
              </a:spcBef>
              <a:spcAft>
                <a:spcPts val="200"/>
              </a:spcAft>
            </a:pPr>
            <a:r>
              <a:rPr sz="1350" b="0">
                <a:solidFill>
                  <a:srgbClr val="595652"/>
                </a:solidFill>
                <a:latin typeface="Calibri"/>
              </a:rPr>
              <a:t>Las p pruebas t por separado no hacen ni lo uno ni lo otro.</a:t>
            </a:r>
          </a:p>
          <a:p>
            <a:pPr algn="l">
              <a:spcBef>
                <a:spcPts val="600"/>
              </a:spcBef>
              <a:spcAft>
                <a:spcPts val="200"/>
              </a:spcAft>
            </a:pPr>
            <a:r>
              <a:rPr sz="1350" b="0">
                <a:solidFill>
                  <a:srgbClr val="595652"/>
                </a:solidFill>
                <a:latin typeface="Calibri"/>
              </a:rPr>
              <a:t>Fuente: Mardia, Kent &amp; Bibby (1979), §5.1.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68680"/>
          </a:xfrm>
          <a:prstGeom prst="rect">
            <a:avLst/>
          </a:prstGeom>
          <a:noFill/>
        </p:spPr>
        <p:txBody>
          <a:bodyPr wrap="square" lIns="73152" rIns="73152" tIns="36576" bIns="36576" anchor="ctr">
            <a:spAutoFit/>
          </a:bodyPr>
          <a:lstStyle/>
          <a:p>
            <a:pPr algn="l">
              <a:spcBef>
                <a:spcPts val="0"/>
              </a:spcBef>
              <a:spcAft>
                <a:spcPts val="200"/>
              </a:spcAft>
            </a:pPr>
            <a:r>
              <a:rPr sz="3200" b="1">
                <a:solidFill>
                  <a:srgbClr val="A6B727"/>
                </a:solidFill>
                <a:latin typeface="Calibri"/>
              </a:rPr>
              <a:t>SUPUESTO: NORMALIDAD MULTIVARIADA</a:t>
            </a:r>
          </a:p>
        </p:txBody>
      </p:sp>
      <p:sp>
        <p:nvSpPr>
          <p:cNvPr id="4" name="TextBox 3"/>
          <p:cNvSpPr txBox="1"/>
          <p:nvPr/>
        </p:nvSpPr>
        <p:spPr>
          <a:xfrm>
            <a:off x="822960" y="1463040"/>
            <a:ext cx="6126480" cy="4754880"/>
          </a:xfrm>
          <a:prstGeom prst="rect">
            <a:avLst/>
          </a:prstGeom>
          <a:noFill/>
        </p:spPr>
        <p:txBody>
          <a:bodyPr wrap="square" lIns="73152" rIns="73152" tIns="36576" bIns="36576">
            <a:spAutoFit/>
          </a:bodyPr>
          <a:lstStyle/>
          <a:p>
            <a:pPr algn="l">
              <a:spcBef>
                <a:spcPts val="0"/>
              </a:spcBef>
              <a:spcAft>
                <a:spcPts val="200"/>
              </a:spcAft>
            </a:pPr>
            <a:r>
              <a:rPr sz="1500" b="0">
                <a:solidFill>
                  <a:srgbClr val="595652"/>
                </a:solidFill>
                <a:latin typeface="Calibri"/>
              </a:rPr>
              <a:t>El contraste sobre μ supone que x₁, …, xₙ es una muestra aleatoria de una distribución normal multivariada Nₚ(μ, Σ).</a:t>
            </a:r>
          </a:p>
          <a:p>
            <a:pPr algn="l">
              <a:spcBef>
                <a:spcPts val="600"/>
              </a:spcBef>
              <a:spcAft>
                <a:spcPts val="200"/>
              </a:spcAft>
            </a:pPr>
            <a:r>
              <a:rPr sz="1500" b="0">
                <a:solidFill>
                  <a:srgbClr val="595652"/>
                </a:solidFill>
                <a:latin typeface="Calibri"/>
              </a:rPr>
              <a:t>Los contornos de densidad constante son elipsoides definidos por la distancia de Mahalanobis:</a:t>
            </a:r>
          </a:p>
          <a:p>
            <a:pPr algn="l">
              <a:spcBef>
                <a:spcPts val="600"/>
              </a:spcBef>
              <a:spcAft>
                <a:spcPts val="200"/>
              </a:spcAft>
            </a:pPr>
            <a:r>
              <a:rPr sz="1600" b="1">
                <a:solidFill>
                  <a:srgbClr val="A6B727"/>
                </a:solidFill>
                <a:latin typeface="Calibri"/>
              </a:rPr>
              <a:t>(x − μ)′ Σ⁻¹ (x − μ) = c²</a:t>
            </a:r>
          </a:p>
          <a:p>
            <a:pPr algn="l">
              <a:spcBef>
                <a:spcPts val="600"/>
              </a:spcBef>
              <a:spcAft>
                <a:spcPts val="200"/>
              </a:spcAft>
            </a:pPr>
            <a:r>
              <a:rPr sz="1500" b="0">
                <a:solidFill>
                  <a:srgbClr val="595652"/>
                </a:solidFill>
                <a:latin typeface="Calibri"/>
              </a:rPr>
              <a:t>Antes de aplicar el T² conviene verificar la normalidad multivariada; el test de asimetría y curtosis de Mardia es la opción estándar.</a:t>
            </a:r>
          </a:p>
        </p:txBody>
      </p:sp>
      <p:sp>
        <p:nvSpPr>
          <p:cNvPr id="5" name="Rectangle 4"/>
          <p:cNvSpPr/>
          <p:nvPr/>
        </p:nvSpPr>
        <p:spPr>
          <a:xfrm>
            <a:off x="7269480" y="1554480"/>
            <a:ext cx="4069080" cy="4297680"/>
          </a:xfrm>
          <a:prstGeom prst="rect">
            <a:avLst/>
          </a:prstGeom>
          <a:solidFill>
            <a:srgbClr val="F4F7E9"/>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36576"/>
          <a:lstStyle/>
          <a:p>
            <a:pPr algn="l">
              <a:spcBef>
                <a:spcPts val="0"/>
              </a:spcBef>
              <a:spcAft>
                <a:spcPts val="200"/>
              </a:spcAft>
            </a:pPr>
            <a:r>
              <a:rPr sz="1500" b="1">
                <a:solidFill>
                  <a:srgbClr val="595652"/>
                </a:solidFill>
                <a:latin typeface="Calibri"/>
              </a:rPr>
              <a:t>En R</a:t>
            </a:r>
          </a:p>
          <a:p>
            <a:pPr algn="l">
              <a:spcBef>
                <a:spcPts val="600"/>
              </a:spcBef>
              <a:spcAft>
                <a:spcPts val="200"/>
              </a:spcAft>
            </a:pPr>
            <a:r>
              <a:rPr sz="1350" b="0">
                <a:solidFill>
                  <a:srgbClr val="595652"/>
                </a:solidFill>
                <a:latin typeface="Calibri"/>
              </a:rPr>
              <a:t>MVN::mvn(X, mvnTest = "mardia")</a:t>
            </a:r>
          </a:p>
          <a:p>
            <a:pPr algn="l">
              <a:spcBef>
                <a:spcPts val="600"/>
              </a:spcBef>
              <a:spcAft>
                <a:spcPts val="200"/>
              </a:spcAft>
            </a:pPr>
            <a:r>
              <a:rPr sz="1350" b="0">
                <a:solidFill>
                  <a:srgbClr val="595652"/>
                </a:solidFill>
                <a:latin typeface="Calibri"/>
              </a:rPr>
              <a:t>psych::mardia(X)</a:t>
            </a:r>
          </a:p>
          <a:p>
            <a:pPr algn="l">
              <a:spcBef>
                <a:spcPts val="600"/>
              </a:spcBef>
              <a:spcAft>
                <a:spcPts val="200"/>
              </a:spcAft>
            </a:pPr>
            <a:r>
              <a:rPr sz="1350" b="0">
                <a:solidFill>
                  <a:srgbClr val="595652"/>
                </a:solidFill>
                <a:latin typeface="Calibri"/>
              </a:rPr>
              <a:t>Fuentes: Manual de R (F. Hernández); Mardia, Kent &amp; Bibby (1979), §5.7.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68680"/>
          </a:xfrm>
          <a:prstGeom prst="rect">
            <a:avLst/>
          </a:prstGeom>
          <a:noFill/>
        </p:spPr>
        <p:txBody>
          <a:bodyPr wrap="square" lIns="73152" rIns="73152" tIns="36576" bIns="36576" anchor="ctr">
            <a:spAutoFit/>
          </a:bodyPr>
          <a:lstStyle/>
          <a:p>
            <a:pPr algn="l">
              <a:spcBef>
                <a:spcPts val="0"/>
              </a:spcBef>
              <a:spcAft>
                <a:spcPts val="200"/>
              </a:spcAft>
            </a:pPr>
            <a:r>
              <a:rPr sz="3200" b="1">
                <a:solidFill>
                  <a:srgbClr val="A6B727"/>
                </a:solidFill>
                <a:latin typeface="Calibri"/>
              </a:rPr>
              <a:t>T² DE HOTELLING: CONTRASTE DE UNA MUESTRA</a:t>
            </a:r>
          </a:p>
        </p:txBody>
      </p:sp>
      <p:sp>
        <p:nvSpPr>
          <p:cNvPr id="4" name="TextBox 3"/>
          <p:cNvSpPr txBox="1"/>
          <p:nvPr/>
        </p:nvSpPr>
        <p:spPr>
          <a:xfrm>
            <a:off x="822960" y="1417320"/>
            <a:ext cx="6217920" cy="4846320"/>
          </a:xfrm>
          <a:prstGeom prst="rect">
            <a:avLst/>
          </a:prstGeom>
          <a:noFill/>
        </p:spPr>
        <p:txBody>
          <a:bodyPr wrap="square" lIns="73152" rIns="73152" tIns="36576" bIns="36576">
            <a:spAutoFit/>
          </a:bodyPr>
          <a:lstStyle/>
          <a:p>
            <a:pPr algn="l">
              <a:spcBef>
                <a:spcPts val="0"/>
              </a:spcBef>
              <a:spcAft>
                <a:spcPts val="200"/>
              </a:spcAft>
            </a:pPr>
            <a:r>
              <a:rPr sz="1500" b="1">
                <a:solidFill>
                  <a:srgbClr val="595652"/>
                </a:solidFill>
                <a:latin typeface="Calibri"/>
              </a:rPr>
              <a:t>Hipótesis</a:t>
            </a:r>
          </a:p>
          <a:p>
            <a:pPr algn="l">
              <a:spcBef>
                <a:spcPts val="600"/>
              </a:spcBef>
              <a:spcAft>
                <a:spcPts val="200"/>
              </a:spcAft>
            </a:pPr>
            <a:r>
              <a:rPr sz="1600" b="1">
                <a:solidFill>
                  <a:srgbClr val="A6B727"/>
                </a:solidFill>
                <a:latin typeface="Calibri"/>
              </a:rPr>
              <a:t>H₀: μ = μ₀      vs      H₁: μ ≠ μ₀</a:t>
            </a:r>
          </a:p>
          <a:p>
            <a:pPr algn="l">
              <a:spcBef>
                <a:spcPts val="1000"/>
              </a:spcBef>
              <a:spcAft>
                <a:spcPts val="200"/>
              </a:spcAft>
            </a:pPr>
            <a:r>
              <a:rPr sz="1500" b="1">
                <a:solidFill>
                  <a:srgbClr val="595652"/>
                </a:solidFill>
                <a:latin typeface="Calibri"/>
              </a:rPr>
              <a:t>Estadístico</a:t>
            </a:r>
          </a:p>
          <a:p>
            <a:pPr algn="l">
              <a:spcBef>
                <a:spcPts val="600"/>
              </a:spcBef>
              <a:spcAft>
                <a:spcPts val="200"/>
              </a:spcAft>
            </a:pPr>
            <a:r>
              <a:rPr sz="1600" b="1">
                <a:solidFill>
                  <a:srgbClr val="A6B727"/>
                </a:solidFill>
                <a:latin typeface="Calibri"/>
              </a:rPr>
              <a:t>T² = n · (x̄ − μ₀)′ S⁻¹ (x̄ − μ₀)</a:t>
            </a:r>
          </a:p>
          <a:p>
            <a:pPr algn="l">
              <a:spcBef>
                <a:spcPts val="600"/>
              </a:spcBef>
              <a:spcAft>
                <a:spcPts val="200"/>
              </a:spcAft>
            </a:pPr>
            <a:r>
              <a:rPr sz="1350" b="0">
                <a:solidFill>
                  <a:srgbClr val="595652"/>
                </a:solidFill>
                <a:latin typeface="Calibri"/>
              </a:rPr>
              <a:t>con x̄ el vector de medias y S la matriz de covarianzas muestral (insesgada).</a:t>
            </a:r>
          </a:p>
          <a:p>
            <a:pPr algn="l">
              <a:spcBef>
                <a:spcPts val="1000"/>
              </a:spcBef>
              <a:spcAft>
                <a:spcPts val="200"/>
              </a:spcAft>
            </a:pPr>
            <a:r>
              <a:rPr sz="1500" b="1">
                <a:solidFill>
                  <a:srgbClr val="595652"/>
                </a:solidFill>
                <a:latin typeface="Calibri"/>
              </a:rPr>
              <a:t>Distribución bajo H₀</a:t>
            </a:r>
          </a:p>
          <a:p>
            <a:pPr algn="l">
              <a:spcBef>
                <a:spcPts val="600"/>
              </a:spcBef>
              <a:spcAft>
                <a:spcPts val="200"/>
              </a:spcAft>
            </a:pPr>
            <a:r>
              <a:rPr sz="1600" b="1">
                <a:solidFill>
                  <a:srgbClr val="A6B727"/>
                </a:solidFill>
                <a:latin typeface="Calibri"/>
              </a:rPr>
              <a:t>[(n − p) / ((n − 1)p)] · T²  ~  F(p, n − p)</a:t>
            </a:r>
          </a:p>
          <a:p>
            <a:pPr algn="l">
              <a:spcBef>
                <a:spcPts val="1000"/>
              </a:spcBef>
              <a:spcAft>
                <a:spcPts val="200"/>
              </a:spcAft>
            </a:pPr>
            <a:r>
              <a:rPr sz="1500" b="1">
                <a:solidFill>
                  <a:srgbClr val="595652"/>
                </a:solidFill>
                <a:latin typeface="Calibri"/>
              </a:rPr>
              <a:t>Regla de decisión</a:t>
            </a:r>
          </a:p>
          <a:p>
            <a:pPr algn="l">
              <a:spcBef>
                <a:spcPts val="600"/>
              </a:spcBef>
              <a:spcAft>
                <a:spcPts val="200"/>
              </a:spcAft>
            </a:pPr>
            <a:r>
              <a:rPr sz="1500" b="1">
                <a:solidFill>
                  <a:srgbClr val="A6B727"/>
                </a:solidFill>
                <a:latin typeface="Calibri"/>
              </a:rPr>
              <a:t>Rechazar H₀ si  T² &gt; [(n − 1)p / (n − p)] · Fα(p, n − p)</a:t>
            </a:r>
          </a:p>
        </p:txBody>
      </p:sp>
      <p:sp>
        <p:nvSpPr>
          <p:cNvPr id="5" name="Rectangle 4"/>
          <p:cNvSpPr/>
          <p:nvPr/>
        </p:nvSpPr>
        <p:spPr>
          <a:xfrm>
            <a:off x="7269480" y="1554480"/>
            <a:ext cx="4069080" cy="4297680"/>
          </a:xfrm>
          <a:prstGeom prst="rect">
            <a:avLst/>
          </a:prstGeom>
          <a:solidFill>
            <a:srgbClr val="F4F7E9"/>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36576"/>
          <a:lstStyle/>
          <a:p>
            <a:pPr algn="l">
              <a:spcBef>
                <a:spcPts val="0"/>
              </a:spcBef>
              <a:spcAft>
                <a:spcPts val="200"/>
              </a:spcAft>
            </a:pPr>
            <a:r>
              <a:rPr sz="1500" b="1">
                <a:solidFill>
                  <a:srgbClr val="595652"/>
                </a:solidFill>
                <a:latin typeface="Calibri"/>
              </a:rPr>
              <a:t>Conexión</a:t>
            </a:r>
          </a:p>
          <a:p>
            <a:pPr algn="l">
              <a:spcBef>
                <a:spcPts val="600"/>
              </a:spcBef>
              <a:spcAft>
                <a:spcPts val="200"/>
              </a:spcAft>
            </a:pPr>
            <a:r>
              <a:rPr sz="1350" b="0">
                <a:solidFill>
                  <a:srgbClr val="595652"/>
                </a:solidFill>
                <a:latin typeface="Calibri"/>
              </a:rPr>
              <a:t>Es la extensión multivariada de la t de Student.</a:t>
            </a:r>
          </a:p>
          <a:p>
            <a:pPr algn="l">
              <a:spcBef>
                <a:spcPts val="600"/>
              </a:spcBef>
              <a:spcAft>
                <a:spcPts val="200"/>
              </a:spcAft>
            </a:pPr>
            <a:r>
              <a:rPr sz="1350" b="0">
                <a:solidFill>
                  <a:srgbClr val="595652"/>
                </a:solidFill>
                <a:latin typeface="Calibri"/>
              </a:rPr>
              <a:t>Con p = 1 el T² coincide exactamente con t².</a:t>
            </a:r>
          </a:p>
          <a:p>
            <a:pPr algn="l">
              <a:spcBef>
                <a:spcPts val="600"/>
              </a:spcBef>
              <a:spcAft>
                <a:spcPts val="200"/>
              </a:spcAft>
            </a:pPr>
            <a:r>
              <a:rPr sz="1350" b="0">
                <a:solidFill>
                  <a:srgbClr val="595652"/>
                </a:solidFill>
                <a:latin typeface="Calibri"/>
              </a:rPr>
              <a:t>Fuente: Mardia, Kent &amp; Bibby (1979), §5.2.1b y §5.3.1.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68680"/>
          </a:xfrm>
          <a:prstGeom prst="rect">
            <a:avLst/>
          </a:prstGeom>
          <a:noFill/>
        </p:spPr>
        <p:txBody>
          <a:bodyPr wrap="square" lIns="73152" rIns="73152" tIns="36576" bIns="36576" anchor="ctr">
            <a:spAutoFit/>
          </a:bodyPr>
          <a:lstStyle/>
          <a:p>
            <a:pPr algn="l">
              <a:spcBef>
                <a:spcPts val="0"/>
              </a:spcBef>
              <a:spcAft>
                <a:spcPts val="200"/>
              </a:spcAft>
            </a:pPr>
            <a:r>
              <a:rPr sz="3200" b="1">
                <a:solidFill>
                  <a:srgbClr val="A6B727"/>
                </a:solidFill>
                <a:latin typeface="Calibri"/>
              </a:rPr>
              <a:t>APLICACIÓN PASO A PASO</a:t>
            </a:r>
          </a:p>
        </p:txBody>
      </p:sp>
      <p:sp>
        <p:nvSpPr>
          <p:cNvPr id="4" name="TextBox 3"/>
          <p:cNvSpPr txBox="1"/>
          <p:nvPr/>
        </p:nvSpPr>
        <p:spPr>
          <a:xfrm>
            <a:off x="822960" y="1463040"/>
            <a:ext cx="6217920" cy="4754880"/>
          </a:xfrm>
          <a:prstGeom prst="rect">
            <a:avLst/>
          </a:prstGeom>
          <a:noFill/>
        </p:spPr>
        <p:txBody>
          <a:bodyPr wrap="square" lIns="73152" rIns="73152" tIns="36576" bIns="36576">
            <a:spAutoFit/>
          </a:bodyPr>
          <a:lstStyle/>
          <a:p>
            <a:pPr algn="l">
              <a:spcBef>
                <a:spcPts val="0"/>
              </a:spcBef>
              <a:spcAft>
                <a:spcPts val="200"/>
              </a:spcAft>
            </a:pPr>
            <a:r>
              <a:rPr sz="1500" b="0">
                <a:solidFill>
                  <a:srgbClr val="595652"/>
                </a:solidFill>
                <a:latin typeface="Calibri"/>
              </a:rPr>
              <a:t>1.  Calcular el vector de medias x̄ y la matriz de covarianzas S de la muestra de p variables.</a:t>
            </a:r>
          </a:p>
          <a:p>
            <a:pPr algn="l">
              <a:spcBef>
                <a:spcPts val="800"/>
              </a:spcBef>
              <a:spcAft>
                <a:spcPts val="200"/>
              </a:spcAft>
            </a:pPr>
            <a:r>
              <a:rPr sz="1500" b="0">
                <a:solidFill>
                  <a:srgbClr val="595652"/>
                </a:solidFill>
                <a:latin typeface="Calibri"/>
              </a:rPr>
              <a:t>2.  Calcular  T² = n (x̄ − μ₀)′ S⁻¹ (x̄ − μ₀).</a:t>
            </a:r>
          </a:p>
          <a:p>
            <a:pPr algn="l">
              <a:spcBef>
                <a:spcPts val="800"/>
              </a:spcBef>
              <a:spcAft>
                <a:spcPts val="200"/>
              </a:spcAft>
            </a:pPr>
            <a:r>
              <a:rPr sz="1500" b="0">
                <a:solidFill>
                  <a:srgbClr val="595652"/>
                </a:solidFill>
                <a:latin typeface="Calibri"/>
              </a:rPr>
              <a:t>3.  Comparar con el valor crítico [(n − 1)p / (n − p)] · Fα(p, n − p), o calcular el valor-p con la F.</a:t>
            </a:r>
          </a:p>
          <a:p>
            <a:pPr algn="l">
              <a:spcBef>
                <a:spcPts val="800"/>
              </a:spcBef>
              <a:spcAft>
                <a:spcPts val="200"/>
              </a:spcAft>
            </a:pPr>
            <a:r>
              <a:rPr sz="1500" b="0">
                <a:solidFill>
                  <a:srgbClr val="595652"/>
                </a:solidFill>
                <a:latin typeface="Calibri"/>
              </a:rPr>
              <a:t>4.  Si T² supera el crítico, rechazar H₀ y usar los intervalos de confianza simultáneos para identificar qué variables explican el rechazo.</a:t>
            </a:r>
          </a:p>
        </p:txBody>
      </p:sp>
      <p:sp>
        <p:nvSpPr>
          <p:cNvPr id="5" name="Rectangle 4"/>
          <p:cNvSpPr/>
          <p:nvPr/>
        </p:nvSpPr>
        <p:spPr>
          <a:xfrm>
            <a:off x="7269480" y="1554480"/>
            <a:ext cx="4069080" cy="4297680"/>
          </a:xfrm>
          <a:prstGeom prst="rect">
            <a:avLst/>
          </a:prstGeom>
          <a:solidFill>
            <a:srgbClr val="F4F7E9"/>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36576"/>
          <a:lstStyle/>
          <a:p>
            <a:pPr algn="l">
              <a:spcBef>
                <a:spcPts val="0"/>
              </a:spcBef>
              <a:spcAft>
                <a:spcPts val="200"/>
              </a:spcAft>
            </a:pPr>
            <a:r>
              <a:rPr sz="1500" b="1">
                <a:solidFill>
                  <a:srgbClr val="595652"/>
                </a:solidFill>
                <a:latin typeface="Calibri"/>
              </a:rPr>
              <a:t>Valor-p</a:t>
            </a:r>
          </a:p>
          <a:p>
            <a:pPr algn="l">
              <a:spcBef>
                <a:spcPts val="600"/>
              </a:spcBef>
              <a:spcAft>
                <a:spcPts val="200"/>
              </a:spcAft>
            </a:pPr>
            <a:r>
              <a:rPr sz="1350" b="0">
                <a:solidFill>
                  <a:srgbClr val="595652"/>
                </a:solidFill>
                <a:latin typeface="Calibri"/>
              </a:rPr>
              <a:t>Se obtiene de la distribución F:</a:t>
            </a:r>
          </a:p>
          <a:p>
            <a:pPr algn="l">
              <a:spcBef>
                <a:spcPts val="600"/>
              </a:spcBef>
              <a:spcAft>
                <a:spcPts val="200"/>
              </a:spcAft>
            </a:pPr>
            <a:r>
              <a:rPr sz="1350" b="0">
                <a:solidFill>
                  <a:srgbClr val="595652"/>
                </a:solidFill>
                <a:latin typeface="Calibri"/>
              </a:rPr>
              <a:t>p = P( F(p, n−p) &gt; [(n−p)/((n−1)p)] · T² ).</a:t>
            </a:r>
          </a:p>
          <a:p>
            <a:pPr algn="l">
              <a:spcBef>
                <a:spcPts val="600"/>
              </a:spcBef>
              <a:spcAft>
                <a:spcPts val="200"/>
              </a:spcAft>
            </a:pPr>
            <a:r>
              <a:rPr sz="1350" b="0">
                <a:solidFill>
                  <a:srgbClr val="595652"/>
                </a:solidFill>
                <a:latin typeface="Calibri"/>
              </a:rPr>
              <a:t>Fuente: Mardia, Kent &amp; Bibby (1979), §5.3.1.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68680"/>
          </a:xfrm>
          <a:prstGeom prst="rect">
            <a:avLst/>
          </a:prstGeom>
          <a:noFill/>
        </p:spPr>
        <p:txBody>
          <a:bodyPr wrap="square" lIns="73152" rIns="73152" tIns="36576" bIns="36576" anchor="ctr">
            <a:spAutoFit/>
          </a:bodyPr>
          <a:lstStyle/>
          <a:p>
            <a:pPr algn="l">
              <a:spcBef>
                <a:spcPts val="0"/>
              </a:spcBef>
              <a:spcAft>
                <a:spcPts val="200"/>
              </a:spcAft>
            </a:pPr>
            <a:r>
              <a:rPr sz="3200" b="1">
                <a:solidFill>
                  <a:srgbClr val="A6B727"/>
                </a:solidFill>
                <a:latin typeface="Calibri"/>
              </a:rPr>
              <a:t>REGIÓN DE CONFIANZA PARA μ</a:t>
            </a:r>
          </a:p>
        </p:txBody>
      </p:sp>
      <p:sp>
        <p:nvSpPr>
          <p:cNvPr id="4" name="TextBox 3"/>
          <p:cNvSpPr txBox="1"/>
          <p:nvPr/>
        </p:nvSpPr>
        <p:spPr>
          <a:xfrm>
            <a:off x="822960" y="1463040"/>
            <a:ext cx="6217920" cy="4754880"/>
          </a:xfrm>
          <a:prstGeom prst="rect">
            <a:avLst/>
          </a:prstGeom>
          <a:noFill/>
        </p:spPr>
        <p:txBody>
          <a:bodyPr wrap="square" lIns="73152" rIns="73152" tIns="36576" bIns="36576">
            <a:spAutoFit/>
          </a:bodyPr>
          <a:lstStyle/>
          <a:p>
            <a:pPr algn="l">
              <a:spcBef>
                <a:spcPts val="0"/>
              </a:spcBef>
              <a:spcAft>
                <a:spcPts val="200"/>
              </a:spcAft>
            </a:pPr>
            <a:r>
              <a:rPr sz="1500" b="0">
                <a:solidFill>
                  <a:srgbClr val="595652"/>
                </a:solidFill>
                <a:latin typeface="Calibri"/>
              </a:rPr>
              <a:t>La región de confianza del 100(1 − α)% para μ es el elipsoide:</a:t>
            </a:r>
          </a:p>
          <a:p>
            <a:pPr algn="l">
              <a:spcBef>
                <a:spcPts val="600"/>
              </a:spcBef>
              <a:spcAft>
                <a:spcPts val="200"/>
              </a:spcAft>
            </a:pPr>
            <a:r>
              <a:rPr sz="1500" b="1">
                <a:solidFill>
                  <a:srgbClr val="A6B727"/>
                </a:solidFill>
                <a:latin typeface="Calibri"/>
              </a:rPr>
              <a:t>n (x̄ − μ)′ S⁻¹ (x̄ − μ)  ≤  [(n − 1)p / (n − p)] · Fα(p, n − p)</a:t>
            </a:r>
          </a:p>
          <a:p>
            <a:pPr algn="l">
              <a:spcBef>
                <a:spcPts val="800"/>
              </a:spcBef>
              <a:spcAft>
                <a:spcPts val="200"/>
              </a:spcAft>
            </a:pPr>
            <a:r>
              <a:rPr sz="1500" b="0">
                <a:solidFill>
                  <a:srgbClr val="595652"/>
                </a:solidFill>
                <a:latin typeface="Calibri"/>
              </a:rPr>
              <a:t>Está centrado en x̄; sus ejes y orientación los dan los valores y vectores propios de S.</a:t>
            </a:r>
          </a:p>
          <a:p>
            <a:pPr algn="l">
              <a:spcBef>
                <a:spcPts val="800"/>
              </a:spcBef>
              <a:spcAft>
                <a:spcPts val="200"/>
              </a:spcAft>
            </a:pPr>
            <a:r>
              <a:rPr sz="1500" b="0">
                <a:solidFill>
                  <a:srgbClr val="595652"/>
                </a:solidFill>
                <a:latin typeface="Calibri"/>
              </a:rPr>
              <a:t>μ₀ cae dentro de la región  ⟺  no se rechaza H₀: μ = μ₀ (equivalencia entre el test y la región).</a:t>
            </a:r>
          </a:p>
        </p:txBody>
      </p:sp>
      <p:sp>
        <p:nvSpPr>
          <p:cNvPr id="5" name="Rectangle 4"/>
          <p:cNvSpPr/>
          <p:nvPr/>
        </p:nvSpPr>
        <p:spPr>
          <a:xfrm>
            <a:off x="7269480" y="1554480"/>
            <a:ext cx="4069080" cy="4297680"/>
          </a:xfrm>
          <a:prstGeom prst="rect">
            <a:avLst/>
          </a:prstGeom>
          <a:solidFill>
            <a:srgbClr val="F4F7E9"/>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36576"/>
          <a:lstStyle/>
          <a:p>
            <a:pPr algn="l">
              <a:spcBef>
                <a:spcPts val="0"/>
              </a:spcBef>
              <a:spcAft>
                <a:spcPts val="200"/>
              </a:spcAft>
            </a:pPr>
            <a:r>
              <a:rPr sz="1500" b="1">
                <a:solidFill>
                  <a:srgbClr val="595652"/>
                </a:solidFill>
                <a:latin typeface="Calibri"/>
              </a:rPr>
              <a:t>En R (p = 2)</a:t>
            </a:r>
          </a:p>
          <a:p>
            <a:pPr algn="l">
              <a:spcBef>
                <a:spcPts val="600"/>
              </a:spcBef>
              <a:spcAft>
                <a:spcPts val="200"/>
              </a:spcAft>
            </a:pPr>
            <a:r>
              <a:rPr sz="1350" b="0">
                <a:solidFill>
                  <a:srgbClr val="595652"/>
                </a:solidFill>
                <a:latin typeface="Calibri"/>
              </a:rPr>
              <a:t>Con p = 2 la región es una elipse.</a:t>
            </a:r>
          </a:p>
          <a:p>
            <a:pPr algn="l">
              <a:spcBef>
                <a:spcPts val="600"/>
              </a:spcBef>
              <a:spcAft>
                <a:spcPts val="200"/>
              </a:spcAft>
            </a:pPr>
            <a:r>
              <a:rPr sz="1350" b="0">
                <a:solidFill>
                  <a:srgbClr val="595652"/>
                </a:solidFill>
                <a:latin typeface="Calibri"/>
              </a:rPr>
              <a:t>Se dibuja con car::ellipse a partir de x̄, S y qf().</a:t>
            </a:r>
          </a:p>
          <a:p>
            <a:pPr algn="l">
              <a:spcBef>
                <a:spcPts val="600"/>
              </a:spcBef>
              <a:spcAft>
                <a:spcPts val="200"/>
              </a:spcAft>
            </a:pPr>
            <a:r>
              <a:rPr sz="1350" b="0">
                <a:solidFill>
                  <a:srgbClr val="595652"/>
                </a:solidFill>
                <a:latin typeface="Calibri"/>
              </a:rPr>
              <a:t>Fuentes: Manual de R (F. Hernández); Mardia et al. (1979), Ej. 5.2.1 y Ejerc. 5.5.2.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68680"/>
          </a:xfrm>
          <a:prstGeom prst="rect">
            <a:avLst/>
          </a:prstGeom>
          <a:noFill/>
        </p:spPr>
        <p:txBody>
          <a:bodyPr wrap="square" lIns="73152" rIns="73152" tIns="36576" bIns="36576" anchor="ctr">
            <a:spAutoFit/>
          </a:bodyPr>
          <a:lstStyle/>
          <a:p>
            <a:pPr algn="l">
              <a:spcBef>
                <a:spcPts val="0"/>
              </a:spcBef>
              <a:spcAft>
                <a:spcPts val="200"/>
              </a:spcAft>
            </a:pPr>
            <a:r>
              <a:rPr sz="3200" b="1">
                <a:solidFill>
                  <a:srgbClr val="A6B727"/>
                </a:solidFill>
                <a:latin typeface="Calibri"/>
              </a:rPr>
              <a:t>INTERVALOS DE CONFIANZA SIMULTÁNEOS (T²)</a:t>
            </a:r>
          </a:p>
        </p:txBody>
      </p:sp>
      <p:sp>
        <p:nvSpPr>
          <p:cNvPr id="4" name="TextBox 3"/>
          <p:cNvSpPr txBox="1"/>
          <p:nvPr/>
        </p:nvSpPr>
        <p:spPr>
          <a:xfrm>
            <a:off x="822960" y="1417320"/>
            <a:ext cx="6309360" cy="4846320"/>
          </a:xfrm>
          <a:prstGeom prst="rect">
            <a:avLst/>
          </a:prstGeom>
          <a:noFill/>
        </p:spPr>
        <p:txBody>
          <a:bodyPr wrap="square" lIns="73152" rIns="73152" tIns="36576" bIns="36576">
            <a:spAutoFit/>
          </a:bodyPr>
          <a:lstStyle/>
          <a:p>
            <a:pPr algn="l">
              <a:spcBef>
                <a:spcPts val="0"/>
              </a:spcBef>
              <a:spcAft>
                <a:spcPts val="200"/>
              </a:spcAft>
            </a:pPr>
            <a:r>
              <a:rPr sz="1500" b="0">
                <a:solidFill>
                  <a:srgbClr val="595652"/>
                </a:solidFill>
                <a:latin typeface="Calibri"/>
              </a:rPr>
              <a:t>Para cualquier combinación lineal a′μ, con confianza global 1 − α:</a:t>
            </a:r>
          </a:p>
          <a:p>
            <a:pPr algn="l">
              <a:spcBef>
                <a:spcPts val="600"/>
              </a:spcBef>
              <a:spcAft>
                <a:spcPts val="200"/>
              </a:spcAft>
            </a:pPr>
            <a:r>
              <a:rPr sz="1450" b="1">
                <a:solidFill>
                  <a:srgbClr val="A6B727"/>
                </a:solidFill>
                <a:latin typeface="Calibri"/>
              </a:rPr>
              <a:t>a′x̄ ± √( [p(n−1)/(n−p)] · Fα(p,n−p) ) · √( a′S a / n )</a:t>
            </a:r>
          </a:p>
          <a:p>
            <a:pPr algn="l">
              <a:spcBef>
                <a:spcPts val="1000"/>
              </a:spcBef>
              <a:spcAft>
                <a:spcPts val="200"/>
              </a:spcAft>
            </a:pPr>
            <a:r>
              <a:rPr sz="1500" b="0">
                <a:solidFill>
                  <a:srgbClr val="595652"/>
                </a:solidFill>
                <a:latin typeface="Calibri"/>
              </a:rPr>
              <a:t>Tomando a = eₖ se obtiene el intervalo para cada media μₖ:</a:t>
            </a:r>
          </a:p>
          <a:p>
            <a:pPr algn="l">
              <a:spcBef>
                <a:spcPts val="600"/>
              </a:spcBef>
              <a:spcAft>
                <a:spcPts val="200"/>
              </a:spcAft>
            </a:pPr>
            <a:r>
              <a:rPr sz="1450" b="1">
                <a:solidFill>
                  <a:srgbClr val="A6B727"/>
                </a:solidFill>
                <a:latin typeface="Calibri"/>
              </a:rPr>
              <a:t>x̄ₖ ± √( [p(n−1)/(n−p)] · Fα(p,n−p) ) · √( sₖₖ / n )</a:t>
            </a:r>
          </a:p>
          <a:p>
            <a:pPr algn="l">
              <a:spcBef>
                <a:spcPts val="1000"/>
              </a:spcBef>
              <a:spcAft>
                <a:spcPts val="200"/>
              </a:spcAft>
            </a:pPr>
            <a:r>
              <a:rPr sz="1500" b="0">
                <a:solidFill>
                  <a:srgbClr val="595652"/>
                </a:solidFill>
                <a:latin typeface="Calibri"/>
              </a:rPr>
              <a:t>Todos los intervalos son simultáneamente válidos con probabilidad 1 − α.</a:t>
            </a:r>
          </a:p>
        </p:txBody>
      </p:sp>
      <p:sp>
        <p:nvSpPr>
          <p:cNvPr id="5" name="Rectangle 4"/>
          <p:cNvSpPr/>
          <p:nvPr/>
        </p:nvSpPr>
        <p:spPr>
          <a:xfrm>
            <a:off x="7269480" y="1554480"/>
            <a:ext cx="4069080" cy="4297680"/>
          </a:xfrm>
          <a:prstGeom prst="rect">
            <a:avLst/>
          </a:prstGeom>
          <a:solidFill>
            <a:srgbClr val="F4F7E9"/>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36576"/>
          <a:lstStyle/>
          <a:p>
            <a:pPr algn="l">
              <a:spcBef>
                <a:spcPts val="0"/>
              </a:spcBef>
              <a:spcAft>
                <a:spcPts val="200"/>
              </a:spcAft>
            </a:pPr>
            <a:r>
              <a:rPr sz="1500" b="1">
                <a:solidFill>
                  <a:srgbClr val="595652"/>
                </a:solidFill>
                <a:latin typeface="Calibri"/>
              </a:rPr>
              <a:t>¿Para qué sirven?</a:t>
            </a:r>
          </a:p>
          <a:p>
            <a:pPr algn="l">
              <a:spcBef>
                <a:spcPts val="600"/>
              </a:spcBef>
              <a:spcAft>
                <a:spcPts val="200"/>
              </a:spcAft>
            </a:pPr>
            <a:r>
              <a:rPr sz="1350" b="0">
                <a:solidFill>
                  <a:srgbClr val="595652"/>
                </a:solidFill>
                <a:latin typeface="Calibri"/>
              </a:rPr>
              <a:t>Si se rechaza H₀, el intervalo (o la combinación a) que no contiene el valor de μ₀ indica qué variable(s) explican el rechazo.</a:t>
            </a:r>
          </a:p>
          <a:p>
            <a:pPr algn="l">
              <a:spcBef>
                <a:spcPts val="600"/>
              </a:spcBef>
              <a:spcAft>
                <a:spcPts val="200"/>
              </a:spcAft>
            </a:pPr>
            <a:r>
              <a:rPr sz="1350" b="0">
                <a:solidFill>
                  <a:srgbClr val="595652"/>
                </a:solidFill>
                <a:latin typeface="Calibri"/>
              </a:rPr>
              <a:t>Fuente: Mardia, Kent &amp; Bibby (1979), §5.5.1.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68680"/>
          </a:xfrm>
          <a:prstGeom prst="rect">
            <a:avLst/>
          </a:prstGeom>
          <a:noFill/>
        </p:spPr>
        <p:txBody>
          <a:bodyPr wrap="square" lIns="73152" rIns="73152" tIns="36576" bIns="36576" anchor="ctr">
            <a:spAutoFit/>
          </a:bodyPr>
          <a:lstStyle/>
          <a:p>
            <a:pPr algn="l">
              <a:spcBef>
                <a:spcPts val="0"/>
              </a:spcBef>
              <a:spcAft>
                <a:spcPts val="200"/>
              </a:spcAft>
            </a:pPr>
            <a:r>
              <a:rPr sz="3200" b="1">
                <a:solidFill>
                  <a:srgbClr val="A6B727"/>
                </a:solidFill>
                <a:latin typeface="Calibri"/>
              </a:rPr>
              <a:t>ALTERNATIVA DE BONFERRONI</a:t>
            </a:r>
          </a:p>
        </p:txBody>
      </p:sp>
      <p:sp>
        <p:nvSpPr>
          <p:cNvPr id="4" name="TextBox 3"/>
          <p:cNvSpPr txBox="1"/>
          <p:nvPr/>
        </p:nvSpPr>
        <p:spPr>
          <a:xfrm>
            <a:off x="822960" y="1463040"/>
            <a:ext cx="6217920" cy="4754880"/>
          </a:xfrm>
          <a:prstGeom prst="rect">
            <a:avLst/>
          </a:prstGeom>
          <a:noFill/>
        </p:spPr>
        <p:txBody>
          <a:bodyPr wrap="square" lIns="73152" rIns="73152" tIns="36576" bIns="36576">
            <a:spAutoFit/>
          </a:bodyPr>
          <a:lstStyle/>
          <a:p>
            <a:pPr algn="l">
              <a:spcBef>
                <a:spcPts val="0"/>
              </a:spcBef>
              <a:spcAft>
                <a:spcPts val="200"/>
              </a:spcAft>
            </a:pPr>
            <a:r>
              <a:rPr sz="1500" b="0">
                <a:solidFill>
                  <a:srgbClr val="595652"/>
                </a:solidFill>
                <a:latin typeface="Calibri"/>
              </a:rPr>
              <a:t>Si solo interesan las p medias originales (y no toda combinación a′μ), los intervalos de Bonferroni son más angostos:</a:t>
            </a:r>
          </a:p>
          <a:p>
            <a:pPr algn="l">
              <a:spcBef>
                <a:spcPts val="600"/>
              </a:spcBef>
              <a:spcAft>
                <a:spcPts val="200"/>
              </a:spcAft>
            </a:pPr>
            <a:r>
              <a:rPr sz="1500" b="1">
                <a:solidFill>
                  <a:srgbClr val="A6B727"/>
                </a:solidFill>
                <a:latin typeface="Calibri"/>
              </a:rPr>
              <a:t>x̄ₖ ± t(n−1; α/2p) · √( sₖₖ / n ),   k = 1, …, p</a:t>
            </a:r>
          </a:p>
          <a:p>
            <a:pPr algn="l">
              <a:spcBef>
                <a:spcPts val="800"/>
              </a:spcBef>
              <a:spcAft>
                <a:spcPts val="200"/>
              </a:spcAft>
            </a:pPr>
            <a:r>
              <a:rPr sz="1500" b="0">
                <a:solidFill>
                  <a:srgbClr val="595652"/>
                </a:solidFill>
                <a:latin typeface="Calibri"/>
              </a:rPr>
              <a:t>Reparten el nivel α entre las p componentes para controlar el error global.</a:t>
            </a:r>
          </a:p>
        </p:txBody>
      </p:sp>
      <p:sp>
        <p:nvSpPr>
          <p:cNvPr id="5" name="Rectangle 4"/>
          <p:cNvSpPr/>
          <p:nvPr/>
        </p:nvSpPr>
        <p:spPr>
          <a:xfrm>
            <a:off x="7269480" y="1554480"/>
            <a:ext cx="4069080" cy="4297680"/>
          </a:xfrm>
          <a:prstGeom prst="rect">
            <a:avLst/>
          </a:prstGeom>
          <a:solidFill>
            <a:srgbClr val="F4F7E9"/>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36576"/>
          <a:lstStyle/>
          <a:p>
            <a:pPr algn="l">
              <a:spcBef>
                <a:spcPts val="0"/>
              </a:spcBef>
              <a:spcAft>
                <a:spcPts val="200"/>
              </a:spcAft>
            </a:pPr>
            <a:r>
              <a:rPr sz="1500" b="1">
                <a:solidFill>
                  <a:srgbClr val="595652"/>
                </a:solidFill>
                <a:latin typeface="Calibri"/>
              </a:rPr>
              <a:t>¿Cuál usar?</a:t>
            </a:r>
          </a:p>
          <a:p>
            <a:pPr algn="l">
              <a:spcBef>
                <a:spcPts val="600"/>
              </a:spcBef>
              <a:spcAft>
                <a:spcPts val="200"/>
              </a:spcAft>
            </a:pPr>
            <a:r>
              <a:rPr sz="1350" b="0">
                <a:solidFill>
                  <a:srgbClr val="595652"/>
                </a:solidFill>
                <a:latin typeface="Calibri"/>
              </a:rPr>
              <a:t>Bonferroni: solo las p variables originales → intervalos más precisos.</a:t>
            </a:r>
          </a:p>
          <a:p>
            <a:pPr algn="l">
              <a:spcBef>
                <a:spcPts val="600"/>
              </a:spcBef>
              <a:spcAft>
                <a:spcPts val="200"/>
              </a:spcAft>
            </a:pPr>
            <a:r>
              <a:rPr sz="1350" b="0">
                <a:solidFill>
                  <a:srgbClr val="595652"/>
                </a:solidFill>
                <a:latin typeface="Calibri"/>
              </a:rPr>
              <a:t>T² (Roy): válidos para toda combinación lineal → más anchos.</a:t>
            </a:r>
          </a:p>
          <a:p>
            <a:pPr algn="l">
              <a:spcBef>
                <a:spcPts val="600"/>
              </a:spcBef>
              <a:spcAft>
                <a:spcPts val="200"/>
              </a:spcAft>
            </a:pPr>
            <a:r>
              <a:rPr sz="1350" b="0">
                <a:solidFill>
                  <a:srgbClr val="595652"/>
                </a:solidFill>
                <a:latin typeface="Calibri"/>
              </a:rPr>
              <a:t>Fuente: Mardia, Kent &amp; Bibby (1979), §5.5.1, nota (a).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68680"/>
          </a:xfrm>
          <a:prstGeom prst="rect">
            <a:avLst/>
          </a:prstGeom>
          <a:noFill/>
        </p:spPr>
        <p:txBody>
          <a:bodyPr wrap="square" lIns="73152" rIns="73152" tIns="36576" bIns="36576" anchor="ctr">
            <a:spAutoFit/>
          </a:bodyPr>
          <a:lstStyle/>
          <a:p>
            <a:pPr algn="l">
              <a:spcBef>
                <a:spcPts val="0"/>
              </a:spcBef>
              <a:spcAft>
                <a:spcPts val="200"/>
              </a:spcAft>
            </a:pPr>
            <a:r>
              <a:rPr sz="3200" b="1">
                <a:solidFill>
                  <a:srgbClr val="A6B727"/>
                </a:solidFill>
                <a:latin typeface="Calibri"/>
              </a:rPr>
              <a:t>IMPLEMENTACIÓN EN R</a:t>
            </a:r>
          </a:p>
        </p:txBody>
      </p:sp>
      <p:sp>
        <p:nvSpPr>
          <p:cNvPr id="4" name="Rectangle 3"/>
          <p:cNvSpPr/>
          <p:nvPr/>
        </p:nvSpPr>
        <p:spPr>
          <a:xfrm>
            <a:off x="822960" y="1463040"/>
            <a:ext cx="6309360" cy="4709160"/>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200"/>
              </a:spcAft>
            </a:pPr>
            <a:r>
              <a:rPr sz="1150" b="0">
                <a:solidFill>
                  <a:srgbClr val="333333"/>
                </a:solidFill>
                <a:latin typeface="Consolas"/>
              </a:rPr>
              <a:t># X: matriz de datos  n x p</a:t>
            </a:r>
          </a:p>
          <a:p>
            <a:pPr algn="l">
              <a:spcBef>
                <a:spcPts val="0"/>
              </a:spcBef>
              <a:spcAft>
                <a:spcPts val="200"/>
              </a:spcAft>
            </a:pPr>
            <a:r>
              <a:rPr sz="1150" b="0">
                <a:solidFill>
                  <a:srgbClr val="333333"/>
                </a:solidFill>
                <a:latin typeface="Consolas"/>
              </a:rPr>
              <a:t>library(ICSNP)   # T2 de Hotelling</a:t>
            </a:r>
          </a:p>
          <a:p>
            <a:pPr algn="l">
              <a:spcBef>
                <a:spcPts val="0"/>
              </a:spcBef>
              <a:spcAft>
                <a:spcPts val="200"/>
              </a:spcAft>
            </a:pPr>
            <a:r>
              <a:rPr sz="1150" b="0">
                <a:solidFill>
                  <a:srgbClr val="333333"/>
                </a:solidFill>
                <a:latin typeface="Consolas"/>
              </a:rPr>
              <a:t>library(MVN)     # normalidad multivariada</a:t>
            </a:r>
          </a:p>
          <a:p>
            <a:pPr algn="l">
              <a:spcBef>
                <a:spcPts val="0"/>
              </a:spcBef>
              <a:spcAft>
                <a:spcPts val="200"/>
              </a:spcAft>
            </a:pPr>
            <a:r>
              <a:rPr sz="1150" b="0">
                <a:solidFill>
                  <a:srgbClr val="333333"/>
                </a:solidFill>
                <a:latin typeface="Consolas"/>
              </a:rPr>
              <a:t>library(car)     # elipse de confianza</a:t>
            </a:r>
          </a:p>
          <a:p>
            <a:pPr algn="l">
              <a:spcBef>
                <a:spcPts val="0"/>
              </a:spcBef>
              <a:spcAft>
                <a:spcPts val="200"/>
              </a:spcAft>
            </a:pPr>
            <a:r>
              <a:rPr sz="1150" b="0">
                <a:solidFill>
                  <a:srgbClr val="333333"/>
                </a:solidFill>
                <a:latin typeface="Consolas"/>
              </a:rPr>
              <a:t> </a:t>
            </a:r>
          </a:p>
          <a:p>
            <a:pPr algn="l">
              <a:spcBef>
                <a:spcPts val="0"/>
              </a:spcBef>
              <a:spcAft>
                <a:spcPts val="200"/>
              </a:spcAft>
            </a:pPr>
            <a:r>
              <a:rPr sz="1150" b="0">
                <a:solidFill>
                  <a:srgbClr val="333333"/>
                </a:solidFill>
                <a:latin typeface="Consolas"/>
              </a:rPr>
              <a:t># 1) Normalidad multivariada (test de Mardia)</a:t>
            </a:r>
          </a:p>
          <a:p>
            <a:pPr algn="l">
              <a:spcBef>
                <a:spcPts val="0"/>
              </a:spcBef>
              <a:spcAft>
                <a:spcPts val="200"/>
              </a:spcAft>
            </a:pPr>
            <a:r>
              <a:rPr sz="1150" b="0">
                <a:solidFill>
                  <a:srgbClr val="333333"/>
                </a:solidFill>
                <a:latin typeface="Consolas"/>
              </a:rPr>
              <a:t>mvn(X, mvnTest = "mardia")</a:t>
            </a:r>
          </a:p>
          <a:p>
            <a:pPr algn="l">
              <a:spcBef>
                <a:spcPts val="0"/>
              </a:spcBef>
              <a:spcAft>
                <a:spcPts val="200"/>
              </a:spcAft>
            </a:pPr>
            <a:r>
              <a:rPr sz="1150" b="0">
                <a:solidFill>
                  <a:srgbClr val="333333"/>
                </a:solidFill>
                <a:latin typeface="Consolas"/>
              </a:rPr>
              <a:t> </a:t>
            </a:r>
          </a:p>
          <a:p>
            <a:pPr algn="l">
              <a:spcBef>
                <a:spcPts val="0"/>
              </a:spcBef>
              <a:spcAft>
                <a:spcPts val="200"/>
              </a:spcAft>
            </a:pPr>
            <a:r>
              <a:rPr sz="1150" b="0">
                <a:solidFill>
                  <a:srgbClr val="333333"/>
                </a:solidFill>
                <a:latin typeface="Consolas"/>
              </a:rPr>
              <a:t># 2) T2 de Hotelling:  H0: mu = mu0</a:t>
            </a:r>
          </a:p>
          <a:p>
            <a:pPr algn="l">
              <a:spcBef>
                <a:spcPts val="0"/>
              </a:spcBef>
              <a:spcAft>
                <a:spcPts val="200"/>
              </a:spcAft>
            </a:pPr>
            <a:r>
              <a:rPr sz="1150" b="0">
                <a:solidFill>
                  <a:srgbClr val="333333"/>
                </a:solidFill>
                <a:latin typeface="Consolas"/>
              </a:rPr>
              <a:t>HotellingsT2(X, mu = mu0)</a:t>
            </a:r>
          </a:p>
          <a:p>
            <a:pPr algn="l">
              <a:spcBef>
                <a:spcPts val="0"/>
              </a:spcBef>
              <a:spcAft>
                <a:spcPts val="200"/>
              </a:spcAft>
            </a:pPr>
            <a:r>
              <a:rPr sz="1150" b="0">
                <a:solidFill>
                  <a:srgbClr val="333333"/>
                </a:solidFill>
                <a:latin typeface="Consolas"/>
              </a:rPr>
              <a:t> </a:t>
            </a:r>
          </a:p>
          <a:p>
            <a:pPr algn="l">
              <a:spcBef>
                <a:spcPts val="0"/>
              </a:spcBef>
              <a:spcAft>
                <a:spcPts val="200"/>
              </a:spcAft>
            </a:pPr>
            <a:r>
              <a:rPr sz="1150" b="0">
                <a:solidFill>
                  <a:srgbClr val="333333"/>
                </a:solidFill>
                <a:latin typeface="Consolas"/>
              </a:rPr>
              <a:t># 3) Region de confianza (p = 2)</a:t>
            </a:r>
          </a:p>
          <a:p>
            <a:pPr algn="l">
              <a:spcBef>
                <a:spcPts val="0"/>
              </a:spcBef>
              <a:spcAft>
                <a:spcPts val="200"/>
              </a:spcAft>
            </a:pPr>
            <a:r>
              <a:rPr sz="1150" b="0">
                <a:solidFill>
                  <a:srgbClr val="333333"/>
                </a:solidFill>
                <a:latin typeface="Consolas"/>
              </a:rPr>
              <a:t>xbar &lt;- colMeans(X); S &lt;- cov(X); n &lt;- nrow(X)</a:t>
            </a:r>
          </a:p>
          <a:p>
            <a:pPr algn="l">
              <a:spcBef>
                <a:spcPts val="0"/>
              </a:spcBef>
              <a:spcAft>
                <a:spcPts val="200"/>
              </a:spcAft>
            </a:pPr>
            <a:r>
              <a:rPr sz="1150" b="0">
                <a:solidFill>
                  <a:srgbClr val="333333"/>
                </a:solidFill>
                <a:latin typeface="Consolas"/>
              </a:rPr>
              <a:t>car::ellipse(center = xbar, shape = S/n,</a:t>
            </a:r>
          </a:p>
          <a:p>
            <a:pPr algn="l">
              <a:spcBef>
                <a:spcPts val="0"/>
              </a:spcBef>
              <a:spcAft>
                <a:spcPts val="200"/>
              </a:spcAft>
            </a:pPr>
            <a:r>
              <a:rPr sz="1150" b="0">
                <a:solidFill>
                  <a:srgbClr val="333333"/>
                </a:solidFill>
                <a:latin typeface="Consolas"/>
              </a:rPr>
              <a:t>   radius = sqrt(2*(n-1)/(n-2) * qf(.95, 2, n-2)))</a:t>
            </a:r>
          </a:p>
          <a:p>
            <a:pPr algn="l">
              <a:spcBef>
                <a:spcPts val="0"/>
              </a:spcBef>
              <a:spcAft>
                <a:spcPts val="200"/>
              </a:spcAft>
            </a:pPr>
            <a:r>
              <a:rPr sz="1150" b="0">
                <a:solidFill>
                  <a:srgbClr val="333333"/>
                </a:solidFill>
                <a:latin typeface="Consolas"/>
              </a:rPr>
              <a:t> </a:t>
            </a:r>
          </a:p>
          <a:p>
            <a:pPr algn="l">
              <a:spcBef>
                <a:spcPts val="0"/>
              </a:spcBef>
              <a:spcAft>
                <a:spcPts val="200"/>
              </a:spcAft>
            </a:pPr>
            <a:r>
              <a:rPr sz="1150" b="0">
                <a:solidFill>
                  <a:srgbClr val="333333"/>
                </a:solidFill>
                <a:latin typeface="Consolas"/>
              </a:rPr>
              <a:t># 4) Criticos IC simultaneos: T2 y Bonferroni</a:t>
            </a:r>
          </a:p>
          <a:p>
            <a:pPr algn="l">
              <a:spcBef>
                <a:spcPts val="0"/>
              </a:spcBef>
              <a:spcAft>
                <a:spcPts val="200"/>
              </a:spcAft>
            </a:pPr>
            <a:r>
              <a:rPr sz="1150" b="0">
                <a:solidFill>
                  <a:srgbClr val="333333"/>
                </a:solidFill>
                <a:latin typeface="Consolas"/>
              </a:rPr>
              <a:t>p &lt;- ncol(X)</a:t>
            </a:r>
          </a:p>
          <a:p>
            <a:pPr algn="l">
              <a:spcBef>
                <a:spcPts val="0"/>
              </a:spcBef>
              <a:spcAft>
                <a:spcPts val="200"/>
              </a:spcAft>
            </a:pPr>
            <a:r>
              <a:rPr sz="1150" b="0">
                <a:solidFill>
                  <a:srgbClr val="333333"/>
                </a:solidFill>
                <a:latin typeface="Consolas"/>
              </a:rPr>
              <a:t>cT2 &lt;- sqrt(p*(n-1)/(n-p) * qf(.95, p, n-p))</a:t>
            </a:r>
          </a:p>
          <a:p>
            <a:pPr algn="l">
              <a:spcBef>
                <a:spcPts val="0"/>
              </a:spcBef>
              <a:spcAft>
                <a:spcPts val="200"/>
              </a:spcAft>
            </a:pPr>
            <a:r>
              <a:rPr sz="1150" b="0">
                <a:solidFill>
                  <a:srgbClr val="333333"/>
                </a:solidFill>
                <a:latin typeface="Consolas"/>
              </a:rPr>
              <a:t>cB  &lt;- qt(1 - .05/(2*p), n-1)</a:t>
            </a:r>
          </a:p>
        </p:txBody>
      </p:sp>
      <p:sp>
        <p:nvSpPr>
          <p:cNvPr id="5" name="Rectangle 4"/>
          <p:cNvSpPr/>
          <p:nvPr/>
        </p:nvSpPr>
        <p:spPr>
          <a:xfrm>
            <a:off x="7269480" y="1554480"/>
            <a:ext cx="4069080" cy="4297680"/>
          </a:xfrm>
          <a:prstGeom prst="rect">
            <a:avLst/>
          </a:prstGeom>
          <a:solidFill>
            <a:srgbClr val="F4F7E9"/>
          </a:solidFill>
          <a:ln w="12700">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36576"/>
          <a:lstStyle/>
          <a:p>
            <a:pPr algn="l">
              <a:spcBef>
                <a:spcPts val="0"/>
              </a:spcBef>
              <a:spcAft>
                <a:spcPts val="200"/>
              </a:spcAft>
            </a:pPr>
            <a:r>
              <a:rPr sz="1500" b="1">
                <a:solidFill>
                  <a:srgbClr val="595652"/>
                </a:solidFill>
                <a:latin typeface="Calibri"/>
              </a:rPr>
              <a:t>Explicación</a:t>
            </a:r>
          </a:p>
          <a:p>
            <a:pPr algn="l">
              <a:spcBef>
                <a:spcPts val="600"/>
              </a:spcBef>
              <a:spcAft>
                <a:spcPts val="200"/>
              </a:spcAft>
            </a:pPr>
            <a:r>
              <a:rPr sz="1350" b="0">
                <a:solidFill>
                  <a:srgbClr val="595652"/>
                </a:solidFill>
                <a:latin typeface="Calibri"/>
              </a:rPr>
              <a:t>ICSNP::HotellingsT2 entrega T², la F y el valor-p.</a:t>
            </a:r>
          </a:p>
          <a:p>
            <a:pPr algn="l">
              <a:spcBef>
                <a:spcPts val="600"/>
              </a:spcBef>
              <a:spcAft>
                <a:spcPts val="200"/>
              </a:spcAft>
            </a:pPr>
            <a:r>
              <a:rPr sz="1350" b="0">
                <a:solidFill>
                  <a:srgbClr val="595652"/>
                </a:solidFill>
                <a:latin typeface="Calibri"/>
              </a:rPr>
              <a:t>car::ellipse dibuja la región de confianza para μ.</a:t>
            </a:r>
          </a:p>
          <a:p>
            <a:pPr algn="l">
              <a:spcBef>
                <a:spcPts val="600"/>
              </a:spcBef>
              <a:spcAft>
                <a:spcPts val="200"/>
              </a:spcAft>
            </a:pPr>
            <a:r>
              <a:rPr sz="1350" b="0">
                <a:solidFill>
                  <a:srgbClr val="595652"/>
                </a:solidFill>
                <a:latin typeface="Calibri"/>
              </a:rPr>
              <a:t>cT2 y cB construyen los IC simultáneos (T²) y de Bonferroni por variable.</a:t>
            </a:r>
          </a:p>
          <a:p>
            <a:pPr algn="l">
              <a:spcBef>
                <a:spcPts val="600"/>
              </a:spcBef>
              <a:spcAft>
                <a:spcPts val="200"/>
              </a:spcAft>
            </a:pPr>
            <a:r>
              <a:rPr sz="1350" b="0">
                <a:solidFill>
                  <a:srgbClr val="595652"/>
                </a:solidFill>
                <a:latin typeface="Calibri"/>
              </a:rPr>
              <a:t>Fuentes: Manual de R (F. Hernández); paquetes ICSNP, MVN y car.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tIns="54864" bIns="36576" anchor="ctr">
            <a:spAutoFit/>
          </a:bodyPr>
          <a:lstStyle/>
          <a:p>
            <a:pPr algn="l">
              <a:spcBef>
                <a:spcPts val="0"/>
              </a:spcBef>
              <a:spcAft>
                <a:spcPts val="100"/>
              </a:spcAft>
            </a:pPr>
            <a:r>
              <a:rPr sz="2200" b="1">
                <a:solidFill>
                  <a:srgbClr val="A6B727"/>
                </a:solidFill>
                <a:latin typeface="Calibri"/>
              </a:rPr>
              <a:t>EJEMPLO EN R: CORTEZA — T² DE HOTELLING (CÓDIGO Y RESULTADO)</a:t>
            </a:r>
          </a:p>
        </p:txBody>
      </p:sp>
      <p:sp>
        <p:nvSpPr>
          <p:cNvPr id="4" name="Rectangle 3"/>
          <p:cNvSpPr/>
          <p:nvPr/>
        </p:nvSpPr>
        <p:spPr>
          <a:xfrm>
            <a:off x="822960" y="1371600"/>
            <a:ext cx="6126480" cy="3977639"/>
          </a:xfrm>
          <a:prstGeom prst="rect">
            <a:avLst/>
          </a:prstGeom>
          <a:solidFill>
            <a:srgbClr val="F2F2F2"/>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00" b="0">
                <a:solidFill>
                  <a:srgbClr val="333333"/>
                </a:solidFill>
                <a:latin typeface="Consolas"/>
              </a:rPr>
              <a:t># Corteza: 28 arboles, 4 direcciones (N,E,S,W)</a:t>
            </a:r>
          </a:p>
          <a:p>
            <a:pPr algn="l">
              <a:spcBef>
                <a:spcPts val="0"/>
              </a:spcBef>
              <a:spcAft>
                <a:spcPts val="100"/>
              </a:spcAft>
            </a:pPr>
            <a:r>
              <a:rPr sz="1100" b="0">
                <a:solidFill>
                  <a:srgbClr val="333333"/>
                </a:solidFill>
                <a:latin typeface="Consolas"/>
              </a:rPr>
              <a:t>cork &lt;- read.csv("cork.csv"); n &lt;- nrow(cork)</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H0: el deposito es igual en las 4 direcciones</a:t>
            </a:r>
          </a:p>
          <a:p>
            <a:pPr algn="l">
              <a:spcBef>
                <a:spcPts val="0"/>
              </a:spcBef>
              <a:spcAft>
                <a:spcPts val="100"/>
              </a:spcAft>
            </a:pPr>
            <a:r>
              <a:rPr sz="1100" b="0">
                <a:solidFill>
                  <a:srgbClr val="333333"/>
                </a:solidFill>
                <a:latin typeface="Consolas"/>
              </a:rPr>
              <a:t># 3 contrastes ortogonales:</a:t>
            </a:r>
          </a:p>
          <a:p>
            <a:pPr algn="l">
              <a:spcBef>
                <a:spcPts val="0"/>
              </a:spcBef>
              <a:spcAft>
                <a:spcPts val="100"/>
              </a:spcAft>
            </a:pPr>
            <a:r>
              <a:rPr sz="1100" b="0">
                <a:solidFill>
                  <a:srgbClr val="333333"/>
                </a:solidFill>
                <a:latin typeface="Consolas"/>
              </a:rPr>
              <a:t>R &lt;- rbind(c(1,-1, 1,-1),   # (N+S)-(E+W)</a:t>
            </a:r>
          </a:p>
          <a:p>
            <a:pPr algn="l">
              <a:spcBef>
                <a:spcPts val="0"/>
              </a:spcBef>
              <a:spcAft>
                <a:spcPts val="100"/>
              </a:spcAft>
            </a:pPr>
            <a:r>
              <a:rPr sz="1100" b="0">
                <a:solidFill>
                  <a:srgbClr val="333333"/>
                </a:solidFill>
                <a:latin typeface="Consolas"/>
              </a:rPr>
              <a:t>           c(1, 0,-1, 0),   # N - S</a:t>
            </a:r>
          </a:p>
          <a:p>
            <a:pPr algn="l">
              <a:spcBef>
                <a:spcPts val="0"/>
              </a:spcBef>
              <a:spcAft>
                <a:spcPts val="100"/>
              </a:spcAft>
            </a:pPr>
            <a:r>
              <a:rPr sz="1100" b="0">
                <a:solidFill>
                  <a:srgbClr val="333333"/>
                </a:solidFill>
                <a:latin typeface="Consolas"/>
              </a:rPr>
              <a:t>           c(0, 1, 0,-1))   # E - W</a:t>
            </a:r>
          </a:p>
          <a:p>
            <a:pPr algn="l">
              <a:spcBef>
                <a:spcPts val="0"/>
              </a:spcBef>
              <a:spcAft>
                <a:spcPts val="100"/>
              </a:spcAft>
            </a:pPr>
            <a:r>
              <a:rPr sz="1100" b="0">
                <a:solidFill>
                  <a:srgbClr val="333333"/>
                </a:solidFill>
                <a:latin typeface="Consolas"/>
              </a:rPr>
              <a:t>Y &lt;- as.matrix(cork) %*% t(R)</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T2 de Hotelling de una muestra: H0: E(Y)=0</a:t>
            </a:r>
          </a:p>
          <a:p>
            <a:pPr algn="l">
              <a:spcBef>
                <a:spcPts val="0"/>
              </a:spcBef>
              <a:spcAft>
                <a:spcPts val="100"/>
              </a:spcAft>
            </a:pPr>
            <a:r>
              <a:rPr sz="1100" b="0">
                <a:solidFill>
                  <a:srgbClr val="333333"/>
                </a:solidFill>
                <a:latin typeface="Consolas"/>
              </a:rPr>
              <a:t>library(ICSNP)</a:t>
            </a:r>
          </a:p>
          <a:p>
            <a:pPr algn="l">
              <a:spcBef>
                <a:spcPts val="0"/>
              </a:spcBef>
              <a:spcAft>
                <a:spcPts val="100"/>
              </a:spcAft>
            </a:pPr>
            <a:r>
              <a:rPr sz="1100" b="0">
                <a:solidFill>
                  <a:srgbClr val="333333"/>
                </a:solidFill>
                <a:latin typeface="Consolas"/>
              </a:rPr>
              <a:t>HotellingsT2(Y, mu = c(0,0,0))</a:t>
            </a:r>
          </a:p>
          <a:p>
            <a:pPr algn="l">
              <a:spcBef>
                <a:spcPts val="0"/>
              </a:spcBef>
              <a:spcAft>
                <a:spcPts val="100"/>
              </a:spcAft>
            </a:pPr>
            <a:r>
              <a:rPr sz="1100" b="0">
                <a:solidFill>
                  <a:srgbClr val="333333"/>
                </a:solidFill>
                <a:latin typeface="Consolas"/>
              </a:rPr>
              <a:t> </a:t>
            </a:r>
          </a:p>
          <a:p>
            <a:pPr algn="l">
              <a:spcBef>
                <a:spcPts val="0"/>
              </a:spcBef>
              <a:spcAft>
                <a:spcPts val="100"/>
              </a:spcAft>
            </a:pPr>
            <a:r>
              <a:rPr sz="1100" b="0">
                <a:solidFill>
                  <a:srgbClr val="333333"/>
                </a:solidFill>
                <a:latin typeface="Consolas"/>
              </a:rPr>
              <a:t># IC simultaneos 95% por contraste</a:t>
            </a:r>
          </a:p>
          <a:p>
            <a:pPr algn="l">
              <a:spcBef>
                <a:spcPts val="0"/>
              </a:spcBef>
              <a:spcAft>
                <a:spcPts val="100"/>
              </a:spcAft>
            </a:pPr>
            <a:r>
              <a:rPr sz="1100" b="0">
                <a:solidFill>
                  <a:srgbClr val="333333"/>
                </a:solidFill>
                <a:latin typeface="Consolas"/>
              </a:rPr>
              <a:t>q&lt;-ncol(Y); yb&lt;-colMeans(Y); S&lt;-cov(Y)</a:t>
            </a:r>
          </a:p>
          <a:p>
            <a:pPr algn="l">
              <a:spcBef>
                <a:spcPts val="0"/>
              </a:spcBef>
              <a:spcAft>
                <a:spcPts val="100"/>
              </a:spcAft>
            </a:pPr>
            <a:r>
              <a:rPr sz="1100" b="0">
                <a:solidFill>
                  <a:srgbClr val="333333"/>
                </a:solidFill>
                <a:latin typeface="Consolas"/>
              </a:rPr>
              <a:t>cr&lt;-sqrt(q*(n-1)/(n-q)*qf(.95,q,n-q))</a:t>
            </a:r>
          </a:p>
          <a:p>
            <a:pPr algn="l">
              <a:spcBef>
                <a:spcPts val="0"/>
              </a:spcBef>
              <a:spcAft>
                <a:spcPts val="100"/>
              </a:spcAft>
            </a:pPr>
            <a:r>
              <a:rPr sz="1100" b="0">
                <a:solidFill>
                  <a:srgbClr val="333333"/>
                </a:solidFill>
                <a:latin typeface="Consolas"/>
              </a:rPr>
              <a:t>se&lt;-sqrt(diag(S)/n)</a:t>
            </a:r>
          </a:p>
          <a:p>
            <a:pPr algn="l">
              <a:spcBef>
                <a:spcPts val="0"/>
              </a:spcBef>
              <a:spcAft>
                <a:spcPts val="100"/>
              </a:spcAft>
            </a:pPr>
            <a:r>
              <a:rPr sz="1100" b="0">
                <a:solidFill>
                  <a:srgbClr val="333333"/>
                </a:solidFill>
                <a:latin typeface="Consolas"/>
              </a:rPr>
              <a:t>cbind(yb-cr*se, yb+cr*se)</a:t>
            </a:r>
          </a:p>
        </p:txBody>
      </p:sp>
      <p:sp>
        <p:nvSpPr>
          <p:cNvPr id="5" name="TextBox 4"/>
          <p:cNvSpPr txBox="1"/>
          <p:nvPr/>
        </p:nvSpPr>
        <p:spPr>
          <a:xfrm>
            <a:off x="822960" y="5486400"/>
            <a:ext cx="6126480" cy="777240"/>
          </a:xfrm>
          <a:prstGeom prst="rect">
            <a:avLst/>
          </a:prstGeom>
          <a:noFill/>
        </p:spPr>
        <p:txBody>
          <a:bodyPr wrap="square" lIns="73152" rIns="73152" tIns="54864" bIns="36576">
            <a:spAutoFit/>
          </a:bodyPr>
          <a:lstStyle/>
          <a:p>
            <a:pPr algn="l">
              <a:spcBef>
                <a:spcPts val="0"/>
              </a:spcBef>
              <a:spcAft>
                <a:spcPts val="100"/>
              </a:spcAft>
            </a:pPr>
            <a:r>
              <a:rPr sz="1200" b="1">
                <a:solidFill>
                  <a:srgbClr val="262626"/>
                </a:solidFill>
                <a:latin typeface="Calibri"/>
              </a:rPr>
              <a:t>Conclusión: </a:t>
            </a:r>
            <a:r>
              <a:rPr sz="1200" b="1">
                <a:solidFill>
                  <a:srgbClr val="262626"/>
                </a:solidFill>
                <a:latin typeface="Calibri"/>
              </a:rPr>
              <a:t>F = 6.40 &gt; F₀.₀₁(3,25) = 4.68  (p = 0.0023)</a:t>
            </a:r>
            <a:r>
              <a:rPr sz="1200" b="0">
                <a:solidFill>
                  <a:srgbClr val="262626"/>
                </a:solidFill>
                <a:latin typeface="Calibri"/>
              </a:rPr>
              <a:t> → se rechaza H₀: el depósito NO es igual en las 4 direcciones; solo (N+S)-(E+W) excluye el 0.</a:t>
            </a:r>
          </a:p>
        </p:txBody>
      </p:sp>
      <p:sp>
        <p:nvSpPr>
          <p:cNvPr id="6" name="Rectangle 5"/>
          <p:cNvSpPr/>
          <p:nvPr/>
        </p:nvSpPr>
        <p:spPr>
          <a:xfrm>
            <a:off x="7086600" y="1371600"/>
            <a:ext cx="4160520" cy="2148840"/>
          </a:xfrm>
          <a:prstGeom prst="rect">
            <a:avLst/>
          </a:prstGeom>
          <a:solidFill>
            <a:srgbClr val="2B2B2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150" b="1">
                <a:solidFill>
                  <a:srgbClr val="A6B727"/>
                </a:solidFill>
                <a:latin typeface="Calibri"/>
              </a:rPr>
              <a:t>Salida en R</a:t>
            </a:r>
          </a:p>
          <a:p>
            <a:pPr algn="l">
              <a:spcBef>
                <a:spcPts val="300"/>
              </a:spcBef>
              <a:spcAft>
                <a:spcPts val="100"/>
              </a:spcAft>
            </a:pPr>
            <a:r>
              <a:rPr sz="1150" b="0">
                <a:solidFill>
                  <a:srgbClr val="EAEAEA"/>
                </a:solidFill>
                <a:latin typeface="Consolas"/>
              </a:rPr>
              <a:t>T² = 20.74   F = 6.40   df = (3,25)</a:t>
            </a:r>
          </a:p>
          <a:p>
            <a:pPr algn="l">
              <a:spcBef>
                <a:spcPts val="300"/>
              </a:spcBef>
              <a:spcAft>
                <a:spcPts val="100"/>
              </a:spcAft>
            </a:pPr>
            <a:r>
              <a:rPr sz="1150" b="0">
                <a:solidFill>
                  <a:srgbClr val="EAEAEA"/>
                </a:solidFill>
                <a:latin typeface="Consolas"/>
              </a:rPr>
              <a:t>valor-p = 0.0023</a:t>
            </a:r>
          </a:p>
          <a:p>
            <a:pPr algn="l">
              <a:spcBef>
                <a:spcPts val="300"/>
              </a:spcBef>
              <a:spcAft>
                <a:spcPts val="100"/>
              </a:spcAft>
            </a:pPr>
            <a:r>
              <a:rPr sz="1150" b="0">
                <a:solidFill>
                  <a:srgbClr val="EAEAEA"/>
                </a:solidFill>
                <a:latin typeface="Consolas"/>
              </a:rPr>
              <a:t>(N+S)-(E+W): [2.18, 15.53] *</a:t>
            </a:r>
          </a:p>
          <a:p>
            <a:pPr algn="l">
              <a:spcBef>
                <a:spcPts val="300"/>
              </a:spcBef>
              <a:spcAft>
                <a:spcPts val="100"/>
              </a:spcAft>
            </a:pPr>
            <a:r>
              <a:rPr sz="1150" b="0">
                <a:solidFill>
                  <a:srgbClr val="EAEAEA"/>
                </a:solidFill>
                <a:latin typeface="Consolas"/>
              </a:rPr>
              <a:t>N-S: [-3.83, 5.55]  E-W: [-4.98, 6.98]</a:t>
            </a:r>
          </a:p>
        </p:txBody>
      </p:sp>
      <p:sp>
        <p:nvSpPr>
          <p:cNvPr id="7" name="Rectangle 6"/>
          <p:cNvSpPr/>
          <p:nvPr/>
        </p:nvSpPr>
        <p:spPr>
          <a:xfrm>
            <a:off x="7086600" y="3703320"/>
            <a:ext cx="4160520" cy="256032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tIns="109728" bIns="36576"/>
          <a:lstStyle/>
          <a:p>
            <a:pPr algn="l">
              <a:spcBef>
                <a:spcPts val="0"/>
              </a:spcBef>
              <a:spcAft>
                <a:spcPts val="100"/>
              </a:spcAft>
            </a:pPr>
            <a:r>
              <a:rPr sz="1200" b="1">
                <a:solidFill>
                  <a:srgbClr val="A6B727"/>
                </a:solidFill>
                <a:latin typeface="Calibri"/>
              </a:rPr>
              <a:t>Interpretación</a:t>
            </a:r>
          </a:p>
          <a:p>
            <a:pPr algn="l">
              <a:spcBef>
                <a:spcPts val="300"/>
              </a:spcBef>
              <a:spcAft>
                <a:spcPts val="100"/>
              </a:spcAft>
            </a:pPr>
            <a:r>
              <a:rPr sz="1000" b="0">
                <a:solidFill>
                  <a:srgbClr val="595652"/>
                </a:solidFill>
                <a:latin typeface="Calibri"/>
              </a:rPr>
              <a:t>Hotelling's one-sample T2-test</a:t>
            </a:r>
          </a:p>
          <a:p>
            <a:pPr algn="l">
              <a:spcBef>
                <a:spcPts val="300"/>
              </a:spcBef>
              <a:spcAft>
                <a:spcPts val="100"/>
              </a:spcAft>
            </a:pPr>
            <a:r>
              <a:rPr sz="1000" b="0">
                <a:solidFill>
                  <a:srgbClr val="595652"/>
                </a:solidFill>
                <a:latin typeface="Calibri"/>
              </a:rPr>
              <a:t>T2 = 20.74   F = 6.40   df = (3, 25)</a:t>
            </a:r>
          </a:p>
          <a:p>
            <a:pPr algn="l">
              <a:spcBef>
                <a:spcPts val="300"/>
              </a:spcBef>
              <a:spcAft>
                <a:spcPts val="100"/>
              </a:spcAft>
            </a:pPr>
            <a:r>
              <a:rPr sz="1000" b="0">
                <a:solidFill>
                  <a:srgbClr val="595652"/>
                </a:solidFill>
                <a:latin typeface="Calibri"/>
              </a:rPr>
              <a:t>valor-p = 0.0023</a:t>
            </a:r>
          </a:p>
          <a:p>
            <a:pPr algn="l">
              <a:spcBef>
                <a:spcPts val="300"/>
              </a:spcBef>
              <a:spcAft>
                <a:spcPts val="100"/>
              </a:spcAft>
            </a:pPr>
            <a:r>
              <a:rPr sz="1000" b="0">
                <a:solidFill>
                  <a:srgbClr val="595652"/>
                </a:solidFill>
                <a:latin typeface="Calibri"/>
              </a:rPr>
              <a:t>IC simultaneos 95%          inferior  superior</a:t>
            </a:r>
          </a:p>
          <a:p>
            <a:pPr algn="l">
              <a:spcBef>
                <a:spcPts val="300"/>
              </a:spcBef>
              <a:spcAft>
                <a:spcPts val="100"/>
              </a:spcAft>
            </a:pPr>
            <a:r>
              <a:rPr sz="1000" b="0">
                <a:solidFill>
                  <a:srgbClr val="595652"/>
                </a:solidFill>
                <a:latin typeface="Calibri"/>
              </a:rPr>
              <a:t>(N+S)-(E+W)   8.86          2.18     15.53   *</a:t>
            </a:r>
          </a:p>
          <a:p>
            <a:pPr algn="l">
              <a:spcBef>
                <a:spcPts val="300"/>
              </a:spcBef>
              <a:spcAft>
                <a:spcPts val="100"/>
              </a:spcAft>
            </a:pPr>
            <a:r>
              <a:rPr sz="1000" b="0">
                <a:solidFill>
                  <a:srgbClr val="595652"/>
                </a:solidFill>
                <a:latin typeface="Calibri"/>
              </a:rPr>
              <a:t>N - S         0.86         -3.83      5.55</a:t>
            </a:r>
          </a:p>
          <a:p>
            <a:pPr algn="l">
              <a:spcBef>
                <a:spcPts val="300"/>
              </a:spcBef>
              <a:spcAft>
                <a:spcPts val="100"/>
              </a:spcAft>
            </a:pPr>
            <a:r>
              <a:rPr sz="1000" b="0">
                <a:solidFill>
                  <a:srgbClr val="595652"/>
                </a:solidFill>
                <a:latin typeface="Calibri"/>
              </a:rPr>
              <a:t>E - W         1.00         -4.98      6.98</a:t>
            </a:r>
          </a:p>
          <a:p>
            <a:pPr algn="l">
              <a:spcBef>
                <a:spcPts val="300"/>
              </a:spcBef>
              <a:spcAft>
                <a:spcPts val="100"/>
              </a:spcAft>
            </a:pPr>
            <a:r>
              <a:rPr sz="1000" b="0">
                <a:solidFill>
                  <a:srgbClr val="595652"/>
                </a:solidFill>
                <a:latin typeface="Calibri"/>
              </a:rPr>
              <a:t>(* el intervalo no contiene 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bIns="27432" anchor="ctr">
            <a:spAutoFit/>
          </a:bodyPr>
          <a:lstStyle/>
          <a:p>
            <a:pPr algn="l">
              <a:spcBef>
                <a:spcPts val="0"/>
              </a:spcBef>
              <a:spcAft>
                <a:spcPts val="100"/>
              </a:spcAft>
            </a:pPr>
            <a:r>
              <a:rPr sz="2100" b="1">
                <a:solidFill>
                  <a:srgbClr val="A6B727"/>
                </a:solidFill>
                <a:latin typeface="Calibri"/>
              </a:rPr>
              <a:t>EJEMPLO: COCIENTE DE VARIANZAS — PLANTEAMIENTO Y RESOLUCIÓN</a:t>
            </a:r>
          </a:p>
        </p:txBody>
      </p:sp>
      <p:sp>
        <p:nvSpPr>
          <p:cNvPr id="4" name="TextBox 3"/>
          <p:cNvSpPr txBox="1"/>
          <p:nvPr/>
        </p:nvSpPr>
        <p:spPr>
          <a:xfrm>
            <a:off x="822960" y="1371600"/>
            <a:ext cx="5852160" cy="1828800"/>
          </a:xfrm>
          <a:prstGeom prst="rect">
            <a:avLst/>
          </a:prstGeom>
          <a:noFill/>
        </p:spPr>
        <p:txBody>
          <a:bodyPr wrap="square" lIns="73152" rIns="73152" bIns="27432">
            <a:spAutoFit/>
          </a:bodyPr>
          <a:lstStyle/>
          <a:p>
            <a:pPr algn="l">
              <a:spcBef>
                <a:spcPts val="0"/>
              </a:spcBef>
              <a:spcAft>
                <a:spcPts val="100"/>
              </a:spcAft>
            </a:pPr>
            <a:r>
              <a:rPr sz="1250" b="1">
                <a:solidFill>
                  <a:srgbClr val="A6B727"/>
                </a:solidFill>
                <a:latin typeface="Calibri"/>
              </a:rPr>
              <a:t>El problema</a:t>
            </a:r>
          </a:p>
          <a:p>
            <a:pPr algn="l">
              <a:spcBef>
                <a:spcPts val="200"/>
              </a:spcBef>
              <a:spcAft>
                <a:spcPts val="100"/>
              </a:spcAft>
            </a:pPr>
            <a:r>
              <a:rPr sz="1150" b="0">
                <a:solidFill>
                  <a:srgbClr val="262626"/>
                </a:solidFill>
                <a:latin typeface="Calibri"/>
              </a:rPr>
              <a:t>El mercado inmobiliario en Chile está sufriendo constantes cambios. Un experto economista afirma que la variabilidad del precio de las viviendas nuevas en Santiago es diferente a la variabilidad en Concepción.</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Muestras: 23 viviendas en Santiago (s = 120 MM), 28 en Concepción (s = 99.3 MM).</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¿Existe evidencia para afirmar que hay mayor variabilidad en una población que en otra? Suponga distribución normal. α = 5%.</a:t>
            </a:r>
          </a:p>
        </p:txBody>
      </p:sp>
      <p:sp>
        <p:nvSpPr>
          <p:cNvPr id="5" name="TextBox 4"/>
          <p:cNvSpPr txBox="1"/>
          <p:nvPr/>
        </p:nvSpPr>
        <p:spPr>
          <a:xfrm>
            <a:off x="822960" y="3291840"/>
            <a:ext cx="5852160" cy="2926080"/>
          </a:xfrm>
          <a:prstGeom prst="rect">
            <a:avLst/>
          </a:prstGeom>
          <a:noFill/>
        </p:spPr>
        <p:txBody>
          <a:bodyPr wrap="square" lIns="73152" rIns="73152" bIns="27432">
            <a:spAutoFit/>
          </a:bodyPr>
          <a:lstStyle/>
          <a:p>
            <a:pPr algn="l">
              <a:spcBef>
                <a:spcPts val="0"/>
              </a:spcBef>
              <a:spcAft>
                <a:spcPts val="100"/>
              </a:spcAft>
            </a:pPr>
            <a:r>
              <a:rPr sz="1300" b="1">
                <a:solidFill>
                  <a:srgbClr val="A6B727"/>
                </a:solidFill>
                <a:latin typeface="Calibri"/>
              </a:rPr>
              <a:t>Planteamiento</a:t>
            </a:r>
          </a:p>
          <a:p>
            <a:pPr algn="l">
              <a:spcBef>
                <a:spcPts val="200"/>
              </a:spcBef>
              <a:spcAft>
                <a:spcPts val="100"/>
              </a:spcAft>
            </a:pPr>
            <a:r>
              <a:rPr sz="1200" b="0">
                <a:solidFill>
                  <a:srgbClr val="262626"/>
                </a:solidFill>
                <a:latin typeface="Calibri"/>
              </a:rPr>
              <a:t/>
            </a:r>
          </a:p>
          <a:p>
            <a:pPr algn="l">
              <a:spcBef>
                <a:spcPts val="200"/>
              </a:spcBef>
              <a:spcAft>
                <a:spcPts val="100"/>
              </a:spcAft>
            </a:pPr>
            <a:r>
              <a:rPr sz="1200" b="0">
                <a:solidFill>
                  <a:srgbClr val="262626"/>
                </a:solidFill>
                <a:latin typeface="Calibri"/>
              </a:rPr>
              <a:t>H₀: σ₁² = σ₂² (varianzas iguales)</a:t>
            </a:r>
          </a:p>
          <a:p>
            <a:pPr algn="l">
              <a:spcBef>
                <a:spcPts val="200"/>
              </a:spcBef>
              <a:spcAft>
                <a:spcPts val="100"/>
              </a:spcAft>
            </a:pPr>
            <a:r>
              <a:rPr sz="1200" b="0">
                <a:solidFill>
                  <a:srgbClr val="262626"/>
                </a:solidFill>
                <a:latin typeface="Calibri"/>
              </a:rPr>
              <a:t>H₁: σ₁² ≠ σ₂² (varianzas diferentes)</a:t>
            </a:r>
          </a:p>
          <a:p>
            <a:pPr algn="l">
              <a:spcBef>
                <a:spcPts val="200"/>
              </a:spcBef>
              <a:spcAft>
                <a:spcPts val="100"/>
              </a:spcAft>
            </a:pPr>
            <a:r>
              <a:rPr sz="1200" b="0">
                <a:solidFill>
                  <a:srgbClr val="262626"/>
                </a:solidFill>
                <a:latin typeface="Calibri"/>
              </a:rPr>
              <a:t>α = 0.05</a:t>
            </a:r>
          </a:p>
          <a:p>
            <a:pPr algn="l">
              <a:spcBef>
                <a:spcPts val="200"/>
              </a:spcBef>
              <a:spcAft>
                <a:spcPts val="100"/>
              </a:spcAft>
            </a:pPr>
            <a:r>
              <a:rPr sz="1200" b="0">
                <a:solidFill>
                  <a:srgbClr val="262626"/>
                </a:solidFill>
                <a:latin typeface="Calibri"/>
              </a:rPr>
              <a:t/>
            </a:r>
          </a:p>
          <a:p>
            <a:pPr algn="l">
              <a:spcBef>
                <a:spcPts val="200"/>
              </a:spcBef>
              <a:spcAft>
                <a:spcPts val="100"/>
              </a:spcAft>
            </a:pPr>
            <a:r>
              <a:rPr sz="1200" b="0">
                <a:solidFill>
                  <a:srgbClr val="262626"/>
                </a:solidFill>
                <a:latin typeface="Calibri"/>
              </a:rPr>
              <a:t>Estadístico: F = s₁²/s₂² = 120²/99.3²</a:t>
            </a:r>
          </a:p>
          <a:p>
            <a:pPr algn="l">
              <a:spcBef>
                <a:spcPts val="200"/>
              </a:spcBef>
              <a:spcAft>
                <a:spcPts val="100"/>
              </a:spcAft>
            </a:pPr>
            <a:r>
              <a:rPr sz="1200" b="0">
                <a:solidFill>
                  <a:srgbClr val="262626"/>
                </a:solidFill>
                <a:latin typeface="Calibri"/>
              </a:rPr>
              <a:t/>
            </a:r>
          </a:p>
          <a:p>
            <a:pPr algn="l">
              <a:spcBef>
                <a:spcPts val="200"/>
              </a:spcBef>
              <a:spcAft>
                <a:spcPts val="100"/>
              </a:spcAft>
            </a:pPr>
            <a:r>
              <a:rPr sz="1200" b="0">
                <a:solidFill>
                  <a:srgbClr val="262626"/>
                </a:solidFill>
                <a:latin typeface="Calibri"/>
              </a:rPr>
              <a:t>Grados de libertad:</a:t>
            </a:r>
          </a:p>
          <a:p>
            <a:pPr algn="l">
              <a:spcBef>
                <a:spcPts val="200"/>
              </a:spcBef>
              <a:spcAft>
                <a:spcPts val="100"/>
              </a:spcAft>
            </a:pPr>
            <a:r>
              <a:rPr sz="1200" b="0">
                <a:solidFill>
                  <a:srgbClr val="262626"/>
                </a:solidFill>
                <a:latin typeface="Calibri"/>
              </a:rPr>
              <a:t>df₁ = 23-1 = 22</a:t>
            </a:r>
          </a:p>
          <a:p>
            <a:pPr algn="l">
              <a:spcBef>
                <a:spcPts val="200"/>
              </a:spcBef>
              <a:spcAft>
                <a:spcPts val="100"/>
              </a:spcAft>
            </a:pPr>
            <a:r>
              <a:rPr sz="1200" b="0">
                <a:solidFill>
                  <a:srgbClr val="262626"/>
                </a:solidFill>
                <a:latin typeface="Calibri"/>
              </a:rPr>
              <a:t>df₂ = 28-1 = 27</a:t>
            </a:r>
          </a:p>
          <a:p>
            <a:pPr algn="l">
              <a:spcBef>
                <a:spcPts val="200"/>
              </a:spcBef>
              <a:spcAft>
                <a:spcPts val="100"/>
              </a:spcAft>
            </a:pPr>
            <a:r>
              <a:rPr sz="1200" b="0">
                <a:solidFill>
                  <a:srgbClr val="262626"/>
                </a:solidFill>
                <a:latin typeface="Calibri"/>
              </a:rPr>
              <a:t/>
            </a:r>
          </a:p>
          <a:p>
            <a:pPr algn="l">
              <a:spcBef>
                <a:spcPts val="200"/>
              </a:spcBef>
              <a:spcAft>
                <a:spcPts val="100"/>
              </a:spcAft>
            </a:pPr>
            <a:r>
              <a:rPr sz="1200" b="0">
                <a:solidFill>
                  <a:srgbClr val="262626"/>
                </a:solidFill>
                <a:latin typeface="Calibri"/>
              </a:rPr>
              <a:t>Se busca el valor crítico en la tabla F con (22, 27) gl.</a:t>
            </a:r>
          </a:p>
        </p:txBody>
      </p:sp>
      <p:pic>
        <p:nvPicPr>
          <p:cNvPr id="6" name="Picture 5" descr="image.png"/>
          <p:cNvPicPr>
            <a:picLocks noChangeAspect="1"/>
          </p:cNvPicPr>
          <p:nvPr/>
        </p:nvPicPr>
        <p:blipFill>
          <a:blip r:embed="rId2"/>
          <a:stretch>
            <a:fillRect/>
          </a:stretch>
        </p:blipFill>
        <p:spPr>
          <a:xfrm>
            <a:off x="6903720" y="1463040"/>
            <a:ext cx="4206240" cy="297787"/>
          </a:xfrm>
          <a:prstGeom prst="rect">
            <a:avLst/>
          </a:prstGeom>
        </p:spPr>
      </p:pic>
      <p:pic>
        <p:nvPicPr>
          <p:cNvPr id="7" name="Picture 6" descr="image.png"/>
          <p:cNvPicPr>
            <a:picLocks noChangeAspect="1"/>
          </p:cNvPicPr>
          <p:nvPr/>
        </p:nvPicPr>
        <p:blipFill>
          <a:blip r:embed="rId3"/>
          <a:stretch>
            <a:fillRect/>
          </a:stretch>
        </p:blipFill>
        <p:spPr>
          <a:xfrm>
            <a:off x="6903720" y="2331720"/>
            <a:ext cx="4206240" cy="1169948"/>
          </a:xfrm>
          <a:prstGeom prst="rect">
            <a:avLst/>
          </a:prstGeom>
        </p:spPr>
      </p:pic>
      <p:sp>
        <p:nvSpPr>
          <p:cNvPr id="8" name="Rectangle 7"/>
          <p:cNvSpPr/>
          <p:nvPr/>
        </p:nvSpPr>
        <p:spPr>
          <a:xfrm>
            <a:off x="6903720" y="4572000"/>
            <a:ext cx="4343400" cy="169164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bIns="27432"/>
          <a:lstStyle/>
          <a:p>
            <a:pPr algn="l">
              <a:spcBef>
                <a:spcPts val="0"/>
              </a:spcBef>
              <a:spcAft>
                <a:spcPts val="100"/>
              </a:spcAft>
            </a:pPr>
            <a:r>
              <a:rPr sz="1150" b="1">
                <a:solidFill>
                  <a:srgbClr val="A6B727"/>
                </a:solidFill>
                <a:latin typeface="Calibri"/>
              </a:rPr>
              <a:t>Interpretación</a:t>
            </a:r>
          </a:p>
          <a:p>
            <a:pPr algn="l">
              <a:spcBef>
                <a:spcPts val="300"/>
              </a:spcBef>
              <a:spcAft>
                <a:spcPts val="100"/>
              </a:spcAft>
            </a:pPr>
            <a:r>
              <a:rPr sz="1050" b="0">
                <a:solidFill>
                  <a:srgbClr val="595652"/>
                </a:solidFill>
                <a:latin typeface="Calibri"/>
              </a:rPr>
              <a:t>Se calcula el estadístico F y se compara con los valores críticos de la distribución F.</a:t>
            </a:r>
          </a:p>
          <a:p>
            <a:pPr algn="l">
              <a:spcBef>
                <a:spcPts val="300"/>
              </a:spcBef>
              <a:spcAft>
                <a:spcPts val="100"/>
              </a:spcAft>
            </a:pPr>
            <a:r>
              <a:rPr sz="1050" b="0">
                <a:solidFill>
                  <a:srgbClr val="595652"/>
                </a:solidFill>
                <a:latin typeface="Calibri"/>
              </a:rPr>
              <a:t>Si F_obs cae fuera de la región de no rechazo (entre los valores críticos), entonces rechazamos H₀ y concluimos que las varianzas son estadísticamente diferentes.</a:t>
            </a:r>
          </a:p>
          <a:p>
            <a:pPr algn="l">
              <a:spcBef>
                <a:spcPts val="300"/>
              </a:spcBef>
              <a:spcAft>
                <a:spcPts val="100"/>
              </a:spcAft>
            </a:pPr>
            <a:r>
              <a:rPr sz="1050" b="0">
                <a:solidFill>
                  <a:srgbClr val="595652"/>
                </a:solidFill>
                <a:latin typeface="Calibri"/>
              </a:rPr>
              <a:t>Esto tiene implicaciones prácticas: si las varianzas son diferentes, el riesgo de invertir en viviendas varía entre ambas ciudades.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bIns="27432" anchor="ctr">
            <a:spAutoFit/>
          </a:bodyPr>
          <a:lstStyle/>
          <a:p>
            <a:pPr algn="l">
              <a:spcBef>
                <a:spcPts val="0"/>
              </a:spcBef>
              <a:spcAft>
                <a:spcPts val="100"/>
              </a:spcAft>
            </a:pPr>
            <a:r>
              <a:rPr sz="2100" b="1">
                <a:solidFill>
                  <a:srgbClr val="A6B727"/>
                </a:solidFill>
                <a:latin typeface="Calibri"/>
              </a:rPr>
              <a:t>DIF. DE MEDIAS (VAR. DISTINTAS) — RESOLUCIÓN Y CONCLUSIÓN</a:t>
            </a:r>
          </a:p>
        </p:txBody>
      </p:sp>
      <p:sp>
        <p:nvSpPr>
          <p:cNvPr id="4" name="TextBox 3"/>
          <p:cNvSpPr txBox="1"/>
          <p:nvPr/>
        </p:nvSpPr>
        <p:spPr>
          <a:xfrm>
            <a:off x="822960" y="1371600"/>
            <a:ext cx="5943600" cy="2377440"/>
          </a:xfrm>
          <a:prstGeom prst="rect">
            <a:avLst/>
          </a:prstGeom>
          <a:noFill/>
        </p:spPr>
        <p:txBody>
          <a:bodyPr wrap="square" lIns="73152" rIns="73152" bIns="27432">
            <a:spAutoFit/>
          </a:bodyPr>
          <a:lstStyle/>
          <a:p>
            <a:pPr algn="l">
              <a:spcBef>
                <a:spcPts val="0"/>
              </a:spcBef>
              <a:spcAft>
                <a:spcPts val="100"/>
              </a:spcAft>
            </a:pPr>
            <a:r>
              <a:rPr sz="1250" b="1">
                <a:solidFill>
                  <a:srgbClr val="A6B727"/>
                </a:solidFill>
                <a:latin typeface="Calibri"/>
              </a:rPr>
              <a:t>Pasos de la resolución</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1. Calcular el estadístico t:</a:t>
            </a:r>
          </a:p>
          <a:p>
            <a:pPr algn="l">
              <a:spcBef>
                <a:spcPts val="200"/>
              </a:spcBef>
              <a:spcAft>
                <a:spcPts val="100"/>
              </a:spcAft>
            </a:pPr>
            <a:r>
              <a:rPr sz="1150" b="0">
                <a:solidFill>
                  <a:srgbClr val="262626"/>
                </a:solidFill>
                <a:latin typeface="Calibri"/>
              </a:rPr>
              <a:t>t = (x̄₂ - x̄₁ - D₀) / √(s₁²/n₁ + s₂²/n₂)</a:t>
            </a:r>
          </a:p>
          <a:p>
            <a:pPr algn="l">
              <a:spcBef>
                <a:spcPts val="200"/>
              </a:spcBef>
              <a:spcAft>
                <a:spcPts val="100"/>
              </a:spcAft>
            </a:pPr>
            <a:r>
              <a:rPr sz="1150" b="0">
                <a:solidFill>
                  <a:srgbClr val="262626"/>
                </a:solidFill>
                <a:latin typeface="Calibri"/>
              </a:rPr>
              <a:t>donde D₀ = 1500 (diferencia bajo H₀)</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2. Calcular grados de libertad (fórmula de Welch): es un número que puede no ser entero.</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3. Buscar el valor crítico t con los gl calculados.</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4. Comparar: si t_obs &gt; t_crit → Rechazar H₀</a:t>
            </a:r>
          </a:p>
        </p:txBody>
      </p:sp>
      <p:sp>
        <p:nvSpPr>
          <p:cNvPr id="5" name="TextBox 4"/>
          <p:cNvSpPr txBox="1"/>
          <p:nvPr/>
        </p:nvSpPr>
        <p:spPr>
          <a:xfrm>
            <a:off x="822960" y="3840480"/>
            <a:ext cx="5943600" cy="365760"/>
          </a:xfrm>
          <a:prstGeom prst="rect">
            <a:avLst/>
          </a:prstGeom>
          <a:noFill/>
        </p:spPr>
        <p:txBody>
          <a:bodyPr wrap="square" lIns="73152" rIns="73152" bIns="27432">
            <a:spAutoFit/>
          </a:bodyPr>
          <a:lstStyle/>
          <a:p>
            <a:pPr algn="l">
              <a:spcBef>
                <a:spcPts val="0"/>
              </a:spcBef>
              <a:spcAft>
                <a:spcPts val="100"/>
              </a:spcAft>
            </a:pPr>
            <a:r>
              <a:rPr sz="1200" b="1">
                <a:solidFill>
                  <a:srgbClr val="A6B727"/>
                </a:solidFill>
                <a:latin typeface="Calibri"/>
              </a:rPr>
              <a:t>Fórmula de Welch</a:t>
            </a:r>
          </a:p>
        </p:txBody>
      </p:sp>
      <p:pic>
        <p:nvPicPr>
          <p:cNvPr id="6" name="Picture 5" descr="image.png"/>
          <p:cNvPicPr>
            <a:picLocks noChangeAspect="1"/>
          </p:cNvPicPr>
          <p:nvPr/>
        </p:nvPicPr>
        <p:blipFill>
          <a:blip r:embed="rId2"/>
          <a:stretch>
            <a:fillRect/>
          </a:stretch>
        </p:blipFill>
        <p:spPr>
          <a:xfrm>
            <a:off x="914400" y="4251960"/>
            <a:ext cx="4389120" cy="1261872"/>
          </a:xfrm>
          <a:prstGeom prst="rect">
            <a:avLst/>
          </a:prstGeom>
        </p:spPr>
      </p:pic>
      <p:sp>
        <p:nvSpPr>
          <p:cNvPr id="7" name="Rectangle 6"/>
          <p:cNvSpPr/>
          <p:nvPr/>
        </p:nvSpPr>
        <p:spPr>
          <a:xfrm>
            <a:off x="6903720" y="1371600"/>
            <a:ext cx="4343400" cy="141732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bIns="27432"/>
          <a:lstStyle/>
          <a:p>
            <a:pPr algn="l">
              <a:spcBef>
                <a:spcPts val="0"/>
              </a:spcBef>
              <a:spcAft>
                <a:spcPts val="100"/>
              </a:spcAft>
            </a:pPr>
            <a:r>
              <a:rPr sz="1300" b="1">
                <a:solidFill>
                  <a:srgbClr val="A6B727"/>
                </a:solidFill>
                <a:latin typeface="Calibri"/>
              </a:rPr>
              <a:t>Resultados</a:t>
            </a:r>
          </a:p>
          <a:p>
            <a:pPr algn="l">
              <a:spcBef>
                <a:spcPts val="300"/>
              </a:spcBef>
              <a:spcAft>
                <a:spcPts val="100"/>
              </a:spcAft>
            </a:pPr>
            <a:r>
              <a:rPr sz="1200" b="0">
                <a:solidFill>
                  <a:srgbClr val="595652"/>
                </a:solidFill>
                <a:latin typeface="Calibri"/>
              </a:rPr>
              <a:t>t = 0.928     gdl = 21.56 ≈ 22</a:t>
            </a:r>
          </a:p>
          <a:p>
            <a:pPr algn="l">
              <a:spcBef>
                <a:spcPts val="300"/>
              </a:spcBef>
              <a:spcAft>
                <a:spcPts val="100"/>
              </a:spcAft>
            </a:pPr>
            <a:r>
              <a:rPr sz="1200" b="0">
                <a:solidFill>
                  <a:srgbClr val="595652"/>
                </a:solidFill>
                <a:latin typeface="Calibri"/>
              </a:rPr>
              <a:t>Valor crítico = 1.72     p-value = 0.1817</a:t>
            </a:r>
          </a:p>
        </p:txBody>
      </p:sp>
      <p:sp>
        <p:nvSpPr>
          <p:cNvPr id="8" name="TextBox 7"/>
          <p:cNvSpPr txBox="1"/>
          <p:nvPr/>
        </p:nvSpPr>
        <p:spPr>
          <a:xfrm>
            <a:off x="6903720" y="2971800"/>
            <a:ext cx="4343400" cy="3291840"/>
          </a:xfrm>
          <a:prstGeom prst="rect">
            <a:avLst/>
          </a:prstGeom>
          <a:noFill/>
        </p:spPr>
        <p:txBody>
          <a:bodyPr wrap="square" lIns="73152" rIns="73152" bIns="27432">
            <a:spAutoFit/>
          </a:bodyPr>
          <a:lstStyle/>
          <a:p>
            <a:pPr algn="l">
              <a:spcBef>
                <a:spcPts val="0"/>
              </a:spcBef>
              <a:spcAft>
                <a:spcPts val="100"/>
              </a:spcAft>
            </a:pPr>
            <a:r>
              <a:rPr sz="1250" b="1">
                <a:solidFill>
                  <a:srgbClr val="A6B727"/>
                </a:solidFill>
                <a:latin typeface="Calibri"/>
              </a:rPr>
              <a:t>Conclusión en contexto</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Los datos muestrales NO contienen suficiente evidencia estadística para afirmar que el precio promedio del limón aumentó en más de $1.500 entre enero y abril de 2023.</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El estadístico t observado no cayó en la zona de rechazo, por lo que no se rechaza H₀.</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Esto NO significa que el aumento no haya sido mayor a $1.500. Significa que, con los datos disponibles y al nivel de significancia del 5%, no podemos demostrarlo estadísticamente.</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Posibles razones: variabilidad alta en los datos, tamaño de muestra insuficiente.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bIns="27432" anchor="ctr">
            <a:spAutoFit/>
          </a:bodyPr>
          <a:lstStyle/>
          <a:p>
            <a:pPr algn="l">
              <a:spcBef>
                <a:spcPts val="0"/>
              </a:spcBef>
              <a:spcAft>
                <a:spcPts val="100"/>
              </a:spcAft>
            </a:pPr>
            <a:r>
              <a:rPr sz="2100" b="1">
                <a:solidFill>
                  <a:srgbClr val="A6B727"/>
                </a:solidFill>
                <a:latin typeface="Calibri"/>
              </a:rPr>
              <a:t>DIF. DE MEDIAS (VAR. IGUALES) — RESOLUCIÓN Y RESULTADO</a:t>
            </a:r>
          </a:p>
        </p:txBody>
      </p:sp>
      <p:sp>
        <p:nvSpPr>
          <p:cNvPr id="4" name="TextBox 3"/>
          <p:cNvSpPr txBox="1"/>
          <p:nvPr/>
        </p:nvSpPr>
        <p:spPr>
          <a:xfrm>
            <a:off x="822960" y="1371600"/>
            <a:ext cx="5943600" cy="2926080"/>
          </a:xfrm>
          <a:prstGeom prst="rect">
            <a:avLst/>
          </a:prstGeom>
          <a:noFill/>
        </p:spPr>
        <p:txBody>
          <a:bodyPr wrap="square" lIns="73152" rIns="73152" bIns="27432">
            <a:spAutoFit/>
          </a:bodyPr>
          <a:lstStyle/>
          <a:p>
            <a:pPr algn="l">
              <a:spcBef>
                <a:spcPts val="0"/>
              </a:spcBef>
              <a:spcAft>
                <a:spcPts val="100"/>
              </a:spcAft>
            </a:pPr>
            <a:r>
              <a:rPr sz="1150" b="1">
                <a:solidFill>
                  <a:srgbClr val="A6B727"/>
                </a:solidFill>
                <a:latin typeface="Calibri"/>
              </a:rPr>
              <a:t>Pasos de la resolución</a:t>
            </a:r>
          </a:p>
          <a:p>
            <a:pPr algn="l">
              <a:spcBef>
                <a:spcPts val="200"/>
              </a:spcBef>
              <a:spcAft>
                <a:spcPts val="100"/>
              </a:spcAft>
            </a:pPr>
            <a:r>
              <a:rPr sz="1050" b="0">
                <a:solidFill>
                  <a:srgbClr val="262626"/>
                </a:solidFill>
                <a:latin typeface="Calibri"/>
              </a:rPr>
              <a:t/>
            </a:r>
          </a:p>
          <a:p>
            <a:pPr algn="l">
              <a:spcBef>
                <a:spcPts val="200"/>
              </a:spcBef>
              <a:spcAft>
                <a:spcPts val="100"/>
              </a:spcAft>
            </a:pPr>
            <a:r>
              <a:rPr sz="1050" b="0">
                <a:solidFill>
                  <a:srgbClr val="262626"/>
                </a:solidFill>
                <a:latin typeface="Calibri"/>
              </a:rPr>
              <a:t>1. Calcular Sp² (varianza pooled):</a:t>
            </a:r>
          </a:p>
          <a:p>
            <a:pPr algn="l">
              <a:spcBef>
                <a:spcPts val="200"/>
              </a:spcBef>
              <a:spcAft>
                <a:spcPts val="100"/>
              </a:spcAft>
            </a:pPr>
            <a:r>
              <a:rPr sz="1050" b="0">
                <a:solidFill>
                  <a:srgbClr val="262626"/>
                </a:solidFill>
                <a:latin typeface="Calibri"/>
              </a:rPr>
              <a:t>Sp² = [(n₁-1)s₁² + (n₂-1)s₂²] / (n₁+n₂-2)</a:t>
            </a:r>
          </a:p>
          <a:p>
            <a:pPr algn="l">
              <a:spcBef>
                <a:spcPts val="200"/>
              </a:spcBef>
              <a:spcAft>
                <a:spcPts val="100"/>
              </a:spcAft>
            </a:pPr>
            <a:r>
              <a:rPr sz="1050" b="0">
                <a:solidFill>
                  <a:srgbClr val="262626"/>
                </a:solidFill>
                <a:latin typeface="Calibri"/>
              </a:rPr>
              <a:t/>
            </a:r>
          </a:p>
          <a:p>
            <a:pPr algn="l">
              <a:spcBef>
                <a:spcPts val="200"/>
              </a:spcBef>
              <a:spcAft>
                <a:spcPts val="100"/>
              </a:spcAft>
            </a:pPr>
            <a:r>
              <a:rPr sz="1050" b="0">
                <a:solidFill>
                  <a:srgbClr val="262626"/>
                </a:solidFill>
                <a:latin typeface="Calibri"/>
              </a:rPr>
              <a:t>2. Calcular el estadístico t:</a:t>
            </a:r>
          </a:p>
          <a:p>
            <a:pPr algn="l">
              <a:spcBef>
                <a:spcPts val="200"/>
              </a:spcBef>
              <a:spcAft>
                <a:spcPts val="100"/>
              </a:spcAft>
            </a:pPr>
            <a:r>
              <a:rPr sz="1050" b="0">
                <a:solidFill>
                  <a:srgbClr val="262626"/>
                </a:solidFill>
                <a:latin typeface="Calibri"/>
              </a:rPr>
              <a:t>t = (x̄₂ - x̄₁ - D₀) / √(Sp²(1/n₁ + 1/n₂))</a:t>
            </a:r>
          </a:p>
          <a:p>
            <a:pPr algn="l">
              <a:spcBef>
                <a:spcPts val="200"/>
              </a:spcBef>
              <a:spcAft>
                <a:spcPts val="100"/>
              </a:spcAft>
            </a:pPr>
            <a:r>
              <a:rPr sz="1050" b="0">
                <a:solidFill>
                  <a:srgbClr val="262626"/>
                </a:solidFill>
                <a:latin typeface="Calibri"/>
              </a:rPr>
              <a:t>donde D₀ = 1000</a:t>
            </a:r>
          </a:p>
          <a:p>
            <a:pPr algn="l">
              <a:spcBef>
                <a:spcPts val="200"/>
              </a:spcBef>
              <a:spcAft>
                <a:spcPts val="100"/>
              </a:spcAft>
            </a:pPr>
            <a:r>
              <a:rPr sz="1050" b="0">
                <a:solidFill>
                  <a:srgbClr val="262626"/>
                </a:solidFill>
                <a:latin typeface="Calibri"/>
              </a:rPr>
              <a:t/>
            </a:r>
          </a:p>
          <a:p>
            <a:pPr algn="l">
              <a:spcBef>
                <a:spcPts val="200"/>
              </a:spcBef>
              <a:spcAft>
                <a:spcPts val="100"/>
              </a:spcAft>
            </a:pPr>
            <a:r>
              <a:rPr sz="1050" b="0">
                <a:solidFill>
                  <a:srgbClr val="262626"/>
                </a:solidFill>
                <a:latin typeface="Calibri"/>
              </a:rPr>
              <a:t>3. Grados de libertad = n₁ + n₂ - 2 = 26</a:t>
            </a:r>
          </a:p>
          <a:p>
            <a:pPr algn="l">
              <a:spcBef>
                <a:spcPts val="200"/>
              </a:spcBef>
              <a:spcAft>
                <a:spcPts val="100"/>
              </a:spcAft>
            </a:pPr>
            <a:r>
              <a:rPr sz="1050" b="0">
                <a:solidFill>
                  <a:srgbClr val="262626"/>
                </a:solidFill>
                <a:latin typeface="Calibri"/>
              </a:rPr>
              <a:t/>
            </a:r>
          </a:p>
          <a:p>
            <a:pPr algn="l">
              <a:spcBef>
                <a:spcPts val="200"/>
              </a:spcBef>
              <a:spcAft>
                <a:spcPts val="100"/>
              </a:spcAft>
            </a:pPr>
            <a:r>
              <a:rPr sz="1050" b="0">
                <a:solidFill>
                  <a:srgbClr val="262626"/>
                </a:solidFill>
                <a:latin typeface="Calibri"/>
              </a:rPr>
              <a:t>4. Prueba bilateral: se buscan dos valores críticos ±t(α/2, gl)</a:t>
            </a:r>
          </a:p>
          <a:p>
            <a:pPr algn="l">
              <a:spcBef>
                <a:spcPts val="200"/>
              </a:spcBef>
              <a:spcAft>
                <a:spcPts val="100"/>
              </a:spcAft>
            </a:pPr>
            <a:r>
              <a:rPr sz="1050" b="0">
                <a:solidFill>
                  <a:srgbClr val="262626"/>
                </a:solidFill>
                <a:latin typeface="Calibri"/>
              </a:rPr>
              <a:t/>
            </a:r>
          </a:p>
          <a:p>
            <a:pPr algn="l">
              <a:spcBef>
                <a:spcPts val="200"/>
              </a:spcBef>
              <a:spcAft>
                <a:spcPts val="100"/>
              </a:spcAft>
            </a:pPr>
            <a:r>
              <a:rPr sz="1050" b="0">
                <a:solidFill>
                  <a:srgbClr val="262626"/>
                </a:solidFill>
                <a:latin typeface="Calibri"/>
              </a:rPr>
              <a:t>5. Si |t_obs| &gt; t_crit → Rechazar H₀</a:t>
            </a:r>
          </a:p>
        </p:txBody>
      </p:sp>
      <p:sp>
        <p:nvSpPr>
          <p:cNvPr id="5" name="Rectangle 4"/>
          <p:cNvSpPr/>
          <p:nvPr/>
        </p:nvSpPr>
        <p:spPr>
          <a:xfrm>
            <a:off x="822960" y="4617720"/>
            <a:ext cx="5943600" cy="160020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bIns="27432"/>
          <a:lstStyle/>
          <a:p>
            <a:pPr algn="l">
              <a:spcBef>
                <a:spcPts val="0"/>
              </a:spcBef>
              <a:spcAft>
                <a:spcPts val="100"/>
              </a:spcAft>
            </a:pPr>
            <a:r>
              <a:rPr sz="1250" b="1">
                <a:solidFill>
                  <a:srgbClr val="A6B727"/>
                </a:solidFill>
                <a:latin typeface="Calibri"/>
              </a:rPr>
              <a:t>Resultados</a:t>
            </a:r>
          </a:p>
          <a:p>
            <a:pPr algn="l">
              <a:spcBef>
                <a:spcPts val="300"/>
              </a:spcBef>
              <a:spcAft>
                <a:spcPts val="100"/>
              </a:spcAft>
            </a:pPr>
            <a:r>
              <a:rPr sz="1150" b="0">
                <a:solidFill>
                  <a:srgbClr val="595652"/>
                </a:solidFill>
                <a:latin typeface="Calibri"/>
              </a:rPr>
              <a:t>Sp² = 22 819.23</a:t>
            </a:r>
          </a:p>
          <a:p>
            <a:pPr algn="l">
              <a:spcBef>
                <a:spcPts val="300"/>
              </a:spcBef>
              <a:spcAft>
                <a:spcPts val="100"/>
              </a:spcAft>
            </a:pPr>
            <a:r>
              <a:rPr sz="1150" b="0">
                <a:solidFill>
                  <a:srgbClr val="595652"/>
                </a:solidFill>
                <a:latin typeface="Calibri"/>
              </a:rPr>
              <a:t>t = 1.4602        t crítico = 1.7056</a:t>
            </a:r>
          </a:p>
          <a:p>
            <a:pPr algn="l">
              <a:spcBef>
                <a:spcPts val="300"/>
              </a:spcBef>
              <a:spcAft>
                <a:spcPts val="100"/>
              </a:spcAft>
            </a:pPr>
            <a:r>
              <a:rPr sz="1150" b="0">
                <a:solidFill>
                  <a:srgbClr val="595652"/>
                </a:solidFill>
                <a:latin typeface="Calibri"/>
              </a:rPr>
              <a:t>valor-p = 0.1562</a:t>
            </a:r>
          </a:p>
        </p:txBody>
      </p:sp>
      <p:pic>
        <p:nvPicPr>
          <p:cNvPr id="6" name="Picture 5" descr="image.png"/>
          <p:cNvPicPr>
            <a:picLocks noChangeAspect="1"/>
          </p:cNvPicPr>
          <p:nvPr/>
        </p:nvPicPr>
        <p:blipFill>
          <a:blip r:embed="rId2"/>
          <a:stretch>
            <a:fillRect/>
          </a:stretch>
        </p:blipFill>
        <p:spPr>
          <a:xfrm>
            <a:off x="6903720" y="1463040"/>
            <a:ext cx="4206240" cy="1421182"/>
          </a:xfrm>
          <a:prstGeom prst="rect">
            <a:avLst/>
          </a:prstGeom>
        </p:spPr>
      </p:pic>
      <p:pic>
        <p:nvPicPr>
          <p:cNvPr id="7" name="Picture 6" descr="image.png"/>
          <p:cNvPicPr>
            <a:picLocks noChangeAspect="1"/>
          </p:cNvPicPr>
          <p:nvPr/>
        </p:nvPicPr>
        <p:blipFill>
          <a:blip r:embed="rId3"/>
          <a:stretch>
            <a:fillRect/>
          </a:stretch>
        </p:blipFill>
        <p:spPr>
          <a:xfrm>
            <a:off x="6903720" y="3063240"/>
            <a:ext cx="4206240" cy="1505174"/>
          </a:xfrm>
          <a:prstGeom prst="rect">
            <a:avLst/>
          </a:prstGeom>
        </p:spPr>
      </p:pic>
      <p:sp>
        <p:nvSpPr>
          <p:cNvPr id="8" name="Rectangle 7"/>
          <p:cNvSpPr/>
          <p:nvPr/>
        </p:nvSpPr>
        <p:spPr>
          <a:xfrm>
            <a:off x="6903720" y="4343400"/>
            <a:ext cx="4343400" cy="192024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bIns="27432"/>
          <a:lstStyle/>
          <a:p>
            <a:pPr algn="l">
              <a:spcBef>
                <a:spcPts val="0"/>
              </a:spcBef>
              <a:spcAft>
                <a:spcPts val="100"/>
              </a:spcAft>
            </a:pPr>
            <a:r>
              <a:rPr sz="1150" b="1">
                <a:solidFill>
                  <a:srgbClr val="A6B727"/>
                </a:solidFill>
                <a:latin typeface="Calibri"/>
              </a:rPr>
              <a:t>Interpretación</a:t>
            </a:r>
          </a:p>
          <a:p>
            <a:pPr algn="l">
              <a:spcBef>
                <a:spcPts val="300"/>
              </a:spcBef>
              <a:spcAft>
                <a:spcPts val="100"/>
              </a:spcAft>
            </a:pPr>
            <a:r>
              <a:rPr sz="1050" b="0">
                <a:solidFill>
                  <a:srgbClr val="595652"/>
                </a:solidFill>
                <a:latin typeface="Calibri"/>
              </a:rPr>
              <a:t>Se compara el estadístico t observado con los valores críticos.</a:t>
            </a:r>
          </a:p>
          <a:p>
            <a:pPr algn="l">
              <a:spcBef>
                <a:spcPts val="300"/>
              </a:spcBef>
              <a:spcAft>
                <a:spcPts val="100"/>
              </a:spcAft>
            </a:pPr>
            <a:r>
              <a:rPr sz="1050" b="0">
                <a:solidFill>
                  <a:srgbClr val="595652"/>
                </a:solidFill>
                <a:latin typeface="Calibri"/>
              </a:rPr>
              <a:t>Si el t observado cae fuera del intervalo [-t_crit, +t_crit], se rechaza H₀.</a:t>
            </a:r>
          </a:p>
          <a:p>
            <a:pPr algn="l">
              <a:spcBef>
                <a:spcPts val="300"/>
              </a:spcBef>
              <a:spcAft>
                <a:spcPts val="100"/>
              </a:spcAft>
            </a:pPr>
            <a:r>
              <a:rPr sz="1050" b="0">
                <a:solidFill>
                  <a:srgbClr val="595652"/>
                </a:solidFill>
                <a:latin typeface="Calibri"/>
              </a:rPr>
              <a:t>En este caso, la conclusión dependerá de si el aumento observado ($1.087 = $2.607 - $1.520) es estadísticamente diferente de $1.000 considerando la variabilidad de los datos.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A6B727"/>
        </a:solidFill>
        <a:effectLst/>
      </p:bgPr>
    </p:bg>
    <p:spTree>
      <p:nvGrpSpPr>
        <p:cNvPr id="1" name=""/>
        <p:cNvGrpSpPr/>
        <p:nvPr/>
      </p:nvGrpSpPr>
      <p:grpSpPr/>
      <p:sp>
        <p:nvSpPr>
          <p:cNvPr id="2" name="Rectangle 1"/>
          <p:cNvSpPr/>
          <p:nvPr/>
        </p:nvSpPr>
        <p:spPr>
          <a:xfrm>
            <a:off x="228600" y="228600"/>
            <a:ext cx="11734800" cy="640080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84048"/>
            <a:ext cx="10515600" cy="822960"/>
          </a:xfrm>
          <a:prstGeom prst="rect">
            <a:avLst/>
          </a:prstGeom>
          <a:noFill/>
        </p:spPr>
        <p:txBody>
          <a:bodyPr wrap="square" lIns="73152" rIns="73152" bIns="27432" anchor="ctr">
            <a:spAutoFit/>
          </a:bodyPr>
          <a:lstStyle/>
          <a:p>
            <a:pPr algn="l">
              <a:spcBef>
                <a:spcPts val="0"/>
              </a:spcBef>
              <a:spcAft>
                <a:spcPts val="100"/>
              </a:spcAft>
            </a:pPr>
            <a:r>
              <a:rPr sz="2100" b="1">
                <a:solidFill>
                  <a:srgbClr val="A6B727"/>
                </a:solidFill>
                <a:latin typeface="Calibri"/>
              </a:rPr>
              <a:t>MUESTRAS DEPENDIENTES — RESOLUCIÓN Y RESULTADO</a:t>
            </a:r>
          </a:p>
        </p:txBody>
      </p:sp>
      <p:sp>
        <p:nvSpPr>
          <p:cNvPr id="4" name="TextBox 3"/>
          <p:cNvSpPr txBox="1"/>
          <p:nvPr/>
        </p:nvSpPr>
        <p:spPr>
          <a:xfrm>
            <a:off x="822960" y="1371600"/>
            <a:ext cx="5852160" cy="2743200"/>
          </a:xfrm>
          <a:prstGeom prst="rect">
            <a:avLst/>
          </a:prstGeom>
          <a:noFill/>
        </p:spPr>
        <p:txBody>
          <a:bodyPr wrap="square" lIns="73152" rIns="73152" bIns="27432">
            <a:spAutoFit/>
          </a:bodyPr>
          <a:lstStyle/>
          <a:p>
            <a:pPr algn="l">
              <a:spcBef>
                <a:spcPts val="0"/>
              </a:spcBef>
              <a:spcAft>
                <a:spcPts val="100"/>
              </a:spcAft>
            </a:pPr>
            <a:r>
              <a:rPr sz="1250" b="1">
                <a:solidFill>
                  <a:srgbClr val="A6B727"/>
                </a:solidFill>
                <a:latin typeface="Calibri"/>
              </a:rPr>
              <a:t>Procedimiento para datos pareados</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1. Calcular las diferencias: d_i = Antes_i - Después_i para cada paciente.</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2. Calcular la media (d̄) y desviación estándar (s_d) de las diferencias.</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3. Plantear las hipótesis:</a:t>
            </a:r>
          </a:p>
          <a:p>
            <a:pPr algn="l">
              <a:spcBef>
                <a:spcPts val="200"/>
              </a:spcBef>
              <a:spcAft>
                <a:spcPts val="100"/>
              </a:spcAft>
            </a:pPr>
            <a:r>
              <a:rPr sz="1150" b="0">
                <a:solidFill>
                  <a:srgbClr val="262626"/>
                </a:solidFill>
                <a:latin typeface="Calibri"/>
              </a:rPr>
              <a:t>H₀: μ_d = 0  (el medicamento no tiene efecto)</a:t>
            </a:r>
          </a:p>
          <a:p>
            <a:pPr algn="l">
              <a:spcBef>
                <a:spcPts val="200"/>
              </a:spcBef>
              <a:spcAft>
                <a:spcPts val="100"/>
              </a:spcAft>
            </a:pPr>
            <a:r>
              <a:rPr sz="1150" b="0">
                <a:solidFill>
                  <a:srgbClr val="262626"/>
                </a:solidFill>
                <a:latin typeface="Calibri"/>
              </a:rPr>
              <a:t>H₁: μ_d ≠ 0  (el medicamento sí tiene efecto)</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4. Calcular el estadístico: t = d̄ / (s_d / √n)</a:t>
            </a:r>
          </a:p>
          <a:p>
            <a:pPr algn="l">
              <a:spcBef>
                <a:spcPts val="200"/>
              </a:spcBef>
              <a:spcAft>
                <a:spcPts val="100"/>
              </a:spcAft>
            </a:pPr>
            <a:r>
              <a:rPr sz="1150" b="0">
                <a:solidFill>
                  <a:srgbClr val="262626"/>
                </a:solidFill>
                <a:latin typeface="Calibri"/>
              </a:rPr>
              <a:t/>
            </a:r>
          </a:p>
          <a:p>
            <a:pPr algn="l">
              <a:spcBef>
                <a:spcPts val="200"/>
              </a:spcBef>
              <a:spcAft>
                <a:spcPts val="100"/>
              </a:spcAft>
            </a:pPr>
            <a:r>
              <a:rPr sz="1150" b="0">
                <a:solidFill>
                  <a:srgbClr val="262626"/>
                </a:solidFill>
                <a:latin typeface="Calibri"/>
              </a:rPr>
              <a:t>5. Comparar con t_crit con (n-1) grados de libertad.</a:t>
            </a:r>
          </a:p>
        </p:txBody>
      </p:sp>
      <p:sp>
        <p:nvSpPr>
          <p:cNvPr id="5" name="Rectangle 4"/>
          <p:cNvSpPr/>
          <p:nvPr/>
        </p:nvSpPr>
        <p:spPr>
          <a:xfrm>
            <a:off x="822960" y="4297680"/>
            <a:ext cx="5852160" cy="1828800"/>
          </a:xfrm>
          <a:prstGeom prst="rect">
            <a:avLst/>
          </a:prstGeom>
          <a:solidFill>
            <a:srgbClr val="F4F7E9"/>
          </a:solidFill>
          <a:ln w="9525">
            <a:solidFill>
              <a:srgbClr val="C8D5A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73152" bIns="27432"/>
          <a:lstStyle/>
          <a:p>
            <a:pPr algn="l">
              <a:spcBef>
                <a:spcPts val="0"/>
              </a:spcBef>
              <a:spcAft>
                <a:spcPts val="100"/>
              </a:spcAft>
            </a:pPr>
            <a:r>
              <a:rPr sz="1200" b="1">
                <a:solidFill>
                  <a:srgbClr val="A6B727"/>
                </a:solidFill>
                <a:latin typeface="Calibri"/>
              </a:rPr>
              <a:t>Resultado y conclusión</a:t>
            </a:r>
          </a:p>
          <a:p>
            <a:pPr algn="l">
              <a:spcBef>
                <a:spcPts val="300"/>
              </a:spcBef>
              <a:spcAft>
                <a:spcPts val="100"/>
              </a:spcAft>
            </a:pPr>
            <a:r>
              <a:rPr sz="1100" b="0">
                <a:solidFill>
                  <a:srgbClr val="595652"/>
                </a:solidFill>
                <a:latin typeface="Calibri"/>
              </a:rPr>
              <a:t>Estadístico: t₀ = 9.06</a:t>
            </a:r>
          </a:p>
          <a:p>
            <a:pPr algn="l">
              <a:spcBef>
                <a:spcPts val="300"/>
              </a:spcBef>
              <a:spcAft>
                <a:spcPts val="100"/>
              </a:spcAft>
            </a:pPr>
            <a:r>
              <a:rPr sz="1100" b="0">
                <a:solidFill>
                  <a:srgbClr val="595652"/>
                </a:solidFill>
                <a:latin typeface="Calibri"/>
              </a:rPr>
              <a:t>Valor crítico: t(0.05, 10) = 1.8125</a:t>
            </a:r>
          </a:p>
          <a:p>
            <a:pPr algn="l">
              <a:spcBef>
                <a:spcPts val="300"/>
              </a:spcBef>
              <a:spcAft>
                <a:spcPts val="100"/>
              </a:spcAft>
            </a:pPr>
            <a:r>
              <a:rPr sz="1100" b="0">
                <a:solidFill>
                  <a:srgbClr val="595652"/>
                </a:solidFill>
                <a:latin typeface="Calibri"/>
              </a:rPr>
              <a:t>Como |t₀| = 9.06 &gt; 1.8125 → Cae en zona de rechazo</a:t>
            </a:r>
          </a:p>
          <a:p>
            <a:pPr algn="l">
              <a:spcBef>
                <a:spcPts val="300"/>
              </a:spcBef>
              <a:spcAft>
                <a:spcPts val="100"/>
              </a:spcAft>
            </a:pPr>
            <a:r>
              <a:rPr sz="1100" b="0">
                <a:solidFill>
                  <a:srgbClr val="595652"/>
                </a:solidFill>
                <a:latin typeface="Calibri"/>
              </a:rPr>
              <a:t>Se rechaza H₀.</a:t>
            </a:r>
          </a:p>
          <a:p>
            <a:pPr algn="l">
              <a:spcBef>
                <a:spcPts val="300"/>
              </a:spcBef>
              <a:spcAft>
                <a:spcPts val="100"/>
              </a:spcAft>
            </a:pPr>
            <a:r>
              <a:rPr sz="1100" b="0">
                <a:solidFill>
                  <a:srgbClr val="595652"/>
                </a:solidFill>
                <a:latin typeface="Calibri"/>
              </a:rPr>
              <a:t>Conclusión: Con un nivel de significancia del 5%, hay evidencia estadística suficiente para afirmar que el medicamento tiene un efecto significativo en la reducción del colesterol.</a:t>
            </a:r>
          </a:p>
          <a:p>
            <a:pPr algn="l">
              <a:spcBef>
                <a:spcPts val="300"/>
              </a:spcBef>
              <a:spcAft>
                <a:spcPts val="100"/>
              </a:spcAft>
            </a:pPr>
            <a:r>
              <a:rPr sz="1100" b="0">
                <a:solidFill>
                  <a:srgbClr val="595652"/>
                </a:solidFill>
                <a:latin typeface="Calibri"/>
              </a:rPr>
              <a:t>La media de las diferencias es positiva, lo que indica que el colesterol después es menor que antes del tratamiento.</a:t>
            </a:r>
          </a:p>
        </p:txBody>
      </p:sp>
      <p:pic>
        <p:nvPicPr>
          <p:cNvPr id="6" name="Picture 5" descr="image.png"/>
          <p:cNvPicPr>
            <a:picLocks noChangeAspect="1"/>
          </p:cNvPicPr>
          <p:nvPr/>
        </p:nvPicPr>
        <p:blipFill>
          <a:blip r:embed="rId2"/>
          <a:stretch>
            <a:fillRect/>
          </a:stretch>
        </p:blipFill>
        <p:spPr>
          <a:xfrm>
            <a:off x="7040880" y="1463040"/>
            <a:ext cx="4023360" cy="791831"/>
          </a:xfrm>
          <a:prstGeom prst="rect">
            <a:avLst/>
          </a:prstGeom>
        </p:spPr>
      </p:pic>
      <p:pic>
        <p:nvPicPr>
          <p:cNvPr id="7" name="Picture 6" descr="image.png"/>
          <p:cNvPicPr>
            <a:picLocks noChangeAspect="1"/>
          </p:cNvPicPr>
          <p:nvPr/>
        </p:nvPicPr>
        <p:blipFill>
          <a:blip r:embed="rId3"/>
          <a:stretch>
            <a:fillRect/>
          </a:stretch>
        </p:blipFill>
        <p:spPr>
          <a:xfrm>
            <a:off x="7040880" y="2880360"/>
            <a:ext cx="4023360" cy="2524161"/>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2026-03-12T19:26:10Z</dcterms:created>
  <dc:creator>Métodos Estadísticos</dc:creator>
</cp:coreProperties>
</file>