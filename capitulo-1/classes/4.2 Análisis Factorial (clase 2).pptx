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0" roundtripDataSignature="AMtx7mjy/jmv6YbuftpXB7MkCIT3CA2J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" name="Google Shape;390;p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B72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Factorial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" name="Google Shape;14;p1"/>
          <p:cNvCxnSpPr/>
          <p:nvPr/>
        </p:nvCxnSpPr>
        <p:spPr>
          <a:xfrm>
            <a:off x="2286000" y="3931920"/>
            <a:ext cx="758952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1"/>
          <p:cNvSpPr/>
          <p:nvPr/>
        </p:nvSpPr>
        <p:spPr>
          <a:xfrm>
            <a:off x="2286000" y="4023360"/>
            <a:ext cx="7589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CAPÍTULO 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B727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8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Determinar el Número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Factores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B727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9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A6B727"/>
                </a:solidFill>
                <a:latin typeface="Calibri"/>
                <a:ea typeface="Calibri"/>
                <a:cs typeface="Calibri"/>
                <a:sym typeface="Calibri"/>
              </a:rPr>
              <a:t>PRINCIPIO DE PARSIMONIA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9"/>
          <p:cNvSpPr/>
          <p:nvPr/>
        </p:nvSpPr>
        <p:spPr>
          <a:xfrm>
            <a:off x="914400" y="1554480"/>
            <a:ext cx="10515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El Análisis Factorial puede generar más factores de los necesarios.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Los primeros factores explican casi toda la información (varianza) contenida en los datos.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Principio de parsimonia: </a:t>
            </a:r>
            <a:r>
              <a:rPr b="1"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explicar los datos con el menor número posible de factores sin perder información importante.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Esto permite obtener factores más interpretables y estables.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B727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0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A6B727"/>
                </a:solidFill>
                <a:latin typeface="Calibri"/>
                <a:ea typeface="Calibri"/>
                <a:cs typeface="Calibri"/>
                <a:sym typeface="Calibri"/>
              </a:rPr>
              <a:t>CRITERIOS PARA ELEGIR NÚMERO DE FACTORES (1)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914400" y="1554480"/>
            <a:ext cx="10515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a) Determinación a priori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Basándose en conocimiento teórico del problema.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Ejemplo: cuestionario de satisfacción laboral → esperas 3 dimensiones teóricamente.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Es el criterio más confiable si variables están bien seleccionadas y base teórica es clara.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b) Regla de Kaiser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Conservar factores con valor propio (eigenvalue) &gt; 1.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Lógica: cada variable aporta varianza = 1, si factor explica menos no vale la pena.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Problema: tiende a subestimar el número real de factores.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B727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A6B727"/>
                </a:solidFill>
                <a:latin typeface="Calibri"/>
                <a:ea typeface="Calibri"/>
                <a:cs typeface="Calibri"/>
                <a:sym typeface="Calibri"/>
              </a:rPr>
              <a:t>CRITERIOS PARA ELEGIR NÚMERO DE FACTORES (2)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1"/>
          <p:cNvSpPr/>
          <p:nvPr/>
        </p:nvSpPr>
        <p:spPr>
          <a:xfrm>
            <a:off x="914400" y="1554480"/>
            <a:ext cx="64008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c) Porcentaje de varianza explicada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Seleccionar factores que expliquen 75-80% de varianza total.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Ventaja: funciona con matrices de correlación y varianza-covarianza.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Desventaja: porcentaje elegido es arbitrario (depende del investigador).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d) Scree plot (gráfico de sedimentación)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Gráfico de eigenvalues vs número de factores.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Conservar factores antes del "codo" donde la curva se aplana.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Problema: depende de interpretación visual (subjetivo).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clever-sweet-sagan/clase4_images/slide51_img8.png" id="271" name="Google Shape;27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1828800"/>
            <a:ext cx="438912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B727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2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Interpretación de los Factores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B727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3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A6B727"/>
                </a:solidFill>
                <a:latin typeface="Calibri"/>
                <a:ea typeface="Calibri"/>
                <a:cs typeface="Calibri"/>
                <a:sym typeface="Calibri"/>
              </a:rPr>
              <a:t>CÓMO INTERPRETAR LOS FACTORES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3"/>
          <p:cNvSpPr/>
          <p:nvPr/>
        </p:nvSpPr>
        <p:spPr>
          <a:xfrm>
            <a:off x="914400" y="1554480"/>
            <a:ext cx="10515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La interpretación se basa en las correlaciones entre factores latentes y variables observadas.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En la práctica: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Identificar variables con mayor correlación (valor absoluto) con cada factor.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Asignar nombre al factor según variables relacionadas.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Cargas factoriales significativas: generalmente &gt; |0.5| o &gt; |0.4|.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En una representación gráfica (loading plot):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Variables al final de un eje → alta correlación con ese factor.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Variables cerca del origen → baja correlación con todos los factores.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B727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A6B727"/>
                </a:solidFill>
                <a:latin typeface="Calibri"/>
                <a:ea typeface="Calibri"/>
                <a:cs typeface="Calibri"/>
                <a:sym typeface="Calibri"/>
              </a:rPr>
              <a:t>EJEMPLO: INTERPRETACIÓN DE FACTORES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914400" y="1554480"/>
            <a:ext cx="10515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Del ejemplo anterior (6 materias):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Factor 1 (F</a:t>
            </a:r>
            <a:r>
              <a:rPr baseline="30000" lang="en-US" sz="13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) muy relacionado con: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Matemáticas (0.8), Física (0.7), Química (0.6)→ Podría llamarse "Aptitud Científica" o "Razonamiento Lógico-Matemático"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Factor 2 (F</a:t>
            </a:r>
            <a:r>
              <a:rPr baseline="30000" lang="en-US" sz="13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) muy relacionado con: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Inglés (0.8), Historia (0.82), Dibujo (0.85)→ Podría llamarse "Aptitud Humanística" o "Creatividad y Expresión"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B727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5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Rotación de los Factores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B727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6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6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A6B727"/>
                </a:solidFill>
                <a:latin typeface="Calibri"/>
                <a:ea typeface="Calibri"/>
                <a:cs typeface="Calibri"/>
                <a:sym typeface="Calibri"/>
              </a:rPr>
              <a:t>¿POR QUÉ ROTAR LOS FACTORES?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6"/>
          <p:cNvSpPr/>
          <p:nvPr/>
        </p:nvSpPr>
        <p:spPr>
          <a:xfrm>
            <a:off x="914400" y="1554480"/>
            <a:ext cx="10515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La matriz de cargas factoriales es fundamental para interpretar los factores.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Los métodos de extracción no siempre producen matrices fácilmente interpretables.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Principio de Estructura Simple (Thurstone, 1935):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Cada factor debe tener pocas cargas altas y el resto cercanas a cero.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Cada variable debe estar asociada principalmente a un solo factor.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Los factores deben mostrar patrones diferentes de cargas.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Tipos de rotación: Ortogonal (factores independientes) y Oblicua (factores correlacionados).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6"/>
          <p:cNvSpPr/>
          <p:nvPr/>
        </p:nvSpPr>
        <p:spPr>
          <a:xfrm>
            <a:off x="914400" y="4566285"/>
            <a:ext cx="6743700" cy="1851660"/>
          </a:xfrm>
          <a:prstGeom prst="roundRect">
            <a:avLst>
              <a:gd fmla="val 9091" name="adj"/>
            </a:avLst>
          </a:prstGeom>
          <a:solidFill>
            <a:srgbClr val="F4F7E9"/>
          </a:solidFill>
          <a:ln cap="flat" cmpd="sng" w="12700">
            <a:solidFill>
              <a:srgbClr val="C8D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6"/>
          <p:cNvSpPr/>
          <p:nvPr/>
        </p:nvSpPr>
        <p:spPr>
          <a:xfrm>
            <a:off x="1066800" y="4669154"/>
            <a:ext cx="5706428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Propiedad importante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La rotación NO cambia: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• Comunalidades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• Especificidades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• Varianza total explicada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Sólo cambia cómo se distribuye la varianza entre factores y la interpretabilidad.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B727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7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7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A6B727"/>
                </a:solidFill>
                <a:latin typeface="Calibri"/>
                <a:ea typeface="Calibri"/>
                <a:cs typeface="Calibri"/>
                <a:sym typeface="Calibri"/>
              </a:rPr>
              <a:t>ROTACIÓN ORTOGONAL: VARIMAX, QUARTIMAX, EQUAMAX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7"/>
          <p:cNvSpPr/>
          <p:nvPr/>
        </p:nvSpPr>
        <p:spPr>
          <a:xfrm>
            <a:off x="914400" y="1554480"/>
            <a:ext cx="10515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Varimax (más utilizado):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Objetivo: que cada factor tenga cargas muy altas en algunas variables y muy bajas en las demás.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Resultado: columnas (factores) simples de interpretar.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Quartimax: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Objetivo: cada variable relacionada con un solo factor. Simplifica filas.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Problema: a veces produce factor general fuerte (poco interpretable).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Equamax: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Combinación de Varimax y Quartimax. Equilibra ambos criterios.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B727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8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8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A6B727"/>
                </a:solidFill>
                <a:latin typeface="Calibri"/>
                <a:ea typeface="Calibri"/>
                <a:cs typeface="Calibri"/>
                <a:sym typeface="Calibri"/>
              </a:rPr>
              <a:t>ROTACIÓN OBLICUA: OBLIMIN Y PROMAX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8"/>
          <p:cNvSpPr/>
          <p:nvPr/>
        </p:nvSpPr>
        <p:spPr>
          <a:xfrm>
            <a:off x="914400" y="1554480"/>
            <a:ext cx="10515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Oblimin: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Permite que factores estén correlacionados (no son totalmente independientes).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Se usa cuando es razonable que factores comparten varianza.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Ejemplo: factores de personalidad pueden estar correlacionados.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Promax: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Primero hace rotación Varimax y luego permite correlación entre factores.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Procedimiento: rápido y eficiente.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Uso: muy común con muchas variables.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B727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9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9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Ejemplo Completo en R: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USArrests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B727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0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A6B727"/>
                </a:solidFill>
                <a:latin typeface="Calibri"/>
                <a:ea typeface="Calibri"/>
                <a:cs typeface="Calibri"/>
                <a:sym typeface="Calibri"/>
              </a:rPr>
              <a:t>DATASET USARRESTS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40"/>
          <p:cNvSpPr/>
          <p:nvPr/>
        </p:nvSpPr>
        <p:spPr>
          <a:xfrm>
            <a:off x="914400" y="1554480"/>
            <a:ext cx="6400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Cada fila = un estado de EEUU. Variables: tasas de criminalidad por 100,000 habitantes (1973).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Murder: arrestos por asesinato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Assault: arrestos por asalto agravado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UrbanPop: porcentaje de población urbana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Rape: arrestos por violación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0"/>
          <p:cNvSpPr/>
          <p:nvPr/>
        </p:nvSpPr>
        <p:spPr>
          <a:xfrm>
            <a:off x="914400" y="365760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A6B727"/>
                </a:solidFill>
                <a:latin typeface="Consolas"/>
                <a:ea typeface="Consolas"/>
                <a:cs typeface="Consolas"/>
                <a:sym typeface="Consolas"/>
              </a:rPr>
              <a:t>data("USArrests")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A6B727"/>
                </a:solidFill>
                <a:latin typeface="Consolas"/>
                <a:ea typeface="Consolas"/>
                <a:cs typeface="Consolas"/>
                <a:sym typeface="Consolas"/>
              </a:rPr>
              <a:t>head(USArrests)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clever-sweet-sagan/clase4_images/slide67_img9.png" id="344" name="Google Shape;34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2600324"/>
            <a:ext cx="5029200" cy="215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B727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A6B727"/>
                </a:solidFill>
                <a:latin typeface="Calibri"/>
                <a:ea typeface="Calibri"/>
                <a:cs typeface="Calibri"/>
                <a:sym typeface="Calibri"/>
              </a:rPr>
              <a:t>ESTANDARIZACIÓN DE DATOS Y TEST KMO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1"/>
          <p:cNvSpPr/>
          <p:nvPr/>
        </p:nvSpPr>
        <p:spPr>
          <a:xfrm>
            <a:off x="914400" y="155448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A6B727"/>
                </a:solidFill>
                <a:latin typeface="Consolas"/>
                <a:ea typeface="Consolas"/>
                <a:cs typeface="Consolas"/>
                <a:sym typeface="Consolas"/>
              </a:rPr>
              <a:t>datos &lt;- scale(USArrests)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A6B727"/>
                </a:solidFill>
                <a:latin typeface="Consolas"/>
                <a:ea typeface="Consolas"/>
                <a:cs typeface="Consolas"/>
                <a:sym typeface="Consolas"/>
              </a:rPr>
              <a:t>head(datos)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clever-sweet-sagan/clase4_images/slide68_img10.png" id="353" name="Google Shape;35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554480"/>
            <a:ext cx="50292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1"/>
          <p:cNvSpPr/>
          <p:nvPr/>
        </p:nvSpPr>
        <p:spPr>
          <a:xfrm>
            <a:off x="914400" y="393192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A6B727"/>
                </a:solidFill>
                <a:latin typeface="Consolas"/>
                <a:ea typeface="Consolas"/>
                <a:cs typeface="Consolas"/>
                <a:sym typeface="Consolas"/>
              </a:rPr>
              <a:t>library(psych)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A6B727"/>
                </a:solidFill>
                <a:latin typeface="Consolas"/>
                <a:ea typeface="Consolas"/>
                <a:cs typeface="Consolas"/>
                <a:sym typeface="Consolas"/>
              </a:rPr>
              <a:t>KMO(datos)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clever-sweet-sagan/clase4_images/slide69_img11.png" id="355" name="Google Shape;35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3931920"/>
            <a:ext cx="50292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1"/>
          <p:cNvSpPr/>
          <p:nvPr/>
        </p:nvSpPr>
        <p:spPr>
          <a:xfrm>
            <a:off x="914400" y="56692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Interpretación: KMO global &gt; 0.6 → adecuado para AF. UrbanPop muestra adecuación baja (MSA = 0.49).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B727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2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2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A6B727"/>
                </a:solidFill>
                <a:latin typeface="Calibri"/>
                <a:ea typeface="Calibri"/>
                <a:cs typeface="Calibri"/>
                <a:sym typeface="Calibri"/>
              </a:rPr>
              <a:t>TEST DE BARTLETT Y ANÁLISIS DE EIGENVALORES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2"/>
          <p:cNvSpPr/>
          <p:nvPr/>
        </p:nvSpPr>
        <p:spPr>
          <a:xfrm>
            <a:off x="914400" y="155448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A6B727"/>
                </a:solidFill>
                <a:latin typeface="Consolas"/>
                <a:ea typeface="Consolas"/>
                <a:cs typeface="Consolas"/>
                <a:sym typeface="Consolas"/>
              </a:rPr>
              <a:t>cortest.bartlett(datos)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clever-sweet-sagan/clase4_images/slide70_img12.png" id="365" name="Google Shape;36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554480"/>
            <a:ext cx="502920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2"/>
          <p:cNvSpPr/>
          <p:nvPr/>
        </p:nvSpPr>
        <p:spPr>
          <a:xfrm>
            <a:off x="914400" y="365760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p-valor muy pequeño → rechaza H</a:t>
            </a:r>
            <a:r>
              <a:rPr baseline="-25000" lang="en-US" sz="12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5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 → matriz tiene correlaciones (AF es apropiado)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2"/>
          <p:cNvSpPr/>
          <p:nvPr/>
        </p:nvSpPr>
        <p:spPr>
          <a:xfrm>
            <a:off x="914400" y="438912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A6B727"/>
                </a:solidFill>
                <a:latin typeface="Consolas"/>
                <a:ea typeface="Consolas"/>
                <a:cs typeface="Consolas"/>
                <a:sym typeface="Consolas"/>
              </a:rPr>
              <a:t>fa.parallel(datos, fa = "fa")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42"/>
          <p:cNvSpPr/>
          <p:nvPr/>
        </p:nvSpPr>
        <p:spPr>
          <a:xfrm>
            <a:off x="914400" y="51206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Parallel Analysis: línea azul = eigenvalores reales vs línea roja = simulados.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Conservar factores con eigenvalor real &gt; eigenvalor simulado.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Recomendación: 1 factor claramente significativo; 2do podría considerarse.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B727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3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3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A6B727"/>
                </a:solidFill>
                <a:latin typeface="Calibri"/>
                <a:ea typeface="Calibri"/>
                <a:cs typeface="Calibri"/>
                <a:sym typeface="Calibri"/>
              </a:rPr>
              <a:t>MODELO FACTORIAL: EXTRACCIÓN CON VARIMAX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3"/>
          <p:cNvSpPr/>
          <p:nvPr/>
        </p:nvSpPr>
        <p:spPr>
          <a:xfrm>
            <a:off x="914400" y="155448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A6B727"/>
                </a:solidFill>
                <a:latin typeface="Consolas"/>
                <a:ea typeface="Consolas"/>
                <a:cs typeface="Consolas"/>
                <a:sym typeface="Consolas"/>
              </a:rPr>
              <a:t>fa_modelo &lt;- fa(datos, nfactors=2, rotate="varimax")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A6B727"/>
                </a:solidFill>
                <a:latin typeface="Consolas"/>
                <a:ea typeface="Consolas"/>
                <a:cs typeface="Consolas"/>
                <a:sym typeface="Consolas"/>
              </a:rPr>
              <a:t>fa_modelo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clever-sweet-sagan/clase4_images/slide72_img13.png" id="377" name="Google Shape;37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2012" y="1977548"/>
            <a:ext cx="5894592" cy="4111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B727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4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4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A6B727"/>
                </a:solidFill>
                <a:latin typeface="Calibri"/>
                <a:ea typeface="Calibri"/>
                <a:cs typeface="Calibri"/>
                <a:sym typeface="Calibri"/>
              </a:rPr>
              <a:t>COMUNALIDADES Y ROTACIÓN PROMAX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4"/>
          <p:cNvSpPr/>
          <p:nvPr/>
        </p:nvSpPr>
        <p:spPr>
          <a:xfrm>
            <a:off x="914400" y="155448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A6B727"/>
                </a:solidFill>
                <a:latin typeface="Consolas"/>
                <a:ea typeface="Consolas"/>
                <a:cs typeface="Consolas"/>
                <a:sym typeface="Consolas"/>
              </a:rPr>
              <a:t>fa_modelo$communality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A6B727"/>
                </a:solidFill>
                <a:latin typeface="Consolas"/>
                <a:ea typeface="Consolas"/>
                <a:cs typeface="Consolas"/>
                <a:sym typeface="Consolas"/>
              </a:rPr>
              <a:t>fa_promax &lt;- fa(datos, nfactors=2, rotate="promax")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A6B727"/>
                </a:solidFill>
                <a:latin typeface="Consolas"/>
                <a:ea typeface="Consolas"/>
                <a:cs typeface="Consolas"/>
                <a:sym typeface="Consolas"/>
              </a:rPr>
              <a:t>fa_promax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4"/>
          <p:cNvSpPr/>
          <p:nvPr/>
        </p:nvSpPr>
        <p:spPr>
          <a:xfrm>
            <a:off x="914400" y="301752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Comunalidad: proporción de varianza de cada variable explicada por los dos factores.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Rotación Promax: permite correlación entre factores (modelo oblicuo).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clever-sweet-sagan/clase4_images/slide74_img14.png" id="387" name="Google Shape;38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6759" y="2814637"/>
            <a:ext cx="5567635" cy="338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B727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5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5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A6B727"/>
                </a:solidFill>
                <a:latin typeface="Calibri"/>
                <a:ea typeface="Calibri"/>
                <a:cs typeface="Calibri"/>
                <a:sym typeface="Calibri"/>
              </a:rPr>
              <a:t>RESUMEN: ANÁLISIS FACTORIAL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5"/>
          <p:cNvSpPr/>
          <p:nvPr/>
        </p:nvSpPr>
        <p:spPr>
          <a:xfrm>
            <a:off x="914400" y="1554480"/>
            <a:ext cx="3383280" cy="2011680"/>
          </a:xfrm>
          <a:prstGeom prst="roundRect">
            <a:avLst>
              <a:gd fmla="val 4545" name="adj"/>
            </a:avLst>
          </a:prstGeom>
          <a:solidFill>
            <a:srgbClr val="F4F7E9"/>
          </a:solidFill>
          <a:ln cap="flat" cmpd="sng" w="12700">
            <a:solidFill>
              <a:srgbClr val="C8D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5"/>
          <p:cNvSpPr/>
          <p:nvPr/>
        </p:nvSpPr>
        <p:spPr>
          <a:xfrm>
            <a:off x="1051560" y="1645920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¿Qué es?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Técnica de reducción de dimensiones que busca factores latentes (no observados) que expliquen las correlaciones entre variables observadas.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5"/>
          <p:cNvSpPr/>
          <p:nvPr/>
        </p:nvSpPr>
        <p:spPr>
          <a:xfrm>
            <a:off x="4480560" y="1554480"/>
            <a:ext cx="3383280" cy="2011680"/>
          </a:xfrm>
          <a:prstGeom prst="roundRect">
            <a:avLst>
              <a:gd fmla="val 4545" name="adj"/>
            </a:avLst>
          </a:prstGeom>
          <a:solidFill>
            <a:srgbClr val="F4F7E9"/>
          </a:solidFill>
          <a:ln cap="flat" cmpd="sng" w="12700">
            <a:solidFill>
              <a:srgbClr val="C8D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5"/>
          <p:cNvSpPr/>
          <p:nvPr/>
        </p:nvSpPr>
        <p:spPr>
          <a:xfrm>
            <a:off x="4617720" y="1645920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Requisitos previos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• KMO adecuado (&gt; 0.5)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• Test de Bartlett significativo (p &lt; 0.05)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• Matriz de correlaciones con estructura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5"/>
          <p:cNvSpPr/>
          <p:nvPr/>
        </p:nvSpPr>
        <p:spPr>
          <a:xfrm>
            <a:off x="8046720" y="1574482"/>
            <a:ext cx="3474720" cy="2011680"/>
          </a:xfrm>
          <a:prstGeom prst="roundRect">
            <a:avLst>
              <a:gd fmla="val 4545" name="adj"/>
            </a:avLst>
          </a:prstGeom>
          <a:solidFill>
            <a:srgbClr val="F4F7E9"/>
          </a:solidFill>
          <a:ln cap="flat" cmpd="sng" w="12700">
            <a:solidFill>
              <a:srgbClr val="C8D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5"/>
          <p:cNvSpPr/>
          <p:nvPr/>
        </p:nvSpPr>
        <p:spPr>
          <a:xfrm>
            <a:off x="8183880" y="1665922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Métodos de extracción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• Componentes Principales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• Ejes Principales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• Máxima Verosimilitud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45"/>
          <p:cNvSpPr/>
          <p:nvPr/>
        </p:nvSpPr>
        <p:spPr>
          <a:xfrm>
            <a:off x="914400" y="3657600"/>
            <a:ext cx="3383280" cy="2011680"/>
          </a:xfrm>
          <a:prstGeom prst="roundRect">
            <a:avLst>
              <a:gd fmla="val 4545" name="adj"/>
            </a:avLst>
          </a:prstGeom>
          <a:solidFill>
            <a:srgbClr val="F4F7E9"/>
          </a:solidFill>
          <a:ln cap="flat" cmpd="sng" w="12700">
            <a:solidFill>
              <a:srgbClr val="C8D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5"/>
          <p:cNvSpPr/>
          <p:nvPr/>
        </p:nvSpPr>
        <p:spPr>
          <a:xfrm>
            <a:off x="1051560" y="3749040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¿Cuántos factores?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• Criterio a priori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• Regla de Kaiser (λ &gt; 1)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• % varianza (75-80%)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• Scree plot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5"/>
          <p:cNvSpPr/>
          <p:nvPr/>
        </p:nvSpPr>
        <p:spPr>
          <a:xfrm>
            <a:off x="4480560" y="3657600"/>
            <a:ext cx="3383280" cy="2011680"/>
          </a:xfrm>
          <a:prstGeom prst="roundRect">
            <a:avLst>
              <a:gd fmla="val 4545" name="adj"/>
            </a:avLst>
          </a:prstGeom>
          <a:solidFill>
            <a:srgbClr val="F4F7E9"/>
          </a:solidFill>
          <a:ln cap="flat" cmpd="sng" w="12700">
            <a:solidFill>
              <a:srgbClr val="C8D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5"/>
          <p:cNvSpPr/>
          <p:nvPr/>
        </p:nvSpPr>
        <p:spPr>
          <a:xfrm>
            <a:off x="4617720" y="3749040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Interpretación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Correlaciones altas entre factores y variables → identificar y nombrar factores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5"/>
          <p:cNvSpPr/>
          <p:nvPr/>
        </p:nvSpPr>
        <p:spPr>
          <a:xfrm>
            <a:off x="8046720" y="3677602"/>
            <a:ext cx="3474720" cy="2011680"/>
          </a:xfrm>
          <a:prstGeom prst="roundRect">
            <a:avLst>
              <a:gd fmla="val 4545" name="adj"/>
            </a:avLst>
          </a:prstGeom>
          <a:solidFill>
            <a:srgbClr val="F4F7E9"/>
          </a:solidFill>
          <a:ln cap="flat" cmpd="sng" w="12700">
            <a:solidFill>
              <a:srgbClr val="C8D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5"/>
          <p:cNvSpPr/>
          <p:nvPr/>
        </p:nvSpPr>
        <p:spPr>
          <a:xfrm>
            <a:off x="8183880" y="3769042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Rotación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65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95652"/>
                </a:solidFill>
                <a:latin typeface="Calibri"/>
                <a:ea typeface="Calibri"/>
                <a:cs typeface="Calibri"/>
                <a:sym typeface="Calibri"/>
              </a:rPr>
              <a:t>Varimax (ortogonal) o Promax (oblicua) para mejorar interpretabilidad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2026-04-02T22:31:35Z</dcterms:created>
  <dc:creator>Métodos Estadísticos</dc:creator>
</cp:coreProperties>
</file>