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6858000" cx="12192000"/>
  <p:notesSz cx="6858000" cy="9144000"/>
  <p:embeddedFontLst>
    <p:embeddedFont>
      <p:font typeface="Corbel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9" roundtripDataSignature="AMtx7miIbIevABVz7MQ6PIm6FZ9TBdsu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Corbel-regular.fnt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Corbel-italic.fntdata"/><Relationship Id="rId12" Type="http://schemas.openxmlformats.org/officeDocument/2006/relationships/slide" Target="slides/slide8.xml"/><Relationship Id="rId56" Type="http://schemas.openxmlformats.org/officeDocument/2006/relationships/font" Target="fonts/Corbel-bold.fntdata"/><Relationship Id="rId15" Type="http://schemas.openxmlformats.org/officeDocument/2006/relationships/slide" Target="slides/slide11.xml"/><Relationship Id="rId59" Type="http://customschemas.google.com/relationships/presentationmetadata" Target="metadata"/><Relationship Id="rId14" Type="http://schemas.openxmlformats.org/officeDocument/2006/relationships/slide" Target="slides/slide10.xml"/><Relationship Id="rId58" Type="http://schemas.openxmlformats.org/officeDocument/2006/relationships/font" Target="fonts/Corbel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5afeaa2e3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95afeaa2e3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9" name="Google Shape;89;g395afeaa2e3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5" name="Google Shape;95;p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5afeaa2e3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95afeaa2e3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2" name="Google Shape;102;g395afeaa2e3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5afeaa2e3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95afeaa2e3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9" name="Google Shape;109;g395afeaa2e3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5afeaa2e3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95afeaa2e3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7" name="Google Shape;117;g395afeaa2e3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5afeaa2e3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95afeaa2e3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4" name="Google Shape;124;g395afeaa2e3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2" name="Google Shape;132;p1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0" name="Google Shape;1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7" name="Google Shape;147;p1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4" name="Google Shape;154;p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2" name="Google Shape;162;p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9" name="Google Shape;169;p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8" name="Google Shape;178;p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0" name="Google Shape;190;p1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8" name="Google Shape;198;p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6" name="Google Shape;206;p1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4" name="Google Shape;214;p1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2" name="Google Shape;222;p1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5" name="Google Shape;235;p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5" name="Google Shape;245;p1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5" name="Google Shape;255;p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3" name="Google Shape;263;p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8" name="Google Shape;278;p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7" name="Google Shape;287;p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6" name="Google Shape;296;p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4" name="Google Shape;304;p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3" name="Google Shape;313;p1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9" name="Google Shape;319;p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7" name="Google Shape;327;p2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4" name="Google Shape;334;p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1" name="Google Shape;341;p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1" name="Google Shape;351;p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95afeaa2e3_0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9" name="Google Shape;359;g395afeaa2e3_0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9" name="Google Shape;369;p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95b26d079e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76" name="Google Shape;376;g395b26d079e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5b26d079e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3" name="Google Shape;383;g395b26d079e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1" name="Google Shape;391;p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d6f1dc2c5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cd6f1dc2c5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00" name="Google Shape;400;g3cd6f1dc2c5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d6f1dc2c5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cd6f1dc2c5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08" name="Google Shape;408;g3cd6f1dc2c5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6" name="Google Shape;416;p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cd6f1dc2c5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cd6f1dc2c5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27" name="Google Shape;427;g3cd6f1dc2c5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d6f1dc2c5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cd6f1dc2c5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7" name="Google Shape;437;g3cd6f1dc2c5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cd6f1dc2c5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cd6f1dc2c5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6" name="Google Shape;446;g3cd6f1dc2c5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cd6f1dc2c5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3cd6f1dc2c5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56" name="Google Shape;456;g3cd6f1dc2c5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65" name="Google Shape;465;p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72" name="Google Shape;472;p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cd6f1dc2c5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0" name="Google Shape;480;g3cd6f1dc2c5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9" name="Google Shape;489;p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cd6f1dc2c5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3cd6f1dc2c5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8" name="Google Shape;498;g3cd6f1dc2c5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cd39ad88fe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6" name="Google Shape;506;g3cd39ad88fe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9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9"/>
          <p:cNvSpPr txBox="1"/>
          <p:nvPr>
            <p:ph idx="1" type="body"/>
          </p:nvPr>
        </p:nvSpPr>
        <p:spPr>
          <a:xfrm>
            <a:off x="1143000" y="2057400"/>
            <a:ext cx="9873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4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4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4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4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4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19" name="Google Shape;19;p169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9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9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8"/>
          <p:cNvSpPr/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68"/>
          <p:cNvSpPr txBox="1"/>
          <p:nvPr>
            <p:ph type="ctrTitle"/>
          </p:nvPr>
        </p:nvSpPr>
        <p:spPr>
          <a:xfrm>
            <a:off x="1109980" y="882376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orbel"/>
              <a:buNone/>
              <a:defRPr b="1" sz="7200" cap="none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8"/>
          <p:cNvSpPr txBox="1"/>
          <p:nvPr>
            <p:ph idx="1" type="subTitle"/>
          </p:nvPr>
        </p:nvSpPr>
        <p:spPr>
          <a:xfrm>
            <a:off x="1709530" y="3869634"/>
            <a:ext cx="8767860" cy="138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76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6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2000"/>
            </a:lvl9pPr>
          </a:lstStyle>
          <a:p/>
        </p:txBody>
      </p:sp>
      <p:sp>
        <p:nvSpPr>
          <p:cNvPr id="26" name="Google Shape;26;p168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8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8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cxnSp>
        <p:nvCxnSpPr>
          <p:cNvPr id="29" name="Google Shape;29;p168"/>
          <p:cNvCxnSpPr/>
          <p:nvPr/>
        </p:nvCxnSpPr>
        <p:spPr>
          <a:xfrm>
            <a:off x="1978660" y="3733800"/>
            <a:ext cx="8229601" cy="0"/>
          </a:xfrm>
          <a:prstGeom prst="straightConnector1">
            <a:avLst/>
          </a:prstGeom>
          <a:noFill/>
          <a:ln cap="flat" cmpd="sng" w="10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4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4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4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3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3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3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3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7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7"/>
          <p:cNvSpPr txBox="1"/>
          <p:nvPr>
            <p:ph idx="1" type="body"/>
          </p:nvPr>
        </p:nvSpPr>
        <p:spPr>
          <a:xfrm rot="5400000">
            <a:off x="4060136" y="-859736"/>
            <a:ext cx="4038600" cy="9872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4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4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4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4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4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42" name="Google Shape;42;p177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7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7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1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1"/>
          <p:cNvSpPr txBox="1"/>
          <p:nvPr>
            <p:ph idx="1" type="body"/>
          </p:nvPr>
        </p:nvSpPr>
        <p:spPr>
          <a:xfrm>
            <a:off x="1143000" y="2057399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4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8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8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8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8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8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48" name="Google Shape;48;p171"/>
          <p:cNvSpPr txBox="1"/>
          <p:nvPr>
            <p:ph idx="2" type="body"/>
          </p:nvPr>
        </p:nvSpPr>
        <p:spPr>
          <a:xfrm>
            <a:off x="6267612" y="20574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4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8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8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8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8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8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49" name="Google Shape;49;p171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1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1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4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i="0" sz="4000">
                <a:solidFill>
                  <a:srgbClr val="00609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4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4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4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72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2"/>
          <p:cNvSpPr txBox="1"/>
          <p:nvPr>
            <p:ph idx="1" type="body"/>
          </p:nvPr>
        </p:nvSpPr>
        <p:spPr>
          <a:xfrm>
            <a:off x="1143000" y="2001511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0" name="Google Shape;60;p172"/>
          <p:cNvSpPr txBox="1"/>
          <p:nvPr>
            <p:ph idx="2" type="body"/>
          </p:nvPr>
        </p:nvSpPr>
        <p:spPr>
          <a:xfrm>
            <a:off x="1143000" y="2721483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4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8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8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8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8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8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61" name="Google Shape;61;p172"/>
          <p:cNvSpPr txBox="1"/>
          <p:nvPr>
            <p:ph idx="3" type="body"/>
          </p:nvPr>
        </p:nvSpPr>
        <p:spPr>
          <a:xfrm>
            <a:off x="6269173" y="1999032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2" name="Google Shape;62;p172"/>
          <p:cNvSpPr txBox="1"/>
          <p:nvPr>
            <p:ph idx="4" type="body"/>
          </p:nvPr>
        </p:nvSpPr>
        <p:spPr>
          <a:xfrm>
            <a:off x="6269173" y="2719322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4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8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8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8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8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8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63" name="Google Shape;63;p172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2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2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5"/>
          <p:cNvSpPr txBox="1"/>
          <p:nvPr>
            <p:ph type="title"/>
          </p:nvPr>
        </p:nvSpPr>
        <p:spPr>
          <a:xfrm>
            <a:off x="1143000" y="1097280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orbel"/>
              <a:buNone/>
              <a:defRPr b="0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5"/>
          <p:cNvSpPr txBox="1"/>
          <p:nvPr>
            <p:ph idx="1" type="body"/>
          </p:nvPr>
        </p:nvSpPr>
        <p:spPr>
          <a:xfrm>
            <a:off x="5852159" y="1097280"/>
            <a:ext cx="521208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60"/>
              <a:buChar char="•"/>
              <a:defRPr sz="3200"/>
            </a:lvl1pPr>
            <a:lvl2pPr indent="-37084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240"/>
              <a:buChar char="•"/>
              <a:defRPr sz="2800"/>
            </a:lvl2pPr>
            <a:lvl3pPr indent="-35052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920"/>
              <a:buChar char="•"/>
              <a:defRPr sz="24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•"/>
              <a:defRPr sz="2000"/>
            </a:lvl9pPr>
          </a:lstStyle>
          <a:p/>
        </p:txBody>
      </p:sp>
      <p:sp>
        <p:nvSpPr>
          <p:cNvPr id="69" name="Google Shape;69;p175"/>
          <p:cNvSpPr txBox="1"/>
          <p:nvPr>
            <p:ph idx="2" type="body"/>
          </p:nvPr>
        </p:nvSpPr>
        <p:spPr>
          <a:xfrm>
            <a:off x="1143000" y="2834640"/>
            <a:ext cx="39319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60"/>
              <a:buNone/>
              <a:defRPr sz="17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0" name="Google Shape;70;p175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5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5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6"/>
          <p:cNvSpPr txBox="1"/>
          <p:nvPr>
            <p:ph type="title"/>
          </p:nvPr>
        </p:nvSpPr>
        <p:spPr>
          <a:xfrm>
            <a:off x="1143000" y="1097280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orbel"/>
              <a:buNone/>
              <a:defRPr b="0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6"/>
          <p:cNvSpPr/>
          <p:nvPr>
            <p:ph idx="2" type="pic"/>
          </p:nvPr>
        </p:nvSpPr>
        <p:spPr>
          <a:xfrm>
            <a:off x="5413248" y="1069847"/>
            <a:ext cx="6099048" cy="48006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76"/>
          <p:cNvSpPr txBox="1"/>
          <p:nvPr>
            <p:ph idx="1" type="body"/>
          </p:nvPr>
        </p:nvSpPr>
        <p:spPr>
          <a:xfrm>
            <a:off x="1143000" y="2834640"/>
            <a:ext cx="39319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60"/>
              <a:buNone/>
              <a:defRPr sz="17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7" name="Google Shape;77;p176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6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6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8"/>
          <p:cNvSpPr txBox="1"/>
          <p:nvPr>
            <p:ph type="title"/>
          </p:nvPr>
        </p:nvSpPr>
        <p:spPr>
          <a:xfrm rot="5400000">
            <a:off x="7181850" y="2305050"/>
            <a:ext cx="54102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8"/>
          <p:cNvSpPr txBox="1"/>
          <p:nvPr>
            <p:ph idx="1" type="body"/>
          </p:nvPr>
        </p:nvSpPr>
        <p:spPr>
          <a:xfrm rot="5400000">
            <a:off x="2152650" y="-247650"/>
            <a:ext cx="5410200" cy="74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4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4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4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4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4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83" name="Google Shape;83;p178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8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8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7"/>
          <p:cNvSpPr/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67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  <a:defRPr b="0" i="0" sz="44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7"/>
          <p:cNvSpPr txBox="1"/>
          <p:nvPr>
            <p:ph idx="1" type="body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Corbel"/>
              <a:buChar char="•"/>
              <a:defRPr b="0" i="0" sz="2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orbel"/>
              <a:buChar char="•"/>
              <a:defRPr b="0" i="0" sz="20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2004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Corbel"/>
              <a:buChar char="•"/>
              <a:defRPr b="0" i="0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0988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0988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0988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0988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0988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0988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167"/>
          <p:cNvSpPr txBox="1"/>
          <p:nvPr>
            <p:ph idx="10" type="dt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167"/>
          <p:cNvSpPr txBox="1"/>
          <p:nvPr>
            <p:ph idx="11" type="ftr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" name="Google Shape;15;p167"/>
          <p:cNvSpPr txBox="1"/>
          <p:nvPr>
            <p:ph idx="12" type="sldNum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Relationship Id="rId4" Type="http://schemas.openxmlformats.org/officeDocument/2006/relationships/image" Target="../media/image5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5.png"/><Relationship Id="rId4" Type="http://schemas.openxmlformats.org/officeDocument/2006/relationships/image" Target="../media/image5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9.png"/><Relationship Id="rId4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3.png"/><Relationship Id="rId4" Type="http://schemas.openxmlformats.org/officeDocument/2006/relationships/image" Target="../media/image4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png"/><Relationship Id="rId4" Type="http://schemas.openxmlformats.org/officeDocument/2006/relationships/image" Target="../media/image5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5afeaa2e3_0_6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¿POR QUÉ EXISTE ESTE CURSO?</a:t>
            </a:r>
            <a:endParaRPr/>
          </a:p>
        </p:txBody>
      </p:sp>
      <p:sp>
        <p:nvSpPr>
          <p:cNvPr id="92" name="Google Shape;92;g395afeaa2e3_0_6"/>
          <p:cNvSpPr txBox="1"/>
          <p:nvPr>
            <p:ph idx="1" type="body"/>
          </p:nvPr>
        </p:nvSpPr>
        <p:spPr>
          <a:xfrm>
            <a:off x="1144260" y="1663690"/>
            <a:ext cx="9873000" cy="4334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13716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6486"/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empresas generan cada vez más datos, y casi nunca vienen en una sola variable.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6486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6486"/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Ejemplos:</a:t>
            </a:r>
            <a:endParaRPr/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6486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Comportamiento de clientes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6486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de procesos industriales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6486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Indicadores financieros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6486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6486"/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 central del curso: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6486"/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entender datos cuando varias variables están relacionadas entre sí?</a:t>
            </a:r>
            <a:endParaRPr/>
          </a:p>
          <a:p>
            <a:pPr indent="0" lvl="0" marL="13716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6486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6486"/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este curso aprenderemos a describir relaciones, reducir complejidad, clasificar observaciones y diseñar experimentos.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9"/>
          <p:cNvSpPr txBox="1"/>
          <p:nvPr>
            <p:ph type="ctrTitle"/>
          </p:nvPr>
        </p:nvSpPr>
        <p:spPr>
          <a:xfrm>
            <a:off x="1109980" y="882376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orbel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Métodos Estadísticos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9"/>
          <p:cNvSpPr txBox="1"/>
          <p:nvPr>
            <p:ph idx="1" type="subTitle"/>
          </p:nvPr>
        </p:nvSpPr>
        <p:spPr>
          <a:xfrm>
            <a:off x="554498" y="3808456"/>
            <a:ext cx="10947691" cy="2687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0360" lvl="0" marL="45720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ING 202610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5afeaa2e3_0_20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BIENVENIDOS A MÉTODOS ESTADÍSTICOS</a:t>
            </a:r>
            <a:endParaRPr/>
          </a:p>
        </p:txBody>
      </p:sp>
      <p:sp>
        <p:nvSpPr>
          <p:cNvPr id="105" name="Google Shape;105;g395afeaa2e3_0_20"/>
          <p:cNvSpPr txBox="1"/>
          <p:nvPr>
            <p:ph idx="1" type="body"/>
          </p:nvPr>
        </p:nvSpPr>
        <p:spPr>
          <a:xfrm>
            <a:off x="1143000" y="2057400"/>
            <a:ext cx="9873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curso introduce herramientas de análisis estadístico multivariado aplicadas a problemas de ingeniería.</a:t>
            </a:r>
            <a:endParaRPr/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Trabajaremos con datos con múltiples variables interrelacionadas.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b="1"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del curso</a:t>
            </a: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Extraer información útil de datos complejos para apoyar decisiones.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5afeaa2e3_0_28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¿QUÉ APRENDEREMOS?</a:t>
            </a:r>
            <a:endParaRPr/>
          </a:p>
        </p:txBody>
      </p:sp>
      <p:sp>
        <p:nvSpPr>
          <p:cNvPr id="112" name="Google Shape;112;g395afeaa2e3_0_28"/>
          <p:cNvSpPr txBox="1"/>
          <p:nvPr>
            <p:ph idx="1" type="body"/>
          </p:nvPr>
        </p:nvSpPr>
        <p:spPr>
          <a:xfrm>
            <a:off x="855652" y="1900102"/>
            <a:ext cx="55875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71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1"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Fundamentos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Matrices de datos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Covarianzas y correlaciones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Medidas de distancia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 de datos multivariados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1"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Reducción de dimensión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Componentes Principales (PCA)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factorial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Interpretación de estructuras latentes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95afeaa2e3_0_28"/>
          <p:cNvSpPr txBox="1"/>
          <p:nvPr/>
        </p:nvSpPr>
        <p:spPr>
          <a:xfrm>
            <a:off x="6730500" y="1795759"/>
            <a:ext cx="5232900" cy="39087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7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Clasificación y agrupamiento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rbel"/>
              <a:buChar char="•"/>
            </a:pPr>
            <a:r>
              <a:rPr b="0" i="0" lang="es-CO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discriminante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rbel"/>
              <a:buChar char="•"/>
            </a:pPr>
            <a:r>
              <a:rPr b="0" i="0" lang="es-CO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Clustering (K-means y jerárquico)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rbel"/>
              <a:buChar char="•"/>
            </a:pPr>
            <a:r>
              <a:rPr b="0" i="0" lang="es-CO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Árboles de clasificación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rbel"/>
              <a:buChar char="•"/>
            </a:pPr>
            <a:r>
              <a:rPr b="0" i="0" lang="es-CO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de modelos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rbe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-CO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Diseño de experimentos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rbel"/>
              <a:buChar char="•"/>
            </a:pPr>
            <a:r>
              <a:rPr b="0" i="0" lang="es-CO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Diseños factoriales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rbel"/>
              <a:buChar char="•"/>
            </a:pPr>
            <a:r>
              <a:rPr b="0" i="0" lang="es-CO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Bloqueo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rbel"/>
              <a:buChar char="•"/>
            </a:pPr>
            <a:r>
              <a:rPr b="0" i="0" lang="es-CO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Superficies de respuesta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rbel"/>
              <a:buChar char="•"/>
            </a:pPr>
            <a:r>
              <a:rPr b="0" i="0" lang="es-CO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Optimización de procesos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5afeaa2e3_0_35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CÓMO TRABAJAREMOS EN EL CURSO</a:t>
            </a:r>
            <a:endParaRPr/>
          </a:p>
        </p:txBody>
      </p:sp>
      <p:sp>
        <p:nvSpPr>
          <p:cNvPr id="120" name="Google Shape;120;g395afeaa2e3_0_35"/>
          <p:cNvSpPr txBox="1"/>
          <p:nvPr>
            <p:ph idx="1" type="body"/>
          </p:nvPr>
        </p:nvSpPr>
        <p:spPr>
          <a:xfrm>
            <a:off x="1143000" y="2057400"/>
            <a:ext cx="9873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Clases expositivas y resolución de problemas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datos reales</a:t>
            </a:r>
            <a:endParaRPr/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aplicado durante el semestre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Evaluaciones: pruebas y proyecto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 del curso:</a:t>
            </a:r>
            <a:endParaRPr/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solo calcular, sino interpretar resultados y usarlos para tomar decisiones.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5afeaa2e3_0_43"/>
          <p:cNvSpPr txBox="1"/>
          <p:nvPr>
            <p:ph idx="4294967295" type="ctrTitle"/>
          </p:nvPr>
        </p:nvSpPr>
        <p:spPr>
          <a:xfrm>
            <a:off x="1143000" y="2090711"/>
            <a:ext cx="10008429" cy="292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Hasta ahora hablamos de datos con muchas variables.</a:t>
            </a:r>
            <a:endParaRPr b="0" i="0" sz="4400" u="none" cap="none" strike="noStrike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primer paso para entender datos multivariados es estudiar cómo se relacionan las variables entre sí.</a:t>
            </a:r>
            <a:endParaRPr b="0" i="0" sz="4400" u="none" cap="none" strike="noStrike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orbe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Ejemplos cotidianos:</a:t>
            </a:r>
            <a:endParaRPr b="0" i="0" sz="4400" u="none" cap="none" strike="noStrike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Altura y peso</a:t>
            </a:r>
            <a:endParaRPr b="0" i="0" sz="4400" u="none" cap="none" strike="noStrike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Horas de estudio y nota</a:t>
            </a:r>
            <a:endParaRPr b="0" i="0" sz="4400" u="none" cap="none" strike="noStrike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Temperatura del horno y calidad del producto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95afeaa2e3_0_43"/>
          <p:cNvSpPr/>
          <p:nvPr/>
        </p:nvSpPr>
        <p:spPr>
          <a:xfrm>
            <a:off x="2113511" y="5141225"/>
            <a:ext cx="7964978" cy="822960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Antes de reducir dimensión o agrupar datos, primero miramos relaciones entre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95afeaa2e3_0_43"/>
          <p:cNvSpPr txBox="1"/>
          <p:nvPr/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rbel"/>
              <a:buNone/>
            </a:pPr>
            <a:r>
              <a:rPr b="0" i="0" lang="es-CO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¿POR QUÉ EMPEZAMOS POR COVARIANZA Y CORRELACIÓN?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230524"/>
            <a:ext cx="6420173" cy="365038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0"/>
          <p:cNvSpPr txBox="1"/>
          <p:nvPr/>
        </p:nvSpPr>
        <p:spPr>
          <a:xfrm>
            <a:off x="1143000" y="777240"/>
            <a:ext cx="10058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rbel"/>
              <a:buNone/>
            </a:pPr>
            <a:r>
              <a:rPr b="0" i="0" lang="es-CO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¿QUÉ ESPERAMOS CUANDO UNA VARIABLE AUMENTA?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0"/>
          <p:cNvSpPr/>
          <p:nvPr/>
        </p:nvSpPr>
        <p:spPr>
          <a:xfrm>
            <a:off x="8249231" y="2230524"/>
            <a:ext cx="3328003" cy="1463040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Tres posibilidades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Y también aumenta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Y disminuye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aparece un patrón claro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0"/>
          <p:cNvSpPr/>
          <p:nvPr/>
        </p:nvSpPr>
        <p:spPr>
          <a:xfrm>
            <a:off x="8249231" y="4329837"/>
            <a:ext cx="3474720" cy="1280160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 nos habla 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covarianza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correlación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gráficos de dispersión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/>
          <p:nvPr>
            <p:ph type="ctrTitle"/>
          </p:nvPr>
        </p:nvSpPr>
        <p:spPr>
          <a:xfrm>
            <a:off x="1109980" y="882376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s-CO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Covarianza, Correlación y Escalamiento</a:t>
            </a:r>
            <a:endParaRPr sz="6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>
            <p:ph idx="1" type="subTitle"/>
          </p:nvPr>
        </p:nvSpPr>
        <p:spPr>
          <a:xfrm>
            <a:off x="554498" y="3808456"/>
            <a:ext cx="10947691" cy="2687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0360" lvl="0" marL="45720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CAPÍTULO 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1"/>
          <p:cNvPicPr preferRelativeResize="0"/>
          <p:nvPr/>
        </p:nvPicPr>
        <p:blipFill rotWithShape="1">
          <a:blip r:embed="rId3">
            <a:alphaModFix/>
          </a:blip>
          <a:srcRect b="0" l="0" r="0" t="13232"/>
          <a:stretch/>
        </p:blipFill>
        <p:spPr>
          <a:xfrm>
            <a:off x="1143000" y="1937288"/>
            <a:ext cx="6560427" cy="382553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1"/>
          <p:cNvSpPr txBox="1"/>
          <p:nvPr>
            <p:ph type="title"/>
          </p:nvPr>
        </p:nvSpPr>
        <p:spPr>
          <a:xfrm>
            <a:off x="1143000" y="561352"/>
            <a:ext cx="9875400" cy="629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03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COVARIANZA DE DOS VARIABLES (X E Y)</a:t>
            </a:r>
            <a:endParaRPr/>
          </a:p>
        </p:txBody>
      </p:sp>
      <p:sp>
        <p:nvSpPr>
          <p:cNvPr id="151" name="Google Shape;151;p181"/>
          <p:cNvSpPr/>
          <p:nvPr/>
        </p:nvSpPr>
        <p:spPr>
          <a:xfrm>
            <a:off x="8249231" y="1937288"/>
            <a:ext cx="3328003" cy="3700220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covarianza mide cómo se mueven dos variables juntas.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Positiva: tienden a aumentar o disminuir al mismo tiempo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Negativa: cuando una sube, la otra tiende a bajar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Cercana a cero: no se observa relación lineal clara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2"/>
          <p:cNvSpPr txBox="1"/>
          <p:nvPr>
            <p:ph type="title"/>
          </p:nvPr>
        </p:nvSpPr>
        <p:spPr>
          <a:xfrm>
            <a:off x="1143000" y="561352"/>
            <a:ext cx="9875400" cy="629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03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COVARIANZA: MATEMÁTICAMENTE</a:t>
            </a:r>
            <a:endParaRPr/>
          </a:p>
        </p:txBody>
      </p:sp>
      <p:sp>
        <p:nvSpPr>
          <p:cNvPr id="157" name="Google Shape;157;p182"/>
          <p:cNvSpPr txBox="1"/>
          <p:nvPr/>
        </p:nvSpPr>
        <p:spPr>
          <a:xfrm>
            <a:off x="1143000" y="2246602"/>
            <a:ext cx="6621642" cy="23647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7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2"/>
          <p:cNvSpPr/>
          <p:nvPr/>
        </p:nvSpPr>
        <p:spPr>
          <a:xfrm>
            <a:off x="8601957" y="2246602"/>
            <a:ext cx="2772904" cy="2474760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signo indica dirección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magnitud depende de las unidades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2"/>
          <p:cNvSpPr txBox="1"/>
          <p:nvPr/>
        </p:nvSpPr>
        <p:spPr>
          <a:xfrm>
            <a:off x="1267502" y="4979772"/>
            <a:ext cx="91924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signo de la covarianza es más importante que su magnitud al comienzo.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3"/>
          <p:cNvSpPr txBox="1"/>
          <p:nvPr/>
        </p:nvSpPr>
        <p:spPr>
          <a:xfrm>
            <a:off x="1112024" y="1601595"/>
            <a:ext cx="10431000" cy="247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Cov(X,Y) &gt; 0: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X e Y tienden a estar simultáneamente por encima o por debajo de sus medias.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Cov(X,Y) &lt; 0: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Cuando una variable está sobre su media, la otra tiende a estar bajo su media.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Cov(X,Y) = 0: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No se observa relación lineal entre las variables.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3"/>
          <p:cNvSpPr txBox="1"/>
          <p:nvPr>
            <p:ph type="title"/>
          </p:nvPr>
        </p:nvSpPr>
        <p:spPr>
          <a:xfrm>
            <a:off x="1143000" y="561352"/>
            <a:ext cx="9875400" cy="629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203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COVARIANZA: INTERPRETACIÓN</a:t>
            </a:r>
            <a:endParaRPr/>
          </a:p>
        </p:txBody>
      </p:sp>
      <p:sp>
        <p:nvSpPr>
          <p:cNvPr id="166" name="Google Shape;166;p183"/>
          <p:cNvSpPr txBox="1"/>
          <p:nvPr/>
        </p:nvSpPr>
        <p:spPr>
          <a:xfrm>
            <a:off x="1112024" y="4383524"/>
            <a:ext cx="9316200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Nos permite describir cómo se comporta una variable en función de lo que hace otra.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Pregunta que buscamos resolver: cuando X sube, ¿qué suele pasar con 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4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COVARIANZA EN R: DATOS SIMULADOS</a:t>
            </a:r>
            <a:endParaRPr/>
          </a:p>
        </p:txBody>
      </p:sp>
      <p:sp>
        <p:nvSpPr>
          <p:cNvPr id="172" name="Google Shape;172;p184"/>
          <p:cNvSpPr txBox="1"/>
          <p:nvPr>
            <p:ph idx="4294967295" type="body"/>
          </p:nvPr>
        </p:nvSpPr>
        <p:spPr>
          <a:xfrm>
            <a:off x="975006" y="1849374"/>
            <a:ext cx="4217988" cy="290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036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86486"/>
              <a:buFont typeface="Corbel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set.seed(123)  </a:t>
            </a:r>
            <a:endParaRPr/>
          </a:p>
          <a:p>
            <a:pPr indent="-34036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86486"/>
              <a:buFont typeface="Corbel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n &lt;- 30</a:t>
            </a:r>
            <a:endParaRPr/>
          </a:p>
          <a:p>
            <a:pPr indent="-34036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86486"/>
              <a:buFont typeface="Corbel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altura &lt;- rnorm(n, mean = 170, sd = 10) </a:t>
            </a:r>
            <a:endParaRPr/>
          </a:p>
          <a:p>
            <a:pPr indent="-34036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86486"/>
              <a:buFont typeface="Corbel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peso &lt;- 0.5 * altura - 15 + rnorm(n, mean = 0, sd = 5)</a:t>
            </a:r>
            <a:endParaRPr/>
          </a:p>
          <a:p>
            <a:pPr indent="-34036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86486"/>
              <a:buFont typeface="Corbel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altura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036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ct val="86486"/>
              <a:buFont typeface="Corbel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peso</a:t>
            </a:r>
            <a:endParaRPr/>
          </a:p>
        </p:txBody>
      </p:sp>
      <p:pic>
        <p:nvPicPr>
          <p:cNvPr id="173" name="Google Shape;173;p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4093" y="2034649"/>
            <a:ext cx="5770669" cy="199835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4"/>
          <p:cNvSpPr/>
          <p:nvPr/>
        </p:nvSpPr>
        <p:spPr>
          <a:xfrm>
            <a:off x="5472728" y="1849374"/>
            <a:ext cx="5993400" cy="2311200"/>
          </a:xfrm>
          <a:prstGeom prst="rect">
            <a:avLst/>
          </a:prstGeom>
          <a:noFill/>
          <a:ln cap="flat" cmpd="sng" w="25400">
            <a:solidFill>
              <a:srgbClr val="464D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4"/>
          <p:cNvSpPr/>
          <p:nvPr/>
        </p:nvSpPr>
        <p:spPr>
          <a:xfrm>
            <a:off x="3084000" y="4752912"/>
            <a:ext cx="5993400" cy="1182341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hace este código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Simula datos de altura y peso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Genera una relación positiva entre ambas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5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COVARIANZA: EJEMPLO EN 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5"/>
          <p:cNvSpPr txBox="1"/>
          <p:nvPr>
            <p:ph idx="1" type="body"/>
          </p:nvPr>
        </p:nvSpPr>
        <p:spPr>
          <a:xfrm>
            <a:off x="1110975" y="1419157"/>
            <a:ext cx="6415035" cy="4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# Crear data frame</a:t>
            </a:r>
            <a:endParaRPr/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datos &lt;- data.frame(  Altura_cm = altura,  Peso_kg = peso)</a:t>
            </a:r>
            <a:endParaRPr/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head(datos)</a:t>
            </a:r>
            <a:endParaRPr/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plot(datos$Altura_cm, datos$Peso_kg,     xlab = "Altura (cm)",     ylab = "Peso (kg)",     main = "Diagrama de dispersión: Altura vs Peso",     pch = 19)</a:t>
            </a:r>
            <a:endParaRPr/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covarianza &lt;- cov(datos)</a:t>
            </a:r>
            <a:endParaRPr/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covarianza</a:t>
            </a:r>
            <a:endParaRPr/>
          </a:p>
        </p:txBody>
      </p:sp>
      <p:pic>
        <p:nvPicPr>
          <p:cNvPr id="182" name="Google Shape;182;p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9700" y="530301"/>
            <a:ext cx="3404867" cy="1824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3309" y="2514682"/>
            <a:ext cx="2965730" cy="2699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9700" y="5373477"/>
            <a:ext cx="3493194" cy="7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5"/>
          <p:cNvSpPr/>
          <p:nvPr/>
        </p:nvSpPr>
        <p:spPr>
          <a:xfrm>
            <a:off x="7873508" y="419400"/>
            <a:ext cx="3874500" cy="6019200"/>
          </a:xfrm>
          <a:prstGeom prst="rect">
            <a:avLst/>
          </a:prstGeom>
          <a:noFill/>
          <a:ln cap="flat" cmpd="sng" w="25400">
            <a:solidFill>
              <a:srgbClr val="464D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5"/>
          <p:cNvSpPr/>
          <p:nvPr/>
        </p:nvSpPr>
        <p:spPr>
          <a:xfrm>
            <a:off x="657686" y="4615406"/>
            <a:ext cx="6900348" cy="1723387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observar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Gráfico de dispersión muestra la relación entre altura y peso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Cov(datos) entrega la matriz de covarianza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La diagonal corresponde a varianzas y fuera de diagonal aparecen covarianzas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5074" y="1886177"/>
            <a:ext cx="6199350" cy="425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6"/>
          <p:cNvSpPr txBox="1"/>
          <p:nvPr/>
        </p:nvSpPr>
        <p:spPr>
          <a:xfrm>
            <a:off x="630670" y="4540292"/>
            <a:ext cx="2339400" cy="1169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Varianza de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Varianza de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Covarianza de x e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86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COEFICIENTE DE CORRELACIÓN</a:t>
            </a:r>
            <a:endParaRPr/>
          </a:p>
        </p:txBody>
      </p:sp>
      <p:sp>
        <p:nvSpPr>
          <p:cNvPr id="195" name="Google Shape;195;p186"/>
          <p:cNvSpPr/>
          <p:nvPr/>
        </p:nvSpPr>
        <p:spPr>
          <a:xfrm>
            <a:off x="8497284" y="1585134"/>
            <a:ext cx="2939572" cy="4124669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varianza mide cuánto se dispersa una variable respecto a su promedio.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covarianza mide cómo dos variables cambian juntas.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hecho, la varianza es un caso particular de covarianza: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Var(X) = Cov(X,X).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7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COVARIANZA VS. COEFICIENTE DE CORRELACIÓN</a:t>
            </a:r>
            <a:endParaRPr/>
          </a:p>
        </p:txBody>
      </p:sp>
      <p:sp>
        <p:nvSpPr>
          <p:cNvPr id="201" name="Google Shape;201;p187"/>
          <p:cNvSpPr txBox="1"/>
          <p:nvPr>
            <p:ph idx="1" type="body"/>
          </p:nvPr>
        </p:nvSpPr>
        <p:spPr>
          <a:xfrm>
            <a:off x="1143000" y="2057400"/>
            <a:ext cx="6377100" cy="3785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covarianza mide relación lineal entre dos variables, pero su valor depende de las unidades de medida.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correlación es la versión estandarizada de la covarianza.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Ventaja de la correlación:</a:t>
            </a:r>
            <a:endParaRPr/>
          </a:p>
          <a:p>
            <a:pPr indent="-32004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siempre está entre -1 y 1</a:t>
            </a:r>
            <a:endParaRPr/>
          </a:p>
          <a:p>
            <a:pPr indent="-32004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comparar relaciones entre variables medidas en escalas distintas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relación lineal perfecta da ±1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7"/>
          <p:cNvSpPr/>
          <p:nvPr/>
        </p:nvSpPr>
        <p:spPr>
          <a:xfrm>
            <a:off x="8324248" y="2304570"/>
            <a:ext cx="2939572" cy="2747877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 clave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correlación permite comparar relaciones entre variables medidas en escalas distintas.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88"/>
          <p:cNvPicPr preferRelativeResize="0"/>
          <p:nvPr/>
        </p:nvPicPr>
        <p:blipFill rotWithShape="1">
          <a:blip r:embed="rId3">
            <a:alphaModFix/>
          </a:blip>
          <a:srcRect b="0" l="0" r="0" t="58554"/>
          <a:stretch/>
        </p:blipFill>
        <p:spPr>
          <a:xfrm>
            <a:off x="2424517" y="1908152"/>
            <a:ext cx="6394019" cy="179780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8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COEFICIENTE DE CORRELACIÓN: PROPIEDADES</a:t>
            </a:r>
            <a:endParaRPr/>
          </a:p>
        </p:txBody>
      </p:sp>
      <p:sp>
        <p:nvSpPr>
          <p:cNvPr id="210" name="Google Shape;210;p188"/>
          <p:cNvSpPr/>
          <p:nvPr/>
        </p:nvSpPr>
        <p:spPr>
          <a:xfrm>
            <a:off x="5031784" y="4292308"/>
            <a:ext cx="6109884" cy="1981270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Propiedades de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adimensional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−1 ≤ r ≤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signo indica la dirección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|r| grande implica relación lineal más fuerte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= 0 no implica independencia en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2999" y="1375825"/>
            <a:ext cx="7175300" cy="501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9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REGRESIÓN LINEAL SIMPLE</a:t>
            </a:r>
            <a:endParaRPr/>
          </a:p>
        </p:txBody>
      </p:sp>
      <p:sp>
        <p:nvSpPr>
          <p:cNvPr id="218" name="Google Shape;218;p189"/>
          <p:cNvSpPr/>
          <p:nvPr/>
        </p:nvSpPr>
        <p:spPr>
          <a:xfrm>
            <a:off x="8488781" y="1518835"/>
            <a:ext cx="3301913" cy="4308528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Cuando existe una relación lineal entre dos variables, podemos representarla mediante una recta de regresión.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correlación mide qué tan fuerte es esa relación lineal entre las variables.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correlación y regresión están relacionadas, pero no son lo mismo.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90"/>
          <p:cNvPicPr preferRelativeResize="0"/>
          <p:nvPr/>
        </p:nvPicPr>
        <p:blipFill rotWithShape="1">
          <a:blip r:embed="rId3">
            <a:alphaModFix/>
          </a:blip>
          <a:srcRect b="0" l="0" r="0" t="34438"/>
          <a:stretch/>
        </p:blipFill>
        <p:spPr>
          <a:xfrm>
            <a:off x="1394220" y="2746041"/>
            <a:ext cx="6518002" cy="324125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0"/>
          <p:cNvSpPr txBox="1"/>
          <p:nvPr/>
        </p:nvSpPr>
        <p:spPr>
          <a:xfrm>
            <a:off x="1670181" y="1637787"/>
            <a:ext cx="5225100" cy="430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7759" y="4014420"/>
            <a:ext cx="1889590" cy="128086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0"/>
          <p:cNvSpPr txBox="1"/>
          <p:nvPr/>
        </p:nvSpPr>
        <p:spPr>
          <a:xfrm>
            <a:off x="1394220" y="2150594"/>
            <a:ext cx="3600300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hay correlación lineal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90"/>
          <p:cNvSpPr txBox="1"/>
          <p:nvPr/>
        </p:nvSpPr>
        <p:spPr>
          <a:xfrm>
            <a:off x="8572500" y="19843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0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 sz="3200">
                <a:latin typeface="Calibri"/>
                <a:ea typeface="Calibri"/>
                <a:cs typeface="Calibri"/>
                <a:sym typeface="Calibri"/>
              </a:rPr>
              <a:t>REGRESIÓN LINEAL SIMPLE: EVALUACIÓN DEL MODELO MEDIANTE COEFICIENTE DE CORRELACIÓN</a:t>
            </a:r>
            <a:endParaRPr/>
          </a:p>
        </p:txBody>
      </p:sp>
      <p:sp>
        <p:nvSpPr>
          <p:cNvPr id="230" name="Google Shape;230;p190"/>
          <p:cNvSpPr txBox="1"/>
          <p:nvPr/>
        </p:nvSpPr>
        <p:spPr>
          <a:xfrm>
            <a:off x="5038036" y="2186044"/>
            <a:ext cx="3600300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Hay correlación lineal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0"/>
          <p:cNvSpPr/>
          <p:nvPr/>
        </p:nvSpPr>
        <p:spPr>
          <a:xfrm>
            <a:off x="8270587" y="1658318"/>
            <a:ext cx="3461630" cy="4357694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es el coeficiente de correlación muestral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⍴ es el coeficiente de correlación población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correlación mide relaciones lineales entre variables.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los datos muestran una nube de puntos con tendencia creciente o decreciente, existe correlación.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los puntos están dispersos sin patrón, la correlación será cercana a cero.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90"/>
          <p:cNvSpPr txBox="1"/>
          <p:nvPr/>
        </p:nvSpPr>
        <p:spPr>
          <a:xfrm>
            <a:off x="1549798" y="5972737"/>
            <a:ext cx="738106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Antes de calcular r, conviene leer visualmente la nube de puntos.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1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REGRESIÓN LINEAL SIMPLE: EJEMPLO EN R</a:t>
            </a:r>
            <a:endParaRPr/>
          </a:p>
        </p:txBody>
      </p:sp>
      <p:sp>
        <p:nvSpPr>
          <p:cNvPr id="238" name="Google Shape;238;p191"/>
          <p:cNvSpPr txBox="1"/>
          <p:nvPr>
            <p:ph idx="1" type="body"/>
          </p:nvPr>
        </p:nvSpPr>
        <p:spPr>
          <a:xfrm>
            <a:off x="1143000" y="2057400"/>
            <a:ext cx="9873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x &lt;- c(161, 170, 180, 175, 165, 187)</a:t>
            </a:r>
            <a:endParaRPr/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y &lt;- c(50, 65, 78, 82, 60, 76)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cor.test(x, y, method = "pearson")</a:t>
            </a:r>
            <a:endParaRPr/>
          </a:p>
        </p:txBody>
      </p:sp>
      <p:pic>
        <p:nvPicPr>
          <p:cNvPr id="239" name="Google Shape;239;p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732" y="2216062"/>
            <a:ext cx="5169470" cy="1752793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91"/>
          <p:cNvSpPr/>
          <p:nvPr/>
        </p:nvSpPr>
        <p:spPr>
          <a:xfrm>
            <a:off x="5959000" y="1996400"/>
            <a:ext cx="5407800" cy="2192100"/>
          </a:xfrm>
          <a:prstGeom prst="rect">
            <a:avLst/>
          </a:prstGeom>
          <a:noFill/>
          <a:ln cap="flat" cmpd="sng" w="25400">
            <a:solidFill>
              <a:srgbClr val="464D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1"/>
          <p:cNvSpPr/>
          <p:nvPr/>
        </p:nvSpPr>
        <p:spPr>
          <a:xfrm>
            <a:off x="6660976" y="4703477"/>
            <a:ext cx="4355024" cy="1392523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devuelve cor.test()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Coeficiente de correlación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Intervalo de confianza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p-valor para probar H0: ρ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2"/>
          <p:cNvSpPr/>
          <p:nvPr/>
        </p:nvSpPr>
        <p:spPr>
          <a:xfrm>
            <a:off x="2855640" y="2204864"/>
            <a:ext cx="3240360" cy="64807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192"/>
          <p:cNvPicPr preferRelativeResize="0"/>
          <p:nvPr/>
        </p:nvPicPr>
        <p:blipFill rotWithShape="1">
          <a:blip r:embed="rId3">
            <a:alphaModFix/>
          </a:blip>
          <a:srcRect b="0" l="0" r="0" t="18427"/>
          <a:stretch/>
        </p:blipFill>
        <p:spPr>
          <a:xfrm>
            <a:off x="970385" y="1554169"/>
            <a:ext cx="7259215" cy="435068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92"/>
          <p:cNvSpPr txBox="1"/>
          <p:nvPr/>
        </p:nvSpPr>
        <p:spPr>
          <a:xfrm>
            <a:off x="4079776" y="3429001"/>
            <a:ext cx="2160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2"/>
          <p:cNvSpPr txBox="1"/>
          <p:nvPr/>
        </p:nvSpPr>
        <p:spPr>
          <a:xfrm>
            <a:off x="5844544" y="2241441"/>
            <a:ext cx="3600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2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COEFICIENTE DE CORRELACIÓN: ANÁLISIS EN REGRESIÓN</a:t>
            </a:r>
            <a:endParaRPr/>
          </a:p>
        </p:txBody>
      </p:sp>
      <p:sp>
        <p:nvSpPr>
          <p:cNvPr id="252" name="Google Shape;252;p192"/>
          <p:cNvSpPr/>
          <p:nvPr/>
        </p:nvSpPr>
        <p:spPr>
          <a:xfrm>
            <a:off x="8663552" y="1779505"/>
            <a:ext cx="2985803" cy="3954868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Cómo interpretar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Cerca de 1: relación positiva fuerte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Cerca de -1: relación negativa fuerte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Cerca de 0: poca relación lineal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una correlación alta no prueba causalidad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3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Interpretación visual de la correlación</a:t>
            </a:r>
            <a:endParaRPr/>
          </a:p>
        </p:txBody>
      </p:sp>
      <p:sp>
        <p:nvSpPr>
          <p:cNvPr id="258" name="Google Shape;258;p193"/>
          <p:cNvSpPr txBox="1"/>
          <p:nvPr>
            <p:ph idx="1" type="body"/>
          </p:nvPr>
        </p:nvSpPr>
        <p:spPr>
          <a:xfrm>
            <a:off x="1143000" y="2057400"/>
            <a:ext cx="9873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825" y="421945"/>
            <a:ext cx="10465614" cy="582645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93"/>
          <p:cNvSpPr/>
          <p:nvPr/>
        </p:nvSpPr>
        <p:spPr>
          <a:xfrm>
            <a:off x="7768134" y="5013960"/>
            <a:ext cx="3840480" cy="1325880"/>
          </a:xfrm>
          <a:prstGeom prst="roundRect">
            <a:avLst>
              <a:gd fmla="val 16667" name="adj"/>
            </a:avLst>
          </a:prstGeom>
          <a:solidFill>
            <a:srgbClr val="F8F9F1"/>
          </a:solidFill>
          <a:ln cap="flat" cmpd="sng" w="12700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mirar en el gráfico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dirección de la nube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qué tan alineados están los puntos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presencia de outliers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4"/>
          <p:cNvSpPr txBox="1"/>
          <p:nvPr/>
        </p:nvSpPr>
        <p:spPr>
          <a:xfrm>
            <a:off x="1118067" y="1637020"/>
            <a:ext cx="4161300" cy="287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4"/>
          <p:cNvSpPr txBox="1"/>
          <p:nvPr/>
        </p:nvSpPr>
        <p:spPr>
          <a:xfrm>
            <a:off x="5088214" y="1698682"/>
            <a:ext cx="3255300" cy="232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4"/>
          <p:cNvSpPr txBox="1"/>
          <p:nvPr/>
        </p:nvSpPr>
        <p:spPr>
          <a:xfrm>
            <a:off x="1143004" y="2392750"/>
            <a:ext cx="6388800" cy="232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3075" y="1763538"/>
            <a:ext cx="3255299" cy="274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2055" y="1669331"/>
            <a:ext cx="2829357" cy="32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5875" y="3112244"/>
            <a:ext cx="6587235" cy="17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94"/>
          <p:cNvSpPr txBox="1"/>
          <p:nvPr/>
        </p:nvSpPr>
        <p:spPr>
          <a:xfrm>
            <a:off x="990775" y="3834808"/>
            <a:ext cx="605100" cy="392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66334" l="-65077" r="-85712" t="-115841"/>
            </a:stretch>
          </a:blipFill>
          <a:ln>
            <a:noFill/>
          </a:ln>
        </p:spPr>
        <p:txBody>
          <a:bodyPr anchorCtr="0" anchor="t" bIns="36150" lIns="72300" spcFirstLastPara="1" rIns="72300" wrap="square" tIns="3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4"/>
          <p:cNvSpPr txBox="1"/>
          <p:nvPr/>
        </p:nvSpPr>
        <p:spPr>
          <a:xfrm>
            <a:off x="9114900" y="3731654"/>
            <a:ext cx="3000000" cy="4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4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MATRIZ DE COVARIANZA: MATEMÁTICAMENTE</a:t>
            </a:r>
            <a:endParaRPr/>
          </a:p>
        </p:txBody>
      </p:sp>
      <p:sp>
        <p:nvSpPr>
          <p:cNvPr id="274" name="Google Shape;274;p194"/>
          <p:cNvSpPr/>
          <p:nvPr/>
        </p:nvSpPr>
        <p:spPr>
          <a:xfrm>
            <a:off x="8418996" y="2392750"/>
            <a:ext cx="3199957" cy="3855650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datos con varias variables usamos la matriz de covarianza para resumir todas las relaciones lineales.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diagonal contiene las varianzas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elementos fuera de la diagonal son covarianzas entre pares de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94"/>
          <p:cNvSpPr txBox="1"/>
          <p:nvPr/>
        </p:nvSpPr>
        <p:spPr>
          <a:xfrm>
            <a:off x="1021321" y="1931724"/>
            <a:ext cx="685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Sea X = (X₁, X₂, ..., Xp) un vector aleatorio con media μ. La matriz de covarianza se denota por Σ = Cov(X).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5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MATRIZ DE COVARIANZA: PROPIEDADES</a:t>
            </a:r>
            <a:endParaRPr/>
          </a:p>
        </p:txBody>
      </p:sp>
      <p:sp>
        <p:nvSpPr>
          <p:cNvPr id="281" name="Google Shape;281;p195"/>
          <p:cNvSpPr txBox="1"/>
          <p:nvPr>
            <p:ph idx="1" type="body"/>
          </p:nvPr>
        </p:nvSpPr>
        <p:spPr>
          <a:xfrm>
            <a:off x="1143000" y="1678925"/>
            <a:ext cx="10266300" cy="441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282" name="Google Shape;282;p1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0374" y="1965960"/>
            <a:ext cx="3353170" cy="1511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95"/>
          <p:cNvPicPr preferRelativeResize="0"/>
          <p:nvPr/>
        </p:nvPicPr>
        <p:blipFill rotWithShape="1">
          <a:blip r:embed="rId5">
            <a:alphaModFix/>
          </a:blip>
          <a:srcRect b="0" l="0" r="34559" t="0"/>
          <a:stretch/>
        </p:blipFill>
        <p:spPr>
          <a:xfrm>
            <a:off x="1324400" y="3477425"/>
            <a:ext cx="6058249" cy="28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95"/>
          <p:cNvSpPr/>
          <p:nvPr/>
        </p:nvSpPr>
        <p:spPr>
          <a:xfrm>
            <a:off x="8025227" y="4453619"/>
            <a:ext cx="3199957" cy="1511466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Ojo: los valores propios son no negativos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(Σ es semidefinida positiva)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6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MATRIZ DE COVARIANZA: EJEMPLO EN R</a:t>
            </a:r>
            <a:endParaRPr/>
          </a:p>
        </p:txBody>
      </p:sp>
      <p:sp>
        <p:nvSpPr>
          <p:cNvPr id="290" name="Google Shape;290;p196"/>
          <p:cNvSpPr txBox="1"/>
          <p:nvPr>
            <p:ph idx="1" type="body"/>
          </p:nvPr>
        </p:nvSpPr>
        <p:spPr>
          <a:xfrm>
            <a:off x="518000" y="1509171"/>
            <a:ext cx="66267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# datos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X1 &lt;- c(12.0, 14.5, 13.1, 15.3, 16.2, 11.8, 14.0, 13.7, 15.9, 12.6)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X2 &lt;- c(8.2,7.9, 9.1, 10.5,9.7,8.8,9.3, 10.1,9.9,8.6)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X3 &lt;- c(21.0, 20.5, 19.8, 22.1, 23.4, 20.2, 21.7, 22.5, 23.1, 19.9)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X4 &lt;- c(5.5,6.1,5.8,6.7,6.4, 5.2,5.9,6.3,6.6,5.6)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datos &lt;- data.frame(X1, X2, X3, X4)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# 2) Matriz de covarianza (muestra; cov usa n-1 por defecto)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S &lt;- cov(datos)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# 3) Valores propios y vectores propios de la matriz de covarianza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descomp &lt;- eigen(S)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descomp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0732" y="1875427"/>
            <a:ext cx="4584232" cy="325547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96"/>
          <p:cNvSpPr/>
          <p:nvPr/>
        </p:nvSpPr>
        <p:spPr>
          <a:xfrm>
            <a:off x="6850250" y="1736025"/>
            <a:ext cx="4823749" cy="3440447"/>
          </a:xfrm>
          <a:prstGeom prst="rect">
            <a:avLst/>
          </a:prstGeom>
          <a:noFill/>
          <a:ln cap="flat" cmpd="sng" w="25400">
            <a:solidFill>
              <a:srgbClr val="464D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6"/>
          <p:cNvSpPr/>
          <p:nvPr/>
        </p:nvSpPr>
        <p:spPr>
          <a:xfrm>
            <a:off x="725547" y="5235936"/>
            <a:ext cx="5839664" cy="1180362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mirar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cov(datos) calcula la matriz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eigen(S) entrega valores y vectores propios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esto conecta con PCA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7"/>
          <p:cNvSpPr txBox="1"/>
          <p:nvPr/>
        </p:nvSpPr>
        <p:spPr>
          <a:xfrm>
            <a:off x="9459758" y="1727326"/>
            <a:ext cx="2013300" cy="232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7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MATRIZ DE CORRELACIÓN DE PEARSON: MATEMÁTICAMENTE</a:t>
            </a:r>
            <a:endParaRPr/>
          </a:p>
        </p:txBody>
      </p:sp>
      <p:sp>
        <p:nvSpPr>
          <p:cNvPr id="300" name="Google Shape;300;p197"/>
          <p:cNvSpPr/>
          <p:nvPr/>
        </p:nvSpPr>
        <p:spPr>
          <a:xfrm>
            <a:off x="3487119" y="4785360"/>
            <a:ext cx="5670069" cy="1463040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 clave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estandariza la covarianza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 el efecto de las unidades de medida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comparar relaciones entre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97"/>
          <p:cNvSpPr txBox="1"/>
          <p:nvPr/>
        </p:nvSpPr>
        <p:spPr>
          <a:xfrm>
            <a:off x="1243739" y="1866105"/>
            <a:ext cx="9673921" cy="327480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31" l="-393" r="0" t="-77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8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MATRIZ DE CORRELACIÓN DE PEARSON: EN R</a:t>
            </a:r>
            <a:endParaRPr/>
          </a:p>
        </p:txBody>
      </p:sp>
      <p:sp>
        <p:nvSpPr>
          <p:cNvPr id="307" name="Google Shape;307;p198"/>
          <p:cNvSpPr txBox="1"/>
          <p:nvPr>
            <p:ph idx="1" type="body"/>
          </p:nvPr>
        </p:nvSpPr>
        <p:spPr>
          <a:xfrm>
            <a:off x="1010700" y="1706750"/>
            <a:ext cx="5490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800">
                <a:latin typeface="Calibri"/>
                <a:ea typeface="Calibri"/>
                <a:cs typeface="Calibri"/>
                <a:sym typeface="Calibri"/>
              </a:rPr>
              <a:t># datos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800">
                <a:latin typeface="Calibri"/>
                <a:ea typeface="Calibri"/>
                <a:cs typeface="Calibri"/>
                <a:sym typeface="Calibri"/>
              </a:rPr>
              <a:t>X1 &lt;- c(12.0, 14.5, 13.1, 15.3, 16.2, 11.8, 14.0, 13.7, 15.9, 12.6)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800">
                <a:latin typeface="Calibri"/>
                <a:ea typeface="Calibri"/>
                <a:cs typeface="Calibri"/>
                <a:sym typeface="Calibri"/>
              </a:rPr>
              <a:t>X2 &lt;- c(8.2,7.9, 9.1, 10.5,9.7,8.8,9.3, 10.1,9.9,8.6)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800">
                <a:latin typeface="Calibri"/>
                <a:ea typeface="Calibri"/>
                <a:cs typeface="Calibri"/>
                <a:sym typeface="Calibri"/>
              </a:rPr>
              <a:t>X3 &lt;- c(21.0, 20.5, 19.8, 22.1, 23.4, 20.2, 21.7, 22.5, 23.1, 19.9)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800">
                <a:latin typeface="Calibri"/>
                <a:ea typeface="Calibri"/>
                <a:cs typeface="Calibri"/>
                <a:sym typeface="Calibri"/>
              </a:rPr>
              <a:t>X4 &lt;- c(5.5,6.1,5.8,6.7,6.4, 5.2,5.9,6.3,6.6,5.6)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800">
                <a:latin typeface="Calibri"/>
                <a:ea typeface="Calibri"/>
                <a:cs typeface="Calibri"/>
                <a:sym typeface="Calibri"/>
              </a:rPr>
              <a:t>datos &lt;- data.frame(X1, X2, X3, X4)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800">
                <a:latin typeface="Calibri"/>
                <a:ea typeface="Calibri"/>
                <a:cs typeface="Calibri"/>
                <a:sym typeface="Calibri"/>
              </a:rPr>
              <a:t># 2) Matriz de correlación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800">
                <a:latin typeface="Calibri"/>
                <a:ea typeface="Calibri"/>
                <a:cs typeface="Calibri"/>
                <a:sym typeface="Calibri"/>
              </a:rPr>
              <a:t>R &lt;- cor(datos)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800"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pic>
        <p:nvPicPr>
          <p:cNvPr id="308" name="Google Shape;308;p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26" y="2462285"/>
            <a:ext cx="4423177" cy="126376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98"/>
          <p:cNvSpPr/>
          <p:nvPr/>
        </p:nvSpPr>
        <p:spPr>
          <a:xfrm>
            <a:off x="6738164" y="2191917"/>
            <a:ext cx="4891500" cy="1804500"/>
          </a:xfrm>
          <a:prstGeom prst="rect">
            <a:avLst/>
          </a:prstGeom>
          <a:noFill/>
          <a:ln cap="flat" cmpd="sng" w="25400">
            <a:solidFill>
              <a:srgbClr val="464D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8"/>
          <p:cNvSpPr/>
          <p:nvPr/>
        </p:nvSpPr>
        <p:spPr>
          <a:xfrm>
            <a:off x="3313864" y="4431904"/>
            <a:ext cx="8081639" cy="1816496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devuelve cor(datos)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una matriz con 1 en la diagonal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coeficientes entre −1 y 1 fuera de la diagonal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matriz de correlación permite comparar relaciones en una misma escala.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9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TEST DE ESFERICIDAD DE BARTLETT</a:t>
            </a:r>
            <a:endParaRPr/>
          </a:p>
        </p:txBody>
      </p:sp>
      <p:sp>
        <p:nvSpPr>
          <p:cNvPr id="316" name="Google Shape;316;p199"/>
          <p:cNvSpPr txBox="1"/>
          <p:nvPr>
            <p:ph idx="1" type="body"/>
          </p:nvPr>
        </p:nvSpPr>
        <p:spPr>
          <a:xfrm>
            <a:off x="1143000" y="1798570"/>
            <a:ext cx="9702592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 el test más usado para evaluar si una matriz de correlación difiere significativamente de la matriz identidad. Verifica si existe estructura de correlación global aprovechable.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Hipótesis:</a:t>
            </a:r>
            <a:endParaRPr/>
          </a:p>
          <a:p>
            <a:pPr indent="0" lvl="0" marL="13716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rPr lang="es-CO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H0: la matriz de correlación es la identidad (las variables no están correlacionadas)</a:t>
            </a:r>
            <a:endParaRPr/>
          </a:p>
          <a:p>
            <a:pPr indent="0" lvl="0" marL="13716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rPr lang="es-CO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H1: la matriz es distinta de la identidad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 no hay correlación entre variables, muchas técnicas multivariadas aportan poco.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</a:pPr>
            <a:r>
              <a:rPr lang="es-CO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 eso este test se usa como verificación previa antes de aplicar métodos como PCA o análisis factorial.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0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TEST DE ESFERICIDAD DE BARTLETT: FORMULACIÓN MATEMÁTICA</a:t>
            </a:r>
            <a:endParaRPr/>
          </a:p>
        </p:txBody>
      </p:sp>
      <p:sp>
        <p:nvSpPr>
          <p:cNvPr id="322" name="Google Shape;322;p200"/>
          <p:cNvSpPr txBox="1"/>
          <p:nvPr/>
        </p:nvSpPr>
        <p:spPr>
          <a:xfrm>
            <a:off x="1229800" y="2019901"/>
            <a:ext cx="9975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test evalúa si la matriz de correlación poblacional es igual a la identidad.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H0: R = I</a:t>
            </a:r>
            <a:r>
              <a:rPr b="0" baseline="-2500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donde: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 = matriz de correlación muestral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 = número de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Bajo H0, todas las correlaciones fuera de la diagonal son cero.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00"/>
          <p:cNvSpPr txBox="1"/>
          <p:nvPr/>
        </p:nvSpPr>
        <p:spPr>
          <a:xfrm>
            <a:off x="2521150" y="3297175"/>
            <a:ext cx="7392300" cy="4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0"/>
          <p:cNvSpPr txBox="1"/>
          <p:nvPr/>
        </p:nvSpPr>
        <p:spPr>
          <a:xfrm>
            <a:off x="2521150" y="2325122"/>
            <a:ext cx="60985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ausencia de correlación global entre variables.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1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TEST DE ESFERICIDAD DE BARTLETT: FORMULACIÓN MATEMÁTICA</a:t>
            </a:r>
            <a:endParaRPr/>
          </a:p>
        </p:txBody>
      </p:sp>
      <p:sp>
        <p:nvSpPr>
          <p:cNvPr id="330" name="Google Shape;330;p201"/>
          <p:cNvSpPr txBox="1"/>
          <p:nvPr>
            <p:ph idx="1" type="body"/>
          </p:nvPr>
        </p:nvSpPr>
        <p:spPr>
          <a:xfrm>
            <a:off x="1159563" y="1673750"/>
            <a:ext cx="8588871" cy="378165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31" name="Google Shape;331;p201"/>
          <p:cNvSpPr/>
          <p:nvPr/>
        </p:nvSpPr>
        <p:spPr>
          <a:xfrm>
            <a:off x="8446576" y="1673749"/>
            <a:ext cx="3001245" cy="3781654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 estadística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la matriz se parece a la identidad, no hay estructura lineal relevante entre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Interpretación práctica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p-valor pequeño → rechazamos H0 y sí hay correlaciones útiles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2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TEST DE ESFERICIDAD DE BARTLETT: FORMULACIÓN MATEMÁTICA</a:t>
            </a:r>
            <a:endParaRPr/>
          </a:p>
        </p:txBody>
      </p:sp>
      <p:sp>
        <p:nvSpPr>
          <p:cNvPr id="337" name="Google Shape;337;p202"/>
          <p:cNvSpPr txBox="1"/>
          <p:nvPr/>
        </p:nvSpPr>
        <p:spPr>
          <a:xfrm>
            <a:off x="911817" y="1600771"/>
            <a:ext cx="8263178" cy="4164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13" l="-504" r="0" t="-75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02"/>
          <p:cNvSpPr/>
          <p:nvPr/>
        </p:nvSpPr>
        <p:spPr>
          <a:xfrm>
            <a:off x="9345478" y="1881571"/>
            <a:ext cx="2402237" cy="3651323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p &lt; α, la matriz no es identidad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p ≥ α, no hay evidencia suficiente de correlación global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3500" y="3025601"/>
            <a:ext cx="3739676" cy="10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03"/>
          <p:cNvSpPr txBox="1"/>
          <p:nvPr/>
        </p:nvSpPr>
        <p:spPr>
          <a:xfrm>
            <a:off x="6977625" y="1137026"/>
            <a:ext cx="5603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●"/>
            </a:pPr>
            <a:r>
              <a:rPr b="0" i="0" lang="es-CO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install.packages("psych")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●"/>
            </a:pPr>
            <a:r>
              <a:rPr b="0" i="0" lang="es-CO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library(psych)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●"/>
            </a:pPr>
            <a:r>
              <a:rPr b="0" i="0" lang="es-CO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 &lt;- cor(datos)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●"/>
            </a:pPr>
            <a:r>
              <a:rPr b="0" i="0" lang="es-CO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res &lt;- cortest.bartlett(R, n = nrow(datos))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●"/>
            </a:pPr>
            <a:r>
              <a:rPr b="0" i="0" lang="es-CO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res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3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TEST DE ESFERICIDAD DE BARTLETT: EJEMPLO EN R</a:t>
            </a:r>
            <a:endParaRPr/>
          </a:p>
        </p:txBody>
      </p:sp>
      <p:sp>
        <p:nvSpPr>
          <p:cNvPr id="346" name="Google Shape;346;p203"/>
          <p:cNvSpPr/>
          <p:nvPr/>
        </p:nvSpPr>
        <p:spPr>
          <a:xfrm>
            <a:off x="6977625" y="2939650"/>
            <a:ext cx="4559400" cy="3574500"/>
          </a:xfrm>
          <a:prstGeom prst="rect">
            <a:avLst/>
          </a:prstGeom>
          <a:noFill/>
          <a:ln cap="flat" cmpd="sng" w="25400">
            <a:solidFill>
              <a:srgbClr val="464D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3"/>
          <p:cNvSpPr txBox="1"/>
          <p:nvPr/>
        </p:nvSpPr>
        <p:spPr>
          <a:xfrm>
            <a:off x="911554" y="1819707"/>
            <a:ext cx="7218300" cy="4255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88" l="-879" r="0" t="-5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2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93500" y="4360468"/>
            <a:ext cx="3610479" cy="1714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4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DISTRIBUCIÓN NORMAL MULTIVARIADA</a:t>
            </a:r>
            <a:endParaRPr/>
          </a:p>
        </p:txBody>
      </p:sp>
      <p:sp>
        <p:nvSpPr>
          <p:cNvPr id="354" name="Google Shape;354;p204"/>
          <p:cNvSpPr txBox="1"/>
          <p:nvPr>
            <p:ph idx="1" type="body"/>
          </p:nvPr>
        </p:nvSpPr>
        <p:spPr>
          <a:xfrm>
            <a:off x="1143000" y="1726675"/>
            <a:ext cx="5862234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distribución normal multivariada es una extensión de la distribución normal a dos o más variables.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componente tiene distribución normal univariada y las variables pueden estar correlacionadas o no.</a:t>
            </a:r>
            <a:endParaRPr/>
          </a:p>
        </p:txBody>
      </p:sp>
      <p:sp>
        <p:nvSpPr>
          <p:cNvPr id="355" name="Google Shape;355;p204"/>
          <p:cNvSpPr txBox="1"/>
          <p:nvPr/>
        </p:nvSpPr>
        <p:spPr>
          <a:xfrm>
            <a:off x="8360825" y="2221804"/>
            <a:ext cx="3000000" cy="400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4"/>
          <p:cNvSpPr/>
          <p:nvPr/>
        </p:nvSpPr>
        <p:spPr>
          <a:xfrm>
            <a:off x="7609667" y="1726675"/>
            <a:ext cx="3580108" cy="3068664"/>
          </a:xfrm>
          <a:prstGeom prst="roundRect">
            <a:avLst>
              <a:gd fmla="val 16667" name="adj"/>
            </a:avLst>
          </a:prstGeom>
          <a:solidFill>
            <a:srgbClr val="EBEFD6"/>
          </a:solidFill>
          <a:ln cap="flat" cmpd="sng" w="12700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caracteriza por: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vector de medias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matriz de covarianza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Estos dos elementos describen el centro, la dispersión y la dependencia entre las variables.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95afeaa2e3_0_150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DISTRIBUCIÓN NORMAL MULTIVARIADA: MATEMÁTICAMENTE</a:t>
            </a:r>
            <a:endParaRPr/>
          </a:p>
        </p:txBody>
      </p:sp>
      <p:sp>
        <p:nvSpPr>
          <p:cNvPr id="362" name="Google Shape;362;g395afeaa2e3_0_150"/>
          <p:cNvSpPr txBox="1"/>
          <p:nvPr/>
        </p:nvSpPr>
        <p:spPr>
          <a:xfrm>
            <a:off x="776647" y="1674398"/>
            <a:ext cx="10728600" cy="538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765" l="-473" r="0" t="-4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g395afeaa2e3_0_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8825" y="4519449"/>
            <a:ext cx="162250" cy="22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95afeaa2e3_0_150" title="Captura de pantalla 2026-03-15 a la(s) 9.30.41 p.m.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152400"/>
            <a:ext cx="468923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395afeaa2e3_0_1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4358" y="4541725"/>
            <a:ext cx="1262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95afeaa2e3_0_150"/>
          <p:cNvSpPr txBox="1"/>
          <p:nvPr/>
        </p:nvSpPr>
        <p:spPr>
          <a:xfrm>
            <a:off x="6374044" y="4383226"/>
            <a:ext cx="162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CO" sz="1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</a:t>
            </a:r>
            <a:endParaRPr b="0" i="0" sz="17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528" y="690289"/>
            <a:ext cx="7688623" cy="548516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06"/>
          <p:cNvSpPr txBox="1"/>
          <p:nvPr/>
        </p:nvSpPr>
        <p:spPr>
          <a:xfrm>
            <a:off x="8803038" y="2107768"/>
            <a:ext cx="6286758" cy="2882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6"/>
          <p:cNvSpPr/>
          <p:nvPr/>
        </p:nvSpPr>
        <p:spPr>
          <a:xfrm>
            <a:off x="7964676" y="938262"/>
            <a:ext cx="3486321" cy="4672125"/>
          </a:xfrm>
          <a:prstGeom prst="roundRect">
            <a:avLst>
              <a:gd fmla="val 16667" name="adj"/>
            </a:avLst>
          </a:prstGeom>
          <a:solidFill>
            <a:srgbClr val="EBEFD6"/>
          </a:solidFill>
          <a:ln cap="flat" cmpd="sng" w="12700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representa cada parámetro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μ mueve el centro (dónde está la nube)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Σ determina la forma (dispersión) y la inclinación (correlación)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2D, las curvas de igual densidad son elipses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 para recordar: Normal multivariada = “media + covarianza”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5b26d079e_0_23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DISTRIBUCIÓN NORMAL MULTIVARIADA: CASO BIVARIADO</a:t>
            </a:r>
            <a:endParaRPr/>
          </a:p>
        </p:txBody>
      </p:sp>
      <p:sp>
        <p:nvSpPr>
          <p:cNvPr id="379" name="Google Shape;379;g395b26d079e_0_23"/>
          <p:cNvSpPr txBox="1"/>
          <p:nvPr/>
        </p:nvSpPr>
        <p:spPr>
          <a:xfrm>
            <a:off x="980269" y="2409469"/>
            <a:ext cx="4870341" cy="23083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02" r="0" t="-10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95b26d079e_0_23"/>
          <p:cNvSpPr txBox="1"/>
          <p:nvPr/>
        </p:nvSpPr>
        <p:spPr>
          <a:xfrm>
            <a:off x="5687878" y="1321800"/>
            <a:ext cx="6832167" cy="497642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020" l="-557" r="0" t="-76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5b26d079e_0_42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DISTRIBUCIÓN NORMAL MULTIVARIADA: CASO BIVARIADO</a:t>
            </a:r>
            <a:endParaRPr/>
          </a:p>
        </p:txBody>
      </p:sp>
      <p:sp>
        <p:nvSpPr>
          <p:cNvPr id="386" name="Google Shape;386;g395b26d079e_0_42"/>
          <p:cNvSpPr txBox="1"/>
          <p:nvPr/>
        </p:nvSpPr>
        <p:spPr>
          <a:xfrm>
            <a:off x="1323900" y="2136369"/>
            <a:ext cx="9513600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Propiedad importante: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 ρ = 0, entonces X₁ y X₂ son independientes solamente en el caso normal.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distribución describe la probabilidad conjunta de observar valores (x₁, x₂).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g395b26d079e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5360" y="3674060"/>
            <a:ext cx="7348920" cy="1027821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95b26d079e_0_42"/>
          <p:cNvSpPr/>
          <p:nvPr/>
        </p:nvSpPr>
        <p:spPr>
          <a:xfrm>
            <a:off x="5473881" y="5105400"/>
            <a:ext cx="5544519" cy="1143000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típico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Correlación cero NO implica independencia en general; aquí sí por normalidad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8"/>
          <p:cNvSpPr txBox="1"/>
          <p:nvPr/>
        </p:nvSpPr>
        <p:spPr>
          <a:xfrm>
            <a:off x="1200000" y="1861550"/>
            <a:ext cx="5841900" cy="3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library(plot3D)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library(mvtnorm)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mu &lt;- c(0,0)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Sigma &lt;- matrix(c(1,0.7,              	0.7,1),2)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x &lt;- seq(-3,3,length=100)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y &lt;- seq(-3,3,length=100)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grid &lt;- expand.grid(x=x,y=y)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z &lt;- dmvnorm(grid, mean=mu, sigma=Sigma)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z_matrix &lt;- matrix(z,100,100)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O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persp3D(x, y, z_matrix,    	theta = 30,    	phi = 20,    	xlab = "X",    	ylab = "Y",    	zlab = "Densidad",    	main = "Normal Bivariada")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824" y="1495157"/>
            <a:ext cx="4424025" cy="298422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08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DISTRIBUCIÓN NORMAL MULTIVARIADA: CÓDIGO EN R (GRÁFICA DE LA NORMAL)</a:t>
            </a:r>
            <a:endParaRPr/>
          </a:p>
        </p:txBody>
      </p:sp>
      <p:sp>
        <p:nvSpPr>
          <p:cNvPr id="396" name="Google Shape;396;p208"/>
          <p:cNvSpPr/>
          <p:nvPr/>
        </p:nvSpPr>
        <p:spPr>
          <a:xfrm>
            <a:off x="6892033" y="5019131"/>
            <a:ext cx="4677683" cy="1402626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hace este código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μ y 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Evalúa la densidad normal bivariada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Grafica la superficie 3D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cd6f1dc2c5_0_3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DISTRIBUCIÓN NORMAL MULTIVARIADA: EJERCICIO</a:t>
            </a:r>
            <a:endParaRPr/>
          </a:p>
        </p:txBody>
      </p:sp>
      <p:sp>
        <p:nvSpPr>
          <p:cNvPr id="403" name="Google Shape;403;g3cd6f1dc2c5_0_3"/>
          <p:cNvSpPr/>
          <p:nvPr/>
        </p:nvSpPr>
        <p:spPr>
          <a:xfrm>
            <a:off x="7733653" y="2754825"/>
            <a:ext cx="3625054" cy="1956660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Pasos para resolver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𝜇y 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calcular la media de 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calcular la varianza de 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aplicar normal univariada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cd6f1dc2c5_0_3"/>
          <p:cNvSpPr txBox="1"/>
          <p:nvPr/>
        </p:nvSpPr>
        <p:spPr>
          <a:xfrm>
            <a:off x="1313481" y="1694051"/>
            <a:ext cx="5087319" cy="48153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26" l="-746" r="0" t="-2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cd6f1dc2c5_0_10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DISTRIBUCIÓN NORMAL MULTIVARIADA: EJERCICIO</a:t>
            </a:r>
            <a:endParaRPr/>
          </a:p>
        </p:txBody>
      </p:sp>
      <p:sp>
        <p:nvSpPr>
          <p:cNvPr id="411" name="Google Shape;411;g3cd6f1dc2c5_0_10"/>
          <p:cNvSpPr txBox="1"/>
          <p:nvPr/>
        </p:nvSpPr>
        <p:spPr>
          <a:xfrm>
            <a:off x="1143000" y="1602969"/>
            <a:ext cx="4312403" cy="459940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9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cd6f1dc2c5_0_10"/>
          <p:cNvSpPr txBox="1"/>
          <p:nvPr/>
        </p:nvSpPr>
        <p:spPr>
          <a:xfrm>
            <a:off x="7667787" y="1454784"/>
            <a:ext cx="6098582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mu &lt;- c(1,2)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Sigma &lt;- matrix(c(4,1,1,3),2,2)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mu_y &lt;- sum(mu)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sd_y &lt;- sqrt(4 + 3 + 2*1)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pnorm(5, mean = mu_y, sd = sd_y)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" name="Google Shape;413;g3cd6f1dc2c5_0_10"/>
          <p:cNvPicPr preferRelativeResize="0"/>
          <p:nvPr/>
        </p:nvPicPr>
        <p:blipFill rotWithShape="1">
          <a:blip r:embed="rId4">
            <a:alphaModFix/>
          </a:blip>
          <a:srcRect b="0" l="0" r="0" t="9132"/>
          <a:stretch/>
        </p:blipFill>
        <p:spPr>
          <a:xfrm>
            <a:off x="7667787" y="3429000"/>
            <a:ext cx="3661474" cy="947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09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ESCALAMIENTO Y ESTANDARIZACIÓN DE DATOS</a:t>
            </a:r>
            <a:endParaRPr/>
          </a:p>
        </p:txBody>
      </p:sp>
      <p:sp>
        <p:nvSpPr>
          <p:cNvPr id="419" name="Google Shape;419;p209"/>
          <p:cNvSpPr txBox="1"/>
          <p:nvPr/>
        </p:nvSpPr>
        <p:spPr>
          <a:xfrm>
            <a:off x="1173599" y="5179116"/>
            <a:ext cx="8207163" cy="954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Usarlo cuando: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las variables están en unidades distintas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vas a usar distancias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vas a aplicar PCA o clustering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09"/>
          <p:cNvSpPr/>
          <p:nvPr/>
        </p:nvSpPr>
        <p:spPr>
          <a:xfrm>
            <a:off x="8579567" y="1311852"/>
            <a:ext cx="2850797" cy="4467408"/>
          </a:xfrm>
          <a:prstGeom prst="roundRect">
            <a:avLst>
              <a:gd fmla="val 16667" name="adj"/>
            </a:avLst>
          </a:prstGeom>
          <a:solidFill>
            <a:srgbClr val="EBEFD6"/>
          </a:solidFill>
          <a:ln cap="flat" cmpd="sng" w="12700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Antes de aplicar muchos métodos multivariados, conviene estandarizar las variables, especialmente si están en escalas distintas.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Así evitamos que una variable con valores grandes domine el análisis.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09"/>
          <p:cNvSpPr txBox="1"/>
          <p:nvPr/>
        </p:nvSpPr>
        <p:spPr>
          <a:xfrm>
            <a:off x="1173599" y="1534332"/>
            <a:ext cx="6994003" cy="374544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25" r="0" t="-6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09"/>
          <p:cNvSpPr/>
          <p:nvPr/>
        </p:nvSpPr>
        <p:spPr>
          <a:xfrm>
            <a:off x="5081250" y="3408450"/>
            <a:ext cx="156000" cy="13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3" name="Google Shape;423;p209"/>
          <p:cNvSpPr txBox="1"/>
          <p:nvPr/>
        </p:nvSpPr>
        <p:spPr>
          <a:xfrm>
            <a:off x="5003250" y="3323439"/>
            <a:ext cx="3120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CO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</a:t>
            </a:r>
            <a:endParaRPr b="0" i="0" sz="2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cd6f1dc2c5_0_26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NORMALIZACIÓN: CÓDIGO EN R</a:t>
            </a:r>
            <a:endParaRPr/>
          </a:p>
        </p:txBody>
      </p:sp>
      <p:sp>
        <p:nvSpPr>
          <p:cNvPr id="430" name="Google Shape;430;g3cd6f1dc2c5_0_26"/>
          <p:cNvSpPr txBox="1"/>
          <p:nvPr>
            <p:ph idx="1" type="body"/>
          </p:nvPr>
        </p:nvSpPr>
        <p:spPr>
          <a:xfrm>
            <a:off x="6783488" y="1555927"/>
            <a:ext cx="4234912" cy="2005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x &lt;- c(10, 12, 15, 20, 25)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xmin &lt;- min(x)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xmax &lt;- max(x)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w &lt;- (x - xmin) / (xmax - xmin)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w</a:t>
            </a:r>
            <a:endParaRPr/>
          </a:p>
        </p:txBody>
      </p:sp>
      <p:pic>
        <p:nvPicPr>
          <p:cNvPr id="431" name="Google Shape;431;g3cd6f1dc2c5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3841" y="5744508"/>
            <a:ext cx="5009322" cy="45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2" name="Google Shape;432;g3cd6f1dc2c5_0_26"/>
          <p:cNvSpPr/>
          <p:nvPr/>
        </p:nvSpPr>
        <p:spPr>
          <a:xfrm>
            <a:off x="6783488" y="3964425"/>
            <a:ext cx="4234912" cy="1337648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hace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reescala los datos al rango [0,1]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útil cuando interesa comparar magnitudes relativas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cd6f1dc2c5_0_26"/>
          <p:cNvSpPr txBox="1"/>
          <p:nvPr/>
        </p:nvSpPr>
        <p:spPr>
          <a:xfrm>
            <a:off x="930544" y="2222529"/>
            <a:ext cx="5325772" cy="255255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83" l="-952" r="0" t="-14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d6f1dc2c5_0_35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ESTANDARIZACIÓN DE DATOS</a:t>
            </a:r>
            <a:endParaRPr/>
          </a:p>
        </p:txBody>
      </p:sp>
      <p:sp>
        <p:nvSpPr>
          <p:cNvPr id="440" name="Google Shape;440;g3cd6f1dc2c5_0_35"/>
          <p:cNvSpPr txBox="1"/>
          <p:nvPr>
            <p:ph idx="1" type="body"/>
          </p:nvPr>
        </p:nvSpPr>
        <p:spPr>
          <a:xfrm>
            <a:off x="814750" y="1661249"/>
            <a:ext cx="9873000" cy="3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7738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4457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x &lt;- c(10, 12, 15, 20, 25)</a:t>
            </a:r>
            <a:endParaRPr/>
          </a:p>
          <a:p>
            <a:pPr indent="-337738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4457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 media &lt;- mean(x)</a:t>
            </a:r>
            <a:endParaRPr/>
          </a:p>
          <a:p>
            <a:pPr indent="-337738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4457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 desv &lt;- sd(x)</a:t>
            </a:r>
            <a:endParaRPr/>
          </a:p>
          <a:p>
            <a:pPr indent="-337738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4457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 z &lt;- (x - media) / desv</a:t>
            </a:r>
            <a:endParaRPr/>
          </a:p>
          <a:p>
            <a:pPr indent="-337738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4457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 z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70762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70762"/>
              <a:buNone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ya tiene una función para estandarizar:    </a:t>
            </a:r>
            <a:endParaRPr>
              <a:solidFill>
                <a:schemeClr val="dk1"/>
              </a:solidFill>
            </a:endParaRPr>
          </a:p>
          <a:p>
            <a:pPr indent="-337738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457"/>
              <a:buChar char="•"/>
            </a:pPr>
            <a:r>
              <a:rPr lang="es-CO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scale(x)</a:t>
            </a:r>
            <a:endParaRPr>
              <a:solidFill>
                <a:schemeClr val="dk1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4457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1" name="Google Shape;441;g3cd6f1dc2c5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0975" y="4881775"/>
            <a:ext cx="6816784" cy="4572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2" name="Google Shape;442;g3cd6f1dc2c5_0_35"/>
          <p:cNvSpPr/>
          <p:nvPr/>
        </p:nvSpPr>
        <p:spPr>
          <a:xfrm>
            <a:off x="6540118" y="2049979"/>
            <a:ext cx="4507682" cy="2198100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 esperado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Con z-score los datos quedan con media 0 y desviación estándar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scale(x) hace este proceso automáticamente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d6f1dc2c5_0_44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OTROS MÉTODOS</a:t>
            </a:r>
            <a:endParaRPr/>
          </a:p>
        </p:txBody>
      </p:sp>
      <p:sp>
        <p:nvSpPr>
          <p:cNvPr id="449" name="Google Shape;449;g3cd6f1dc2c5_0_44"/>
          <p:cNvSpPr txBox="1"/>
          <p:nvPr>
            <p:ph idx="1" type="body"/>
          </p:nvPr>
        </p:nvSpPr>
        <p:spPr>
          <a:xfrm>
            <a:off x="6333527" y="1001415"/>
            <a:ext cx="4546283" cy="25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x &lt;- c(5, 7, 8, 10, 12, 15, 18, 20, 22, 25,</a:t>
            </a:r>
            <a:endParaRPr/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       27, 30, 35, 40, 45, 50, 60, 70, 80, 100)</a:t>
            </a:r>
            <a:endParaRPr/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mediana &lt;- median(x)</a:t>
            </a:r>
            <a:endParaRPr/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iqr &lt;- IQR(x)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w &lt;- (x - mediana) / iqr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40"/>
              <a:buChar char="•"/>
            </a:pPr>
            <a:r>
              <a:rPr lang="es-CO" sz="1600"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pic>
        <p:nvPicPr>
          <p:cNvPr id="450" name="Google Shape;450;g3cd6f1dc2c5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5431" y="4792798"/>
            <a:ext cx="6098582" cy="145560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1" name="Google Shape;451;g3cd6f1dc2c5_0_44"/>
          <p:cNvSpPr/>
          <p:nvPr/>
        </p:nvSpPr>
        <p:spPr>
          <a:xfrm>
            <a:off x="6515922" y="3483834"/>
            <a:ext cx="3657600" cy="995175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Escalamiento robusto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Usa mediana e IQR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Es menos sensible a outliers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cd6f1dc2c5_0_44"/>
          <p:cNvSpPr txBox="1"/>
          <p:nvPr/>
        </p:nvSpPr>
        <p:spPr>
          <a:xfrm>
            <a:off x="1095359" y="1593818"/>
            <a:ext cx="6098582" cy="23330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243" l="-832" r="0" t="-10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cd6f1dc2c5_0_54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OTROS MÉTODOS</a:t>
            </a:r>
            <a:endParaRPr/>
          </a:p>
        </p:txBody>
      </p:sp>
      <p:sp>
        <p:nvSpPr>
          <p:cNvPr id="459" name="Google Shape;459;g3cd6f1dc2c5_0_54"/>
          <p:cNvSpPr txBox="1"/>
          <p:nvPr>
            <p:ph idx="1" type="body"/>
          </p:nvPr>
        </p:nvSpPr>
        <p:spPr>
          <a:xfrm>
            <a:off x="7047854" y="1187798"/>
            <a:ext cx="4029644" cy="15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4457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x &lt;- c(10, 12, 15, 20, 25)</a:t>
            </a:r>
            <a:endParaRPr/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4457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norma &lt;- sqrt(sum(x^2))</a:t>
            </a:r>
            <a:endParaRPr/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4457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 w &lt;- x / norma</a:t>
            </a:r>
            <a:endParaRPr/>
          </a:p>
          <a:p>
            <a:pPr indent="-32004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4457"/>
              <a:buChar char="•"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84457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g3cd6f1dc2c5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7854" y="5151125"/>
            <a:ext cx="4498144" cy="46461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61" name="Google Shape;461;g3cd6f1dc2c5_0_54"/>
          <p:cNvSpPr/>
          <p:nvPr/>
        </p:nvSpPr>
        <p:spPr>
          <a:xfrm>
            <a:off x="7237018" y="3169462"/>
            <a:ext cx="3840480" cy="1595399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Normalización L2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Divide por la norma del vector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Útil cuando importa la dirección más que la magnitud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cd6f1dc2c5_0_54"/>
          <p:cNvSpPr txBox="1"/>
          <p:nvPr/>
        </p:nvSpPr>
        <p:spPr>
          <a:xfrm>
            <a:off x="802038" y="1694597"/>
            <a:ext cx="6098582" cy="419813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205" l="-832" r="-416" t="-6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11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45454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ESCALAMIENTO Y ESTANDARIZACIÓN DE DATOS: OTROS MÉTODOS</a:t>
            </a:r>
            <a:endParaRPr/>
          </a:p>
        </p:txBody>
      </p:sp>
      <p:sp>
        <p:nvSpPr>
          <p:cNvPr id="468" name="Google Shape;468;p211"/>
          <p:cNvSpPr/>
          <p:nvPr/>
        </p:nvSpPr>
        <p:spPr>
          <a:xfrm>
            <a:off x="8090313" y="2943256"/>
            <a:ext cx="3326968" cy="1954207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elección depende del método que viene después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de la presencia de outliers.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11"/>
          <p:cNvSpPr txBox="1"/>
          <p:nvPr/>
        </p:nvSpPr>
        <p:spPr>
          <a:xfrm>
            <a:off x="1142999" y="1527184"/>
            <a:ext cx="9581828" cy="49556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833" l="-529" r="0" t="-51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12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MEDIDAS DE DISTANCIA ENTRE VECTORES</a:t>
            </a:r>
            <a:endParaRPr/>
          </a:p>
        </p:txBody>
      </p:sp>
      <p:pic>
        <p:nvPicPr>
          <p:cNvPr descr="undefined" id="475" name="Google Shape;475;p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6508" y="1321800"/>
            <a:ext cx="2409966" cy="2567553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12"/>
          <p:cNvSpPr txBox="1"/>
          <p:nvPr/>
        </p:nvSpPr>
        <p:spPr>
          <a:xfrm>
            <a:off x="1142999" y="4535767"/>
            <a:ext cx="9101381" cy="20312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Muchas técnicas multivariadas se basan en medir distancias o similitudes entre observaciones.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Estas medidas permiten identificar patrones, agrupamientos o cercanía entre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 las variables tienen escalas distintas, primero conviene estandarizar.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2"/>
          <p:cNvSpPr txBox="1"/>
          <p:nvPr/>
        </p:nvSpPr>
        <p:spPr>
          <a:xfrm>
            <a:off x="1142999" y="1425755"/>
            <a:ext cx="7551550" cy="318087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789" l="-839" r="0" t="-254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fined" id="482" name="Google Shape;482;g3cd6f1dc2c5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8194" y="1290813"/>
            <a:ext cx="3091891" cy="3283387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g3cd6f1dc2c5_0_70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MEDIDAS DE DISTANCIA ENTRE VECTORES</a:t>
            </a:r>
            <a:endParaRPr/>
          </a:p>
        </p:txBody>
      </p:sp>
      <p:sp>
        <p:nvSpPr>
          <p:cNvPr id="484" name="Google Shape;484;g3cd6f1dc2c5_0_70"/>
          <p:cNvSpPr txBox="1"/>
          <p:nvPr/>
        </p:nvSpPr>
        <p:spPr>
          <a:xfrm>
            <a:off x="1097275" y="1629578"/>
            <a:ext cx="59742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&lt;- c(2,3)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 &lt;- c(6,8)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C&lt;-dist(rbind(A,B), method="euclidean")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D&lt;- dist(rbind(A,B), method="manhattan")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g3cd6f1dc2c5_0_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75" y="4574200"/>
            <a:ext cx="470535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cd6f1dc2c5_0_70"/>
          <p:cNvSpPr/>
          <p:nvPr/>
        </p:nvSpPr>
        <p:spPr>
          <a:xfrm>
            <a:off x="4084375" y="4819778"/>
            <a:ext cx="6525432" cy="1282185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Distancia euclídea: línea recta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Distancia Manhattan: suma de diferencias absolutas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3"/>
          <p:cNvSpPr txBox="1"/>
          <p:nvPr>
            <p:ph type="title"/>
          </p:nvPr>
        </p:nvSpPr>
        <p:spPr>
          <a:xfrm>
            <a:off x="1143000" y="609600"/>
            <a:ext cx="98754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MEDIDAS DE SIMILITUD ENTRE VECTORES</a:t>
            </a:r>
            <a:endParaRPr/>
          </a:p>
        </p:txBody>
      </p:sp>
      <p:sp>
        <p:nvSpPr>
          <p:cNvPr id="492" name="Google Shape;492;p213"/>
          <p:cNvSpPr/>
          <p:nvPr/>
        </p:nvSpPr>
        <p:spPr>
          <a:xfrm>
            <a:off x="8338088" y="1572523"/>
            <a:ext cx="3317412" cy="3712954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similitud compara dirección o patrón, no solo distancia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 vectores pueden tener magnitudes distintas y aun así apuntar en una dirección parecida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13"/>
          <p:cNvSpPr txBox="1"/>
          <p:nvPr/>
        </p:nvSpPr>
        <p:spPr>
          <a:xfrm>
            <a:off x="1359975" y="1822291"/>
            <a:ext cx="6621651" cy="414510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529" l="-766" r="0" t="-162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13"/>
          <p:cNvSpPr/>
          <p:nvPr/>
        </p:nvSpPr>
        <p:spPr>
          <a:xfrm>
            <a:off x="5120250" y="2319175"/>
            <a:ext cx="139500" cy="27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cd6f1dc2c5_0_80"/>
          <p:cNvSpPr txBox="1"/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s-CO">
                <a:latin typeface="Calibri"/>
                <a:ea typeface="Calibri"/>
                <a:cs typeface="Calibri"/>
                <a:sym typeface="Calibri"/>
              </a:rPr>
              <a:t>MEDIDAS DE SIMILITUD ENTRE VECTORES: EN R</a:t>
            </a:r>
            <a:endParaRPr/>
          </a:p>
        </p:txBody>
      </p:sp>
      <p:sp>
        <p:nvSpPr>
          <p:cNvPr id="501" name="Google Shape;501;g3cd6f1dc2c5_0_80"/>
          <p:cNvSpPr txBox="1"/>
          <p:nvPr>
            <p:ph idx="1" type="body"/>
          </p:nvPr>
        </p:nvSpPr>
        <p:spPr>
          <a:xfrm>
            <a:off x="1143000" y="2057400"/>
            <a:ext cx="9873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X &lt;- c(1,2,3,4)</a:t>
            </a:r>
            <a:endParaRPr/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Y &lt;- c(2,8,6,8)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# centrar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Xc &lt;- X - mean(X)</a:t>
            </a:r>
            <a:endParaRPr/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Yc &lt;- Y - mean(Y)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# producto punto</a:t>
            </a:r>
            <a:endParaRPr/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dot &lt;- sum(Xc*Yc)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# norma</a:t>
            </a:r>
            <a:endParaRPr/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normX &lt;- sqrt(sum(Xc^2))</a:t>
            </a:r>
            <a:endParaRPr/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normY &lt;- sqrt(sum(Yc^2))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# coseno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coseno &lt;- dot/(normX*normY)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# correlación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cor(X,Y)</a:t>
            </a:r>
            <a:endParaRPr/>
          </a:p>
          <a:p>
            <a:pPr indent="-32004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1008"/>
              <a:buChar char="•"/>
            </a:pPr>
            <a:r>
              <a:rPr lang="es-CO" sz="1400">
                <a:latin typeface="Calibri"/>
                <a:ea typeface="Calibri"/>
                <a:cs typeface="Calibri"/>
                <a:sym typeface="Calibri"/>
              </a:rPr>
              <a:t> coseno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2" name="Google Shape;502;g3cd6f1dc2c5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2350" y="2225427"/>
            <a:ext cx="4455300" cy="145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3" name="Google Shape;503;g3cd6f1dc2c5_0_80"/>
          <p:cNvSpPr/>
          <p:nvPr/>
        </p:nvSpPr>
        <p:spPr>
          <a:xfrm>
            <a:off x="5832350" y="4360133"/>
            <a:ext cx="5729386" cy="1051560"/>
          </a:xfrm>
          <a:prstGeom prst="roundRect">
            <a:avLst>
              <a:gd fmla="val 16667" name="adj"/>
            </a:avLst>
          </a:prstGeom>
          <a:solidFill>
            <a:srgbClr val="F4F7E9"/>
          </a:solidFill>
          <a:ln cap="flat" cmpd="sng" w="15225">
            <a:solidFill>
              <a:srgbClr val="A8B3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compara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 coseno mide similitud angular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La correlación mide similitud lineal tras centrar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cd39ad88fe_0_14"/>
          <p:cNvSpPr txBox="1"/>
          <p:nvPr>
            <p:ph idx="1" type="subTitle"/>
          </p:nvPr>
        </p:nvSpPr>
        <p:spPr>
          <a:xfrm>
            <a:off x="774643" y="927573"/>
            <a:ext cx="10947600" cy="26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036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</a:pPr>
            <a:r>
              <a:rPr lang="es-C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Resumen del capítulo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97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Font typeface="Arial"/>
              <a:buChar char="•"/>
            </a:pPr>
            <a:r>
              <a:rPr lang="es-C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s-C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ovarianza y correlación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97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Font typeface="Arial"/>
              <a:buChar char="•"/>
            </a:pPr>
            <a:r>
              <a:rPr lang="es-C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s-C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atrices de covarianza y correlación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97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Font typeface="Arial"/>
              <a:buChar char="•"/>
            </a:pPr>
            <a:r>
              <a:rPr lang="es-C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Normal multivariada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97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Font typeface="Arial"/>
              <a:buChar char="•"/>
            </a:pPr>
            <a:r>
              <a:rPr lang="es-C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s-CO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s-CO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scalamiento, distancias y similitud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ase">
  <a:themeElements>
    <a:clrScheme name="Base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2020-08-18T01:33:13Z</dcterms:created>
  <dc:creator>Héctor López</dc:creator>
</cp:coreProperties>
</file>