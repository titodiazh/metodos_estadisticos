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jMI0GCBPnJ3x8QHxgXBU0s3qwD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customschemas.google.com/relationships/presentationmetadata" Target="metadata"/><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 name="Google Shape;1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 name="Google Shape;1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0" name="Google Shape;3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 name="Google Shape;3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9" name="Google Shape;3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 name="Google Shape;4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8" name="Google Shape;4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7" name="Google Shape;5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6" name="Google Shape;6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4" name="Google Shape;7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4" name="Google Shape;8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4" name="Google Shape;9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4" name="Google Shape;10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4" name="Google Shape;11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2" name="Google Shape;122;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0" name="Google Shape;130;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0" name="Google Shape;140;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8" name="Google Shape;148;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6" name="Google Shape;156;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4" name="Google Shape;164;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5" name="Google Shape;175;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5" name="Google Shape;185;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5" name="Google Shape;195;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6" name="Google Shape;206;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6" name="Google Shape;216;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7" name="Google Shape;227;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8" name="Google Shape;238;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49" name="Google Shape;249;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1" name="Shape 11"/>
        <p:cNvGrpSpPr/>
        <p:nvPr/>
      </p:nvGrpSpPr>
      <p:grpSpPr>
        <a:xfrm>
          <a:off x="0" y="0"/>
          <a:ext cx="0" cy="0"/>
          <a:chOff x="0" y="0"/>
          <a:chExt cx="0" cy="0"/>
        </a:xfrm>
      </p:grpSpPr>
      <p:sp>
        <p:nvSpPr>
          <p:cNvPr id="12" name="Google Shape;12;p1"/>
          <p:cNvSpPr/>
          <p:nvPr/>
        </p:nvSpPr>
        <p:spPr>
          <a:xfrm>
            <a:off x="228600" y="228600"/>
            <a:ext cx="11731752" cy="6400800"/>
          </a:xfrm>
          <a:prstGeom prst="rect">
            <a:avLst/>
          </a:prstGeom>
          <a:solidFill>
            <a:srgbClr val="A6B727"/>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1371600" y="1371600"/>
            <a:ext cx="9418320" cy="2743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Análisis de Componentes</a:t>
            </a:r>
            <a:endParaRPr sz="54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Principales (PCA)</a:t>
            </a:r>
            <a:endParaRPr sz="5400">
              <a:solidFill>
                <a:schemeClr val="dk1"/>
              </a:solidFill>
              <a:latin typeface="Calibri"/>
              <a:ea typeface="Calibri"/>
              <a:cs typeface="Calibri"/>
              <a:sym typeface="Calibri"/>
            </a:endParaRPr>
          </a:p>
        </p:txBody>
      </p:sp>
      <p:cxnSp>
        <p:nvCxnSpPr>
          <p:cNvPr id="14" name="Google Shape;14;p1"/>
          <p:cNvCxnSpPr/>
          <p:nvPr/>
        </p:nvCxnSpPr>
        <p:spPr>
          <a:xfrm>
            <a:off x="2286000" y="3931920"/>
            <a:ext cx="7589520" cy="0"/>
          </a:xfrm>
          <a:prstGeom prst="straightConnector1">
            <a:avLst/>
          </a:prstGeom>
          <a:noFill/>
          <a:ln cap="flat" cmpd="sng" w="19050">
            <a:solidFill>
              <a:srgbClr val="FFFFFF"/>
            </a:solidFill>
            <a:prstDash val="solid"/>
            <a:round/>
            <a:headEnd len="sm" w="sm" type="none"/>
            <a:tailEnd len="sm" w="sm" type="none"/>
          </a:ln>
        </p:spPr>
      </p:cxnSp>
      <p:sp>
        <p:nvSpPr>
          <p:cNvPr id="15" name="Google Shape;15;p1"/>
          <p:cNvSpPr/>
          <p:nvPr/>
        </p:nvSpPr>
        <p:spPr>
          <a:xfrm>
            <a:off x="2286000" y="4023360"/>
            <a:ext cx="758952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lang="en-US" sz="2400">
                <a:solidFill>
                  <a:srgbClr val="FFFFFF"/>
                </a:solidFill>
                <a:latin typeface="Calibri"/>
                <a:ea typeface="Calibri"/>
                <a:cs typeface="Calibri"/>
                <a:sym typeface="Calibri"/>
              </a:rPr>
              <a:t>CAPÍTULO 3</a:t>
            </a:r>
            <a:endParaRPr sz="24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0" name="Shape 20"/>
        <p:cNvGrpSpPr/>
        <p:nvPr/>
      </p:nvGrpSpPr>
      <p:grpSpPr>
        <a:xfrm>
          <a:off x="0" y="0"/>
          <a:ext cx="0" cy="0"/>
          <a:chOff x="0" y="0"/>
          <a:chExt cx="0" cy="0"/>
        </a:xfrm>
      </p:grpSpPr>
      <p:sp>
        <p:nvSpPr>
          <p:cNvPr id="21" name="Google Shape;21;p2"/>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2"/>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200"/>
              <a:buFont typeface="Calibri"/>
              <a:buNone/>
            </a:pPr>
            <a:r>
              <a:rPr lang="en-US" sz="3200">
                <a:solidFill>
                  <a:srgbClr val="A6B727"/>
                </a:solidFill>
                <a:latin typeface="Calibri"/>
                <a:ea typeface="Calibri"/>
                <a:cs typeface="Calibri"/>
                <a:sym typeface="Calibri"/>
              </a:rPr>
              <a:t>¿QUÉ ES EL ANÁLISIS DE COMPONENTES PRINCIPALES?</a:t>
            </a:r>
            <a:endParaRPr sz="3200">
              <a:solidFill>
                <a:schemeClr val="dk1"/>
              </a:solidFill>
              <a:latin typeface="Calibri"/>
              <a:ea typeface="Calibri"/>
              <a:cs typeface="Calibri"/>
              <a:sym typeface="Calibri"/>
            </a:endParaRPr>
          </a:p>
        </p:txBody>
      </p:sp>
      <p:sp>
        <p:nvSpPr>
          <p:cNvPr id="23" name="Google Shape;23;p2"/>
          <p:cNvSpPr/>
          <p:nvPr/>
        </p:nvSpPr>
        <p:spPr>
          <a:xfrm>
            <a:off x="914400" y="1554480"/>
            <a:ext cx="6400800" cy="32004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El Análisis de Componentes Principales (</a:t>
            </a:r>
            <a:r>
              <a:rPr i="1" lang="en-US" sz="1700">
                <a:solidFill>
                  <a:srgbClr val="595652"/>
                </a:solidFill>
                <a:latin typeface="Calibri"/>
                <a:ea typeface="Calibri"/>
                <a:cs typeface="Calibri"/>
                <a:sym typeface="Calibri"/>
              </a:rPr>
              <a:t>Principal Component Analysis, PCA</a:t>
            </a:r>
            <a:r>
              <a:rPr lang="en-US" sz="1700">
                <a:solidFill>
                  <a:srgbClr val="595652"/>
                </a:solidFill>
                <a:latin typeface="Calibri"/>
                <a:ea typeface="Calibri"/>
                <a:cs typeface="Calibri"/>
                <a:sym typeface="Calibri"/>
              </a:rPr>
              <a:t>) es una técnica estadística utilizada para </a:t>
            </a:r>
            <a:r>
              <a:rPr b="1" lang="en-US" sz="1700">
                <a:solidFill>
                  <a:srgbClr val="595652"/>
                </a:solidFill>
                <a:latin typeface="Calibri"/>
                <a:ea typeface="Calibri"/>
                <a:cs typeface="Calibri"/>
                <a:sym typeface="Calibri"/>
              </a:rPr>
              <a:t>reducir la dimensión</a:t>
            </a:r>
            <a:r>
              <a:rPr lang="en-US" sz="1700">
                <a:solidFill>
                  <a:srgbClr val="595652"/>
                </a:solidFill>
                <a:latin typeface="Calibri"/>
                <a:ea typeface="Calibri"/>
                <a:cs typeface="Calibri"/>
                <a:sym typeface="Calibri"/>
              </a:rPr>
              <a:t> de un conjunto de datos mientras se conserva la mayor cantidad posible de su variabilidad original.</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Su propósito principal es simplificar datos complejos sin perder información esencial. Es decir, pasar de muchas variables a pocas variables nuevas (llamadas componentes principales) que resumen la información original.</a:t>
            </a:r>
            <a:endParaRPr sz="1800">
              <a:solidFill>
                <a:schemeClr val="dk1"/>
              </a:solidFill>
              <a:latin typeface="Calibri"/>
              <a:ea typeface="Calibri"/>
              <a:cs typeface="Calibri"/>
              <a:sym typeface="Calibri"/>
            </a:endParaRPr>
          </a:p>
        </p:txBody>
      </p:sp>
      <p:pic>
        <p:nvPicPr>
          <p:cNvPr descr="/sessions/clever-sweet-sagan/clase3_images/slide02_img00.png" id="24" name="Google Shape;24;p2"/>
          <p:cNvPicPr preferRelativeResize="0"/>
          <p:nvPr/>
        </p:nvPicPr>
        <p:blipFill rotWithShape="1">
          <a:blip r:embed="rId3">
            <a:alphaModFix/>
          </a:blip>
          <a:srcRect b="0" l="0" r="0" t="0"/>
          <a:stretch/>
        </p:blipFill>
        <p:spPr>
          <a:xfrm>
            <a:off x="7589520" y="1828800"/>
            <a:ext cx="4114800" cy="2377440"/>
          </a:xfrm>
          <a:prstGeom prst="rect">
            <a:avLst/>
          </a:prstGeom>
          <a:noFill/>
          <a:ln>
            <a:noFill/>
          </a:ln>
        </p:spPr>
      </p:pic>
      <p:sp>
        <p:nvSpPr>
          <p:cNvPr id="25" name="Google Shape;25;p2"/>
          <p:cNvSpPr/>
          <p:nvPr/>
        </p:nvSpPr>
        <p:spPr>
          <a:xfrm>
            <a:off x="914400" y="5029200"/>
            <a:ext cx="10515600" cy="1554480"/>
          </a:xfrm>
          <a:prstGeom prst="roundRect">
            <a:avLst>
              <a:gd fmla="val 5882"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2"/>
          <p:cNvSpPr/>
          <p:nvPr/>
        </p:nvSpPr>
        <p:spPr>
          <a:xfrm>
            <a:off x="1051560" y="5120640"/>
            <a:ext cx="10241280"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Mensaje clave</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PCA no elimina variables: crea nuevas variables (componentes) que son combinaciones lineales de las originales y capturan la mayor variabilidad posible.</a:t>
            </a:r>
            <a:endParaRPr sz="16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31" name="Shape 31"/>
        <p:cNvGrpSpPr/>
        <p:nvPr/>
      </p:nvGrpSpPr>
      <p:grpSpPr>
        <a:xfrm>
          <a:off x="0" y="0"/>
          <a:ext cx="0" cy="0"/>
          <a:chOff x="0" y="0"/>
          <a:chExt cx="0" cy="0"/>
        </a:xfrm>
      </p:grpSpPr>
      <p:sp>
        <p:nvSpPr>
          <p:cNvPr id="32" name="Google Shape;32;p3"/>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3"/>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¿POR QUÉ NECESITAMOS PCA?</a:t>
            </a:r>
            <a:endParaRPr sz="3600">
              <a:solidFill>
                <a:schemeClr val="dk1"/>
              </a:solidFill>
              <a:latin typeface="Calibri"/>
              <a:ea typeface="Calibri"/>
              <a:cs typeface="Calibri"/>
              <a:sym typeface="Calibri"/>
            </a:endParaRPr>
          </a:p>
        </p:txBody>
      </p:sp>
      <p:sp>
        <p:nvSpPr>
          <p:cNvPr id="34" name="Google Shape;34;p3"/>
          <p:cNvSpPr/>
          <p:nvPr/>
        </p:nvSpPr>
        <p:spPr>
          <a:xfrm>
            <a:off x="914400" y="1554480"/>
            <a:ext cx="64008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En muchos contextos (ciencias sociales, economía, biología, ingeniería) trabajamos con datos que contienen muchas variables correlacionadas entre sí. Esto genera problemas como: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700"/>
              <a:buFont typeface="Calibri"/>
              <a:buChar char="•"/>
            </a:pPr>
            <a:r>
              <a:rPr lang="en-US" sz="1700">
                <a:solidFill>
                  <a:srgbClr val="595652"/>
                </a:solidFill>
                <a:latin typeface="Calibri"/>
                <a:ea typeface="Calibri"/>
                <a:cs typeface="Calibri"/>
                <a:sym typeface="Calibri"/>
              </a:rPr>
              <a:t>Dificultad para visualizar relaciones cuando hay más de 3 variables.</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700"/>
              <a:buFont typeface="Calibri"/>
              <a:buChar char="•"/>
            </a:pPr>
            <a:r>
              <a:rPr lang="en-US" sz="1700">
                <a:solidFill>
                  <a:srgbClr val="595652"/>
                </a:solidFill>
                <a:latin typeface="Calibri"/>
                <a:ea typeface="Calibri"/>
                <a:cs typeface="Calibri"/>
                <a:sym typeface="Calibri"/>
              </a:rPr>
              <a:t>Modelos predictivos más lentos y menos estables (sobreajuste).</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700"/>
              <a:buFont typeface="Calibri"/>
              <a:buChar char="•"/>
            </a:pPr>
            <a:r>
              <a:rPr lang="en-US" sz="1700">
                <a:solidFill>
                  <a:srgbClr val="595652"/>
                </a:solidFill>
                <a:latin typeface="Calibri"/>
                <a:ea typeface="Calibri"/>
                <a:cs typeface="Calibri"/>
                <a:sym typeface="Calibri"/>
              </a:rPr>
              <a:t>Redundancia de información: variables que explican lo mismo.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PCA permite descubrir estructuras ocultas en los datos, identificando patrones globales que no siempre son evidentes cuando miramos las variables una por una.</a:t>
            </a:r>
            <a:endParaRPr sz="1800">
              <a:solidFill>
                <a:schemeClr val="dk1"/>
              </a:solidFill>
              <a:latin typeface="Calibri"/>
              <a:ea typeface="Calibri"/>
              <a:cs typeface="Calibri"/>
              <a:sym typeface="Calibri"/>
            </a:endParaRPr>
          </a:p>
        </p:txBody>
      </p:sp>
      <p:pic>
        <p:nvPicPr>
          <p:cNvPr descr="/sessions/clever-sweet-sagan/clase3_images/slide03_img00.png" id="35" name="Google Shape;35;p3"/>
          <p:cNvPicPr preferRelativeResize="0"/>
          <p:nvPr/>
        </p:nvPicPr>
        <p:blipFill rotWithShape="1">
          <a:blip r:embed="rId3">
            <a:alphaModFix/>
          </a:blip>
          <a:srcRect b="0" l="0" r="0" t="0"/>
          <a:stretch/>
        </p:blipFill>
        <p:spPr>
          <a:xfrm>
            <a:off x="7589520" y="1645920"/>
            <a:ext cx="4114800"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40" name="Shape 40"/>
        <p:cNvGrpSpPr/>
        <p:nvPr/>
      </p:nvGrpSpPr>
      <p:grpSpPr>
        <a:xfrm>
          <a:off x="0" y="0"/>
          <a:ext cx="0" cy="0"/>
          <a:chOff x="0" y="0"/>
          <a:chExt cx="0" cy="0"/>
        </a:xfrm>
      </p:grpSpPr>
      <p:sp>
        <p:nvSpPr>
          <p:cNvPr id="41" name="Google Shape;41;p4"/>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4"/>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¿QUÉ HACE PCA CONCRETAMENTE?</a:t>
            </a:r>
            <a:endParaRPr sz="3600">
              <a:solidFill>
                <a:schemeClr val="dk1"/>
              </a:solidFill>
              <a:latin typeface="Calibri"/>
              <a:ea typeface="Calibri"/>
              <a:cs typeface="Calibri"/>
              <a:sym typeface="Calibri"/>
            </a:endParaRPr>
          </a:p>
        </p:txBody>
      </p:sp>
      <p:sp>
        <p:nvSpPr>
          <p:cNvPr id="43" name="Google Shape;43;p4"/>
          <p:cNvSpPr/>
          <p:nvPr/>
        </p:nvSpPr>
        <p:spPr>
          <a:xfrm>
            <a:off x="914400" y="1554480"/>
            <a:ext cx="6583680" cy="484632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PCA construye nuevas variables llamadas </a:t>
            </a:r>
            <a:r>
              <a:rPr b="1" lang="en-US" sz="1700">
                <a:solidFill>
                  <a:srgbClr val="595652"/>
                </a:solidFill>
                <a:latin typeface="Calibri"/>
                <a:ea typeface="Calibri"/>
                <a:cs typeface="Calibri"/>
                <a:sym typeface="Calibri"/>
              </a:rPr>
              <a:t>componentes principales</a:t>
            </a:r>
            <a:r>
              <a:rPr lang="en-US" sz="1700">
                <a:solidFill>
                  <a:srgbClr val="595652"/>
                </a:solidFill>
                <a:latin typeface="Calibri"/>
                <a:ea typeface="Calibri"/>
                <a:cs typeface="Calibri"/>
                <a:sym typeface="Calibri"/>
              </a:rPr>
              <a:t>, que cumplen con dos propiedades: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1. Cada componente principal es una combinación lineal de las variables originales.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2. Los componentes se ordenan según cuánta variabilidad explican: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   - El primer componente (PC1) explica la mayor parte posible de la variación.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   - El segundo (PC2) explica la mayor parte de la variación restante, y es ortogonal (independiente) al primero.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   - Y así sucesivamente.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PCA reorganiza el sistema de coordenadas para encontrar las direcciones donde los datos "varían más", lo que permite capturar la esencia del conjunto original con menos dimensiones.</a:t>
            </a:r>
            <a:endParaRPr sz="1800">
              <a:solidFill>
                <a:schemeClr val="dk1"/>
              </a:solidFill>
              <a:latin typeface="Calibri"/>
              <a:ea typeface="Calibri"/>
              <a:cs typeface="Calibri"/>
              <a:sym typeface="Calibri"/>
            </a:endParaRPr>
          </a:p>
        </p:txBody>
      </p:sp>
      <p:pic>
        <p:nvPicPr>
          <p:cNvPr descr="/sessions/clever-sweet-sagan/clase3_images/slide04_img00.png" id="44" name="Google Shape;44;p4"/>
          <p:cNvPicPr preferRelativeResize="0"/>
          <p:nvPr/>
        </p:nvPicPr>
        <p:blipFill rotWithShape="1">
          <a:blip r:embed="rId3">
            <a:alphaModFix/>
          </a:blip>
          <a:srcRect b="0" l="0" r="0" t="0"/>
          <a:stretch/>
        </p:blipFill>
        <p:spPr>
          <a:xfrm>
            <a:off x="7772400" y="1828800"/>
            <a:ext cx="3931920" cy="25603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49" name="Shape 49"/>
        <p:cNvGrpSpPr/>
        <p:nvPr/>
      </p:nvGrpSpPr>
      <p:grpSpPr>
        <a:xfrm>
          <a:off x="0" y="0"/>
          <a:ext cx="0" cy="0"/>
          <a:chOff x="0" y="0"/>
          <a:chExt cx="0" cy="0"/>
        </a:xfrm>
      </p:grpSpPr>
      <p:sp>
        <p:nvSpPr>
          <p:cNvPr id="50" name="Google Shape;50;p5"/>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5"/>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¿QUÉ REPRESENTA UN COMPONENTE PRINCIPAL?</a:t>
            </a:r>
            <a:endParaRPr sz="3600">
              <a:solidFill>
                <a:schemeClr val="dk1"/>
              </a:solidFill>
              <a:latin typeface="Calibri"/>
              <a:ea typeface="Calibri"/>
              <a:cs typeface="Calibri"/>
              <a:sym typeface="Calibri"/>
            </a:endParaRPr>
          </a:p>
        </p:txBody>
      </p:sp>
      <p:sp>
        <p:nvSpPr>
          <p:cNvPr id="52" name="Google Shape;52;p5"/>
          <p:cNvSpPr/>
          <p:nvPr/>
        </p:nvSpPr>
        <p:spPr>
          <a:xfrm>
            <a:off x="914400" y="1554480"/>
            <a:ext cx="64008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Cada componente puede interpretarse como un </a:t>
            </a:r>
            <a:r>
              <a:rPr b="1" lang="en-US" sz="1700">
                <a:solidFill>
                  <a:srgbClr val="595652"/>
                </a:solidFill>
                <a:latin typeface="Calibri"/>
                <a:ea typeface="Calibri"/>
                <a:cs typeface="Calibri"/>
                <a:sym typeface="Calibri"/>
              </a:rPr>
              <a:t>eje que resume la información compartida</a:t>
            </a:r>
            <a:r>
              <a:rPr lang="en-US" sz="1700">
                <a:solidFill>
                  <a:srgbClr val="595652"/>
                </a:solidFill>
                <a:latin typeface="Calibri"/>
                <a:ea typeface="Calibri"/>
                <a:cs typeface="Calibri"/>
                <a:sym typeface="Calibri"/>
              </a:rPr>
              <a:t> entre varias variables. Por ejemplo: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700"/>
              <a:buFont typeface="Calibri"/>
              <a:buChar char="•"/>
            </a:pPr>
            <a:r>
              <a:rPr lang="en-US" sz="1700">
                <a:solidFill>
                  <a:srgbClr val="595652"/>
                </a:solidFill>
                <a:latin typeface="Calibri"/>
                <a:ea typeface="Calibri"/>
                <a:cs typeface="Calibri"/>
                <a:sym typeface="Calibri"/>
              </a:rPr>
              <a:t>Un componente podría representar un "factor socioeconómico" si agrupa ingresos, nivel educativo y acceso a servicios.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700"/>
              <a:buFont typeface="Calibri"/>
              <a:buChar char="•"/>
            </a:pPr>
            <a:r>
              <a:rPr lang="en-US" sz="1700">
                <a:solidFill>
                  <a:srgbClr val="595652"/>
                </a:solidFill>
                <a:latin typeface="Calibri"/>
                <a:ea typeface="Calibri"/>
                <a:cs typeface="Calibri"/>
                <a:sym typeface="Calibri"/>
              </a:rPr>
              <a:t>Otro podría representar una "condición ambiental" si combina humedad, temperatura y presión.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Esto hace que PCA sea útil no solo para reducir dimensiones, sino también para interpretar estructuras latentes (patrones ocultos en los datos).</a:t>
            </a:r>
            <a:endParaRPr sz="1800">
              <a:solidFill>
                <a:schemeClr val="dk1"/>
              </a:solidFill>
              <a:latin typeface="Calibri"/>
              <a:ea typeface="Calibri"/>
              <a:cs typeface="Calibri"/>
              <a:sym typeface="Calibri"/>
            </a:endParaRPr>
          </a:p>
        </p:txBody>
      </p:sp>
      <p:pic>
        <p:nvPicPr>
          <p:cNvPr descr="/sessions/clever-sweet-sagan/clase3_images/slide05_img00.png" id="53" name="Google Shape;53;p5"/>
          <p:cNvPicPr preferRelativeResize="0"/>
          <p:nvPr/>
        </p:nvPicPr>
        <p:blipFill rotWithShape="1">
          <a:blip r:embed="rId3">
            <a:alphaModFix/>
          </a:blip>
          <a:srcRect b="0" l="0" r="0" t="0"/>
          <a:stretch/>
        </p:blipFill>
        <p:spPr>
          <a:xfrm>
            <a:off x="7589520" y="1645920"/>
            <a:ext cx="4114800"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58" name="Shape 58"/>
        <p:cNvGrpSpPr/>
        <p:nvPr/>
      </p:nvGrpSpPr>
      <p:grpSpPr>
        <a:xfrm>
          <a:off x="0" y="0"/>
          <a:ext cx="0" cy="0"/>
          <a:chOff x="0" y="0"/>
          <a:chExt cx="0" cy="0"/>
        </a:xfrm>
      </p:grpSpPr>
      <p:sp>
        <p:nvSpPr>
          <p:cNvPr id="59" name="Google Shape;59;p6"/>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6"/>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VENTAJAS Y LIMITACIONES DE PCA</a:t>
            </a:r>
            <a:endParaRPr sz="3600">
              <a:solidFill>
                <a:schemeClr val="dk1"/>
              </a:solidFill>
              <a:latin typeface="Calibri"/>
              <a:ea typeface="Calibri"/>
              <a:cs typeface="Calibri"/>
              <a:sym typeface="Calibri"/>
            </a:endParaRPr>
          </a:p>
        </p:txBody>
      </p:sp>
      <p:sp>
        <p:nvSpPr>
          <p:cNvPr id="61" name="Google Shape;61;p6"/>
          <p:cNvSpPr/>
          <p:nvPr/>
        </p:nvSpPr>
        <p:spPr>
          <a:xfrm>
            <a:off x="914400" y="1417320"/>
            <a:ext cx="64008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2000"/>
              <a:buFont typeface="Calibri"/>
              <a:buNone/>
            </a:pPr>
            <a:r>
              <a:rPr b="1" lang="en-US" sz="2000">
                <a:solidFill>
                  <a:srgbClr val="595652"/>
                </a:solidFill>
                <a:latin typeface="Calibri"/>
                <a:ea typeface="Calibri"/>
                <a:cs typeface="Calibri"/>
                <a:sym typeface="Calibri"/>
              </a:rPr>
              <a:t>¿Qué se gana con PCA?</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Reducción de dimensionalidad: menos variables, pero con casi la misma información.</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Eliminación de redundancia: se eliminan correlaciones fuertes entre variables originales.</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Simplificación de modelos: los componentes suelen ser más manejables.</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Visualización: permite representar datos complejos en 2 o 3 dimensiones.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2000"/>
              <a:buFont typeface="Calibri"/>
              <a:buNone/>
            </a:pPr>
            <a:r>
              <a:rPr b="1" lang="en-US" sz="2000">
                <a:solidFill>
                  <a:srgbClr val="595652"/>
                </a:solidFill>
                <a:latin typeface="Calibri"/>
                <a:ea typeface="Calibri"/>
                <a:cs typeface="Calibri"/>
                <a:sym typeface="Calibri"/>
              </a:rPr>
              <a:t>¿Qué NO hace PCA?</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No distingue entre variables importantes y no importantes por sí mismas.</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No garantiza interpretabilidad directa de cada componente.</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600"/>
              <a:buFont typeface="Calibri"/>
              <a:buChar char="•"/>
            </a:pPr>
            <a:r>
              <a:rPr lang="en-US" sz="1600">
                <a:solidFill>
                  <a:srgbClr val="595652"/>
                </a:solidFill>
                <a:latin typeface="Calibri"/>
                <a:ea typeface="Calibri"/>
                <a:cs typeface="Calibri"/>
                <a:sym typeface="Calibri"/>
              </a:rPr>
              <a:t>No es adecuado cuando las relaciones entre variables no son lineales.</a:t>
            </a:r>
            <a:endParaRPr sz="1800">
              <a:solidFill>
                <a:schemeClr val="dk1"/>
              </a:solidFill>
              <a:latin typeface="Calibri"/>
              <a:ea typeface="Calibri"/>
              <a:cs typeface="Calibri"/>
              <a:sym typeface="Calibri"/>
            </a:endParaRPr>
          </a:p>
        </p:txBody>
      </p:sp>
      <p:pic>
        <p:nvPicPr>
          <p:cNvPr descr="/sessions/clever-sweet-sagan/clase3_images/slide06_img00.png" id="62" name="Google Shape;62;p6"/>
          <p:cNvPicPr preferRelativeResize="0"/>
          <p:nvPr/>
        </p:nvPicPr>
        <p:blipFill rotWithShape="1">
          <a:blip r:embed="rId3">
            <a:alphaModFix/>
          </a:blip>
          <a:srcRect b="0" l="0" r="0" t="0"/>
          <a:stretch/>
        </p:blipFill>
        <p:spPr>
          <a:xfrm>
            <a:off x="7589520" y="1828800"/>
            <a:ext cx="4114800"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67" name="Shape 67"/>
        <p:cNvGrpSpPr/>
        <p:nvPr/>
      </p:nvGrpSpPr>
      <p:grpSpPr>
        <a:xfrm>
          <a:off x="0" y="0"/>
          <a:ext cx="0" cy="0"/>
          <a:chOff x="0" y="0"/>
          <a:chExt cx="0" cy="0"/>
        </a:xfrm>
      </p:grpSpPr>
      <p:sp>
        <p:nvSpPr>
          <p:cNvPr id="68" name="Google Shape;68;p7"/>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7"/>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EN RESUMEN</a:t>
            </a:r>
            <a:endParaRPr sz="3600">
              <a:solidFill>
                <a:schemeClr val="dk1"/>
              </a:solidFill>
              <a:latin typeface="Calibri"/>
              <a:ea typeface="Calibri"/>
              <a:cs typeface="Calibri"/>
              <a:sym typeface="Calibri"/>
            </a:endParaRPr>
          </a:p>
        </p:txBody>
      </p:sp>
      <p:pic>
        <p:nvPicPr>
          <p:cNvPr descr="/sessions/clever-sweet-sagan/clase3_images/slide07_img00.png" id="70" name="Google Shape;70;p7"/>
          <p:cNvPicPr preferRelativeResize="0"/>
          <p:nvPr/>
        </p:nvPicPr>
        <p:blipFill rotWithShape="1">
          <a:blip r:embed="rId3">
            <a:alphaModFix/>
          </a:blip>
          <a:srcRect b="0" l="0" r="0" t="0"/>
          <a:stretch/>
        </p:blipFill>
        <p:spPr>
          <a:xfrm>
            <a:off x="2286000" y="1371600"/>
            <a:ext cx="7772400" cy="53035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75" name="Shape 75"/>
        <p:cNvGrpSpPr/>
        <p:nvPr/>
      </p:nvGrpSpPr>
      <p:grpSpPr>
        <a:xfrm>
          <a:off x="0" y="0"/>
          <a:ext cx="0" cy="0"/>
          <a:chOff x="0" y="0"/>
          <a:chExt cx="0" cy="0"/>
        </a:xfrm>
      </p:grpSpPr>
      <p:sp>
        <p:nvSpPr>
          <p:cNvPr id="76" name="Google Shape;76;p8"/>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8"/>
          <p:cNvSpPr/>
          <p:nvPr/>
        </p:nvSpPr>
        <p:spPr>
          <a:xfrm>
            <a:off x="914400" y="50292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EXPLICACIÓN MATEMÁTICA</a:t>
            </a:r>
            <a:endParaRPr/>
          </a:p>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PASO 1: CENTRAR LAS VARIABLES</a:t>
            </a:r>
            <a:endParaRPr sz="3600">
              <a:solidFill>
                <a:schemeClr val="dk1"/>
              </a:solidFill>
              <a:latin typeface="Calibri"/>
              <a:ea typeface="Calibri"/>
              <a:cs typeface="Calibri"/>
              <a:sym typeface="Calibri"/>
            </a:endParaRPr>
          </a:p>
        </p:txBody>
      </p:sp>
      <p:sp>
        <p:nvSpPr>
          <p:cNvPr id="78" name="Google Shape;78;p8"/>
          <p:cNvSpPr/>
          <p:nvPr/>
        </p:nvSpPr>
        <p:spPr>
          <a:xfrm>
            <a:off x="914400" y="1554480"/>
            <a:ext cx="10058400" cy="32004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Partimos de una matriz de datos X con n observaciones y p variables. El primer paso es </a:t>
            </a:r>
            <a:r>
              <a:rPr b="1" lang="en-US" sz="1700">
                <a:solidFill>
                  <a:srgbClr val="595652"/>
                </a:solidFill>
                <a:latin typeface="Calibri"/>
                <a:ea typeface="Calibri"/>
                <a:cs typeface="Calibri"/>
                <a:sym typeface="Calibri"/>
              </a:rPr>
              <a:t>centrar</a:t>
            </a:r>
            <a:r>
              <a:rPr lang="en-US" sz="1700">
                <a:solidFill>
                  <a:srgbClr val="595652"/>
                </a:solidFill>
                <a:latin typeface="Calibri"/>
                <a:ea typeface="Calibri"/>
                <a:cs typeface="Calibri"/>
                <a:sym typeface="Calibri"/>
              </a:rPr>
              <a:t> las variables restando la media de cada una: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2200"/>
              <a:buFont typeface="Consolas"/>
              <a:buNone/>
            </a:pPr>
            <a:r>
              <a:rPr lang="en-US" sz="2200">
                <a:solidFill>
                  <a:srgbClr val="A6B727"/>
                </a:solidFill>
                <a:latin typeface="Consolas"/>
                <a:ea typeface="Consolas"/>
                <a:cs typeface="Consolas"/>
                <a:sym typeface="Consolas"/>
              </a:rPr>
              <a:t>X̃ = X - 1·x̄ᵀ</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donde x̄ es el vector de medias de cada variable.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Esto asegura que PCA trabaje con la variación alrededor del origen (media cero), que es necesario para que el análisis sea correcto.</a:t>
            </a:r>
            <a:endParaRPr sz="1800">
              <a:solidFill>
                <a:schemeClr val="dk1"/>
              </a:solidFill>
              <a:latin typeface="Calibri"/>
              <a:ea typeface="Calibri"/>
              <a:cs typeface="Calibri"/>
              <a:sym typeface="Calibri"/>
            </a:endParaRPr>
          </a:p>
        </p:txBody>
      </p:sp>
      <p:sp>
        <p:nvSpPr>
          <p:cNvPr id="79" name="Google Shape;79;p8"/>
          <p:cNvSpPr/>
          <p:nvPr/>
        </p:nvSpPr>
        <p:spPr>
          <a:xfrm>
            <a:off x="914400" y="4846320"/>
            <a:ext cx="10515600" cy="1645920"/>
          </a:xfrm>
          <a:prstGeom prst="roundRect">
            <a:avLst>
              <a:gd fmla="val 5556"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8"/>
          <p:cNvSpPr/>
          <p:nvPr/>
        </p:nvSpPr>
        <p:spPr>
          <a:xfrm>
            <a:off x="1051560" y="4937760"/>
            <a:ext cx="1024128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¿Por qué centrar?</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Si no centramos, el primer componente podría simplemente apuntar hacia la media de los datos en lugar de capturar la dirección de máxima variabilidad. Centrar garantiza que PCA detecte patrones de variación, no niveles de magnitud.</a:t>
            </a:r>
            <a:endParaRPr sz="1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85" name="Shape 85"/>
        <p:cNvGrpSpPr/>
        <p:nvPr/>
      </p:nvGrpSpPr>
      <p:grpSpPr>
        <a:xfrm>
          <a:off x="0" y="0"/>
          <a:ext cx="0" cy="0"/>
          <a:chOff x="0" y="0"/>
          <a:chExt cx="0" cy="0"/>
        </a:xfrm>
      </p:grpSpPr>
      <p:sp>
        <p:nvSpPr>
          <p:cNvPr id="86" name="Google Shape;86;p9"/>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9"/>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PASO 2: MATRIZ DE COVARIANZA</a:t>
            </a:r>
            <a:endParaRPr sz="3600">
              <a:solidFill>
                <a:schemeClr val="dk1"/>
              </a:solidFill>
              <a:latin typeface="Calibri"/>
              <a:ea typeface="Calibri"/>
              <a:cs typeface="Calibri"/>
              <a:sym typeface="Calibri"/>
            </a:endParaRPr>
          </a:p>
        </p:txBody>
      </p:sp>
      <p:sp>
        <p:nvSpPr>
          <p:cNvPr id="88" name="Google Shape;88;p9"/>
          <p:cNvSpPr/>
          <p:nvPr/>
        </p:nvSpPr>
        <p:spPr>
          <a:xfrm>
            <a:off x="914400" y="1554480"/>
            <a:ext cx="64008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Con los datos centrados, calculamos la matriz de covarianza: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2200"/>
              <a:buFont typeface="Consolas"/>
              <a:buNone/>
            </a:pPr>
            <a:r>
              <a:rPr lang="en-US" sz="2200">
                <a:solidFill>
                  <a:srgbClr val="A6B727"/>
                </a:solidFill>
                <a:latin typeface="Consolas"/>
                <a:ea typeface="Consolas"/>
                <a:cs typeface="Consolas"/>
                <a:sym typeface="Consolas"/>
              </a:rPr>
              <a:t>S = (1/(n-1)) X̃ᵀX̃</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Propiedades de S:</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700"/>
              <a:buFont typeface="Calibri"/>
              <a:buChar char="•"/>
            </a:pPr>
            <a:r>
              <a:rPr lang="en-US" sz="1700">
                <a:solidFill>
                  <a:srgbClr val="595652"/>
                </a:solidFill>
                <a:latin typeface="Calibri"/>
                <a:ea typeface="Calibri"/>
                <a:cs typeface="Calibri"/>
                <a:sym typeface="Calibri"/>
              </a:rPr>
              <a:t>Es simétrica (S = Sᵀ)</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700"/>
              <a:buFont typeface="Calibri"/>
              <a:buChar char="•"/>
            </a:pPr>
            <a:r>
              <a:rPr lang="en-US" sz="1700">
                <a:solidFill>
                  <a:srgbClr val="595652"/>
                </a:solidFill>
                <a:latin typeface="Calibri"/>
                <a:ea typeface="Calibri"/>
                <a:cs typeface="Calibri"/>
                <a:sym typeface="Calibri"/>
              </a:rPr>
              <a:t>Es semidefinida positiva (todos los autovalores son ≥ 0)</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700"/>
              <a:buFont typeface="Calibri"/>
              <a:buChar char="•"/>
            </a:pPr>
            <a:r>
              <a:rPr lang="en-US" sz="1700">
                <a:solidFill>
                  <a:srgbClr val="595652"/>
                </a:solidFill>
                <a:latin typeface="Calibri"/>
                <a:ea typeface="Calibri"/>
                <a:cs typeface="Calibri"/>
                <a:sym typeface="Calibri"/>
              </a:rPr>
              <a:t>Sus autovectores son ortogonales entre sí</a:t>
            </a:r>
            <a:endParaRPr sz="1800">
              <a:solidFill>
                <a:schemeClr val="dk1"/>
              </a:solidFill>
              <a:latin typeface="Calibri"/>
              <a:ea typeface="Calibri"/>
              <a:cs typeface="Calibri"/>
              <a:sym typeface="Calibri"/>
            </a:endParaRPr>
          </a:p>
        </p:txBody>
      </p:sp>
      <p:sp>
        <p:nvSpPr>
          <p:cNvPr id="89" name="Google Shape;89;p9"/>
          <p:cNvSpPr/>
          <p:nvPr/>
        </p:nvSpPr>
        <p:spPr>
          <a:xfrm>
            <a:off x="7315200" y="1554480"/>
            <a:ext cx="4389120" cy="3200400"/>
          </a:xfrm>
          <a:prstGeom prst="roundRect">
            <a:avLst>
              <a:gd fmla="val 2857"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9"/>
          <p:cNvSpPr/>
          <p:nvPr/>
        </p:nvSpPr>
        <p:spPr>
          <a:xfrm>
            <a:off x="7452360" y="1645920"/>
            <a:ext cx="4114800" cy="3017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La matriz de covarianza resume TODA la información sobre las relaciones lineales entre variables. Sus elementos diagonales son las varianzas de cada variable, y los elementos fuera de la diagonal son las covarianzas entre pares de variables.</a:t>
            </a:r>
            <a:endParaRPr sz="16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95" name="Shape 95"/>
        <p:cNvGrpSpPr/>
        <p:nvPr/>
      </p:nvGrpSpPr>
      <p:grpSpPr>
        <a:xfrm>
          <a:off x="0" y="0"/>
          <a:ext cx="0" cy="0"/>
          <a:chOff x="0" y="0"/>
          <a:chExt cx="0" cy="0"/>
        </a:xfrm>
      </p:grpSpPr>
      <p:sp>
        <p:nvSpPr>
          <p:cNvPr id="96" name="Google Shape;96;p10"/>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10"/>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EL PROBLEMA CENTRAL DE PCA</a:t>
            </a:r>
            <a:endParaRPr sz="3600">
              <a:solidFill>
                <a:schemeClr val="dk1"/>
              </a:solidFill>
              <a:latin typeface="Calibri"/>
              <a:ea typeface="Calibri"/>
              <a:cs typeface="Calibri"/>
              <a:sym typeface="Calibri"/>
            </a:endParaRPr>
          </a:p>
        </p:txBody>
      </p:sp>
      <p:sp>
        <p:nvSpPr>
          <p:cNvPr id="98" name="Google Shape;98;p10"/>
          <p:cNvSpPr/>
          <p:nvPr/>
        </p:nvSpPr>
        <p:spPr>
          <a:xfrm>
            <a:off x="914400" y="1554480"/>
            <a:ext cx="10058400" cy="3657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PCA consiste en resolver la ecuación de autovalores: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2800"/>
              <a:buFont typeface="Consolas"/>
              <a:buNone/>
            </a:pPr>
            <a:r>
              <a:rPr lang="en-US" sz="2800">
                <a:solidFill>
                  <a:srgbClr val="A6B727"/>
                </a:solidFill>
                <a:latin typeface="Consolas"/>
                <a:ea typeface="Consolas"/>
                <a:cs typeface="Consolas"/>
                <a:sym typeface="Consolas"/>
              </a:rPr>
              <a:t>S · v = λ · v</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b="1" lang="en-US" sz="1800">
                <a:solidFill>
                  <a:srgbClr val="595652"/>
                </a:solidFill>
                <a:latin typeface="Calibri"/>
                <a:ea typeface="Calibri"/>
                <a:cs typeface="Calibri"/>
                <a:sym typeface="Calibri"/>
              </a:rPr>
              <a:t>Donde:</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800"/>
              <a:buFont typeface="Calibri"/>
              <a:buChar char="•"/>
            </a:pPr>
            <a:r>
              <a:rPr lang="en-US" sz="1800">
                <a:solidFill>
                  <a:srgbClr val="595652"/>
                </a:solidFill>
                <a:latin typeface="Calibri"/>
                <a:ea typeface="Calibri"/>
                <a:cs typeface="Calibri"/>
                <a:sym typeface="Calibri"/>
              </a:rPr>
              <a:t>v = </a:t>
            </a:r>
            <a:r>
              <a:rPr lang="en-US" sz="1800">
                <a:solidFill>
                  <a:srgbClr val="595652"/>
                </a:solidFill>
                <a:latin typeface="Calibri"/>
                <a:ea typeface="Calibri"/>
                <a:cs typeface="Calibri"/>
                <a:sym typeface="Calibri"/>
              </a:rPr>
              <a:t>autovector</a:t>
            </a:r>
            <a:r>
              <a:rPr lang="en-US" sz="1800">
                <a:solidFill>
                  <a:srgbClr val="595652"/>
                </a:solidFill>
                <a:latin typeface="Calibri"/>
                <a:ea typeface="Calibri"/>
                <a:cs typeface="Calibri"/>
                <a:sym typeface="Calibri"/>
              </a:rPr>
              <a:t> → es una dirección de variación en el espacio de datos</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800"/>
              <a:buFont typeface="Calibri"/>
              <a:buChar char="•"/>
            </a:pPr>
            <a:r>
              <a:rPr lang="en-US" sz="1800">
                <a:solidFill>
                  <a:srgbClr val="595652"/>
                </a:solidFill>
                <a:latin typeface="Calibri"/>
                <a:ea typeface="Calibri"/>
                <a:cs typeface="Calibri"/>
                <a:sym typeface="Calibri"/>
              </a:rPr>
              <a:t>λ = </a:t>
            </a:r>
            <a:r>
              <a:rPr lang="en-US" sz="1800">
                <a:solidFill>
                  <a:srgbClr val="595652"/>
                </a:solidFill>
                <a:latin typeface="Calibri"/>
                <a:ea typeface="Calibri"/>
                <a:cs typeface="Calibri"/>
                <a:sym typeface="Calibri"/>
              </a:rPr>
              <a:t>autovalor</a:t>
            </a:r>
            <a:r>
              <a:rPr lang="en-US" sz="1800">
                <a:solidFill>
                  <a:srgbClr val="595652"/>
                </a:solidFill>
                <a:latin typeface="Calibri"/>
                <a:ea typeface="Calibri"/>
                <a:cs typeface="Calibri"/>
                <a:sym typeface="Calibri"/>
              </a:rPr>
              <a:t> → es la varianza explicada en esa dirección</a:t>
            </a:r>
            <a:endParaRPr sz="1800">
              <a:solidFill>
                <a:schemeClr val="dk1"/>
              </a:solidFill>
              <a:latin typeface="Calibri"/>
              <a:ea typeface="Calibri"/>
              <a:cs typeface="Calibri"/>
              <a:sym typeface="Calibri"/>
            </a:endParaRPr>
          </a:p>
        </p:txBody>
      </p:sp>
      <p:sp>
        <p:nvSpPr>
          <p:cNvPr id="99" name="Google Shape;99;p10"/>
          <p:cNvSpPr/>
          <p:nvPr/>
        </p:nvSpPr>
        <p:spPr>
          <a:xfrm>
            <a:off x="914400" y="4846320"/>
            <a:ext cx="10515600" cy="1645920"/>
          </a:xfrm>
          <a:prstGeom prst="roundRect">
            <a:avLst>
              <a:gd fmla="val 5556"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10"/>
          <p:cNvSpPr/>
          <p:nvPr/>
        </p:nvSpPr>
        <p:spPr>
          <a:xfrm>
            <a:off x="1051560" y="4937760"/>
            <a:ext cx="1024128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Interpretación intuitiva</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Cada autovector indica una "dirección" en el espacio de las variables originales. Cada autovalor indica cuánta variabilidad de los datos se captura en esa dirección. PCA ordena estas direcciones de mayor a menor variabilidad.</a:t>
            </a:r>
            <a:endParaRPr sz="1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05" name="Shape 105"/>
        <p:cNvGrpSpPr/>
        <p:nvPr/>
      </p:nvGrpSpPr>
      <p:grpSpPr>
        <a:xfrm>
          <a:off x="0" y="0"/>
          <a:ext cx="0" cy="0"/>
          <a:chOff x="0" y="0"/>
          <a:chExt cx="0" cy="0"/>
        </a:xfrm>
      </p:grpSpPr>
      <p:sp>
        <p:nvSpPr>
          <p:cNvPr id="106" name="Google Shape;106;p11"/>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11"/>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PRIMERA COMPONENTE PRINCIPAL (PC1)</a:t>
            </a:r>
            <a:endParaRPr sz="3600">
              <a:solidFill>
                <a:schemeClr val="dk1"/>
              </a:solidFill>
              <a:latin typeface="Calibri"/>
              <a:ea typeface="Calibri"/>
              <a:cs typeface="Calibri"/>
              <a:sym typeface="Calibri"/>
            </a:endParaRPr>
          </a:p>
        </p:txBody>
      </p:sp>
      <p:sp>
        <p:nvSpPr>
          <p:cNvPr id="108" name="Google Shape;108;p11"/>
          <p:cNvSpPr/>
          <p:nvPr/>
        </p:nvSpPr>
        <p:spPr>
          <a:xfrm>
            <a:off x="914400" y="1554480"/>
            <a:ext cx="10058400" cy="3657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Se busca la dirección w que </a:t>
            </a:r>
            <a:r>
              <a:rPr b="1" lang="en-US" sz="1700">
                <a:solidFill>
                  <a:srgbClr val="595652"/>
                </a:solidFill>
                <a:latin typeface="Calibri"/>
                <a:ea typeface="Calibri"/>
                <a:cs typeface="Calibri"/>
                <a:sym typeface="Calibri"/>
              </a:rPr>
              <a:t>maximiza la varianza proyectada</a:t>
            </a:r>
            <a:r>
              <a:rPr lang="en-US" sz="1700">
                <a:solidFill>
                  <a:srgbClr val="595652"/>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2000"/>
              <a:buFont typeface="Consolas"/>
              <a:buNone/>
            </a:pPr>
            <a:r>
              <a:rPr lang="en-US" sz="2000">
                <a:solidFill>
                  <a:srgbClr val="A6B727"/>
                </a:solidFill>
                <a:latin typeface="Consolas"/>
                <a:ea typeface="Consolas"/>
                <a:cs typeface="Consolas"/>
                <a:sym typeface="Consolas"/>
              </a:rPr>
              <a:t>max V(ŵ) = wᵀSw    sujeto a  ||w|| = 1</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Usando multiplicadores de Lagrange, esto lleva a: Sw = λw</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Resultado: el vector que maximiza la varianza es el autovector asociado al autovalor más grande (λ₁). La varianza explicada por PC1 es exactamente λ₁.</a:t>
            </a:r>
            <a:endParaRPr sz="1800">
              <a:solidFill>
                <a:schemeClr val="dk1"/>
              </a:solidFill>
              <a:latin typeface="Calibri"/>
              <a:ea typeface="Calibri"/>
              <a:cs typeface="Calibri"/>
              <a:sym typeface="Calibri"/>
            </a:endParaRPr>
          </a:p>
        </p:txBody>
      </p:sp>
      <p:sp>
        <p:nvSpPr>
          <p:cNvPr id="109" name="Google Shape;109;p11"/>
          <p:cNvSpPr/>
          <p:nvPr/>
        </p:nvSpPr>
        <p:spPr>
          <a:xfrm>
            <a:off x="914400" y="5029200"/>
            <a:ext cx="10515600" cy="1371600"/>
          </a:xfrm>
          <a:prstGeom prst="roundRect">
            <a:avLst>
              <a:gd fmla="val 6667"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11"/>
          <p:cNvSpPr/>
          <p:nvPr/>
        </p:nvSpPr>
        <p:spPr>
          <a:xfrm>
            <a:off x="1051560" y="5120640"/>
            <a:ext cx="1024128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PC1 es la dirección en la que los datos "se estiran más". Si imaginamos una nube de puntos en el espacio, PC1 apunta hacia donde la nube es más alargada.</a:t>
            </a:r>
            <a:endParaRPr sz="15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15" name="Shape 115"/>
        <p:cNvGrpSpPr/>
        <p:nvPr/>
      </p:nvGrpSpPr>
      <p:grpSpPr>
        <a:xfrm>
          <a:off x="0" y="0"/>
          <a:ext cx="0" cy="0"/>
          <a:chOff x="0" y="0"/>
          <a:chExt cx="0" cy="0"/>
        </a:xfrm>
      </p:grpSpPr>
      <p:sp>
        <p:nvSpPr>
          <p:cNvPr id="116" name="Google Shape;116;p12"/>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12"/>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SEGUNDA COMPONENTE PRINCIPAL (PC2)</a:t>
            </a:r>
            <a:endParaRPr sz="3600">
              <a:solidFill>
                <a:schemeClr val="dk1"/>
              </a:solidFill>
              <a:latin typeface="Calibri"/>
              <a:ea typeface="Calibri"/>
              <a:cs typeface="Calibri"/>
              <a:sym typeface="Calibri"/>
            </a:endParaRPr>
          </a:p>
        </p:txBody>
      </p:sp>
      <p:sp>
        <p:nvSpPr>
          <p:cNvPr id="118" name="Google Shape;118;p12"/>
          <p:cNvSpPr/>
          <p:nvPr/>
        </p:nvSpPr>
        <p:spPr>
          <a:xfrm>
            <a:off x="914400" y="1554480"/>
            <a:ext cx="100584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PC2 debe cumplir dos condiciones: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1. Maximizar la varianza restante (la que PC1 no capturó).</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2. Ser ortogonal (perpendicular) a PC1.</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La buena noticia: el siguiente autovector (con el segundo autovalor más grande) cumple ambas propiedades automáticamente, gracias a que S es simétrica.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En general, los autovalores se ordenan: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2200"/>
              <a:buFont typeface="Consolas"/>
              <a:buNone/>
            </a:pPr>
            <a:r>
              <a:rPr lang="en-US" sz="2200">
                <a:solidFill>
                  <a:srgbClr val="A6B727"/>
                </a:solidFill>
                <a:latin typeface="Consolas"/>
                <a:ea typeface="Consolas"/>
                <a:cs typeface="Consolas"/>
                <a:sym typeface="Consolas"/>
              </a:rPr>
              <a:t>λ₁ ≥ λ₂ ≥ ... ≥ λₚ ≥ 0</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23" name="Shape 123"/>
        <p:cNvGrpSpPr/>
        <p:nvPr/>
      </p:nvGrpSpPr>
      <p:grpSpPr>
        <a:xfrm>
          <a:off x="0" y="0"/>
          <a:ext cx="0" cy="0"/>
          <a:chOff x="0" y="0"/>
          <a:chExt cx="0" cy="0"/>
        </a:xfrm>
      </p:grpSpPr>
      <p:sp>
        <p:nvSpPr>
          <p:cNvPr id="124" name="Google Shape;124;p13"/>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13"/>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PROYECCIÓN DE LOS DATOS (MATRICIALMENTE)</a:t>
            </a:r>
            <a:endParaRPr sz="3600">
              <a:solidFill>
                <a:schemeClr val="dk1"/>
              </a:solidFill>
              <a:latin typeface="Calibri"/>
              <a:ea typeface="Calibri"/>
              <a:cs typeface="Calibri"/>
              <a:sym typeface="Calibri"/>
            </a:endParaRPr>
          </a:p>
        </p:txBody>
      </p:sp>
      <p:sp>
        <p:nvSpPr>
          <p:cNvPr id="126" name="Google Shape;126;p13"/>
          <p:cNvSpPr/>
          <p:nvPr/>
        </p:nvSpPr>
        <p:spPr>
          <a:xfrm>
            <a:off x="914400" y="1554480"/>
            <a:ext cx="100584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Si seleccionamos los primeros m componentes (m &lt; p), formamos la matriz de autovectores: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2200"/>
              <a:buFont typeface="Consolas"/>
              <a:buNone/>
            </a:pPr>
            <a:r>
              <a:rPr lang="en-US" sz="2200">
                <a:solidFill>
                  <a:srgbClr val="A6B727"/>
                </a:solidFill>
                <a:latin typeface="Consolas"/>
                <a:ea typeface="Consolas"/>
                <a:cs typeface="Consolas"/>
                <a:sym typeface="Consolas"/>
              </a:rPr>
              <a:t>Vₘ = [v₁, v₂, ..., vₘ]</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La proyección de los datos centrados al nuevo espacio reducido 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2800"/>
              <a:buFont typeface="Consolas"/>
              <a:buNone/>
            </a:pPr>
            <a:r>
              <a:rPr lang="en-US" sz="2800">
                <a:solidFill>
                  <a:srgbClr val="A6B727"/>
                </a:solidFill>
                <a:latin typeface="Consolas"/>
                <a:ea typeface="Consolas"/>
                <a:cs typeface="Consolas"/>
                <a:sym typeface="Consolas"/>
              </a:rPr>
              <a:t>Z = X̃ · Vₘ</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Z es la representación reducida de los datos: tiene n filas (observaciones) y m columnas (componentes principales). Preserva la máxima variación posible.</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31" name="Shape 131"/>
        <p:cNvGrpSpPr/>
        <p:nvPr/>
      </p:nvGrpSpPr>
      <p:grpSpPr>
        <a:xfrm>
          <a:off x="0" y="0"/>
          <a:ext cx="0" cy="0"/>
          <a:chOff x="0" y="0"/>
          <a:chExt cx="0" cy="0"/>
        </a:xfrm>
      </p:grpSpPr>
      <p:sp>
        <p:nvSpPr>
          <p:cNvPr id="132" name="Google Shape;132;p14"/>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14"/>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PROYECCIÓN DE LOS DATOS (EN SUMATORIA)</a:t>
            </a:r>
            <a:endParaRPr sz="3600">
              <a:solidFill>
                <a:schemeClr val="dk1"/>
              </a:solidFill>
              <a:latin typeface="Calibri"/>
              <a:ea typeface="Calibri"/>
              <a:cs typeface="Calibri"/>
              <a:sym typeface="Calibri"/>
            </a:endParaRPr>
          </a:p>
        </p:txBody>
      </p:sp>
      <p:sp>
        <p:nvSpPr>
          <p:cNvPr id="134" name="Google Shape;134;p14"/>
          <p:cNvSpPr/>
          <p:nvPr/>
        </p:nvSpPr>
        <p:spPr>
          <a:xfrm>
            <a:off x="914400" y="1554480"/>
            <a:ext cx="10058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Para la observación i, su valor en el componente ℓ se calcula como: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2400"/>
              <a:buFont typeface="Consolas"/>
              <a:buNone/>
            </a:pPr>
            <a:r>
              <a:rPr lang="en-US" sz="2400">
                <a:solidFill>
                  <a:srgbClr val="A6B727"/>
                </a:solidFill>
                <a:latin typeface="Consolas"/>
                <a:ea typeface="Consolas"/>
                <a:cs typeface="Consolas"/>
                <a:sym typeface="Consolas"/>
              </a:rPr>
              <a:t>ẑᵢℓ = Σⱼ₌₁ᵖ  x̃ᵢⱼ · vⱼℓ</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Es decir: cada componente principal es una </a:t>
            </a:r>
            <a:r>
              <a:rPr b="1" lang="en-US" sz="1700">
                <a:solidFill>
                  <a:srgbClr val="595652"/>
                </a:solidFill>
                <a:latin typeface="Calibri"/>
                <a:ea typeface="Calibri"/>
                <a:cs typeface="Calibri"/>
                <a:sym typeface="Calibri"/>
              </a:rPr>
              <a:t>combinación lineal ponderada</a:t>
            </a:r>
            <a:r>
              <a:rPr lang="en-US" sz="1700">
                <a:solidFill>
                  <a:srgbClr val="595652"/>
                </a:solidFill>
                <a:latin typeface="Calibri"/>
                <a:ea typeface="Calibri"/>
                <a:cs typeface="Calibri"/>
                <a:sym typeface="Calibri"/>
              </a:rPr>
              <a:t> de las variables originales centradas.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Los coeficientes vⱼℓ se llaman </a:t>
            </a:r>
            <a:r>
              <a:rPr b="1" i="1" lang="en-US" sz="1700">
                <a:solidFill>
                  <a:srgbClr val="595652"/>
                </a:solidFill>
                <a:latin typeface="Calibri"/>
                <a:ea typeface="Calibri"/>
                <a:cs typeface="Calibri"/>
                <a:sym typeface="Calibri"/>
              </a:rPr>
              <a:t>loadings</a:t>
            </a:r>
            <a:r>
              <a:rPr lang="en-US" sz="1700">
                <a:solidFill>
                  <a:srgbClr val="595652"/>
                </a:solidFill>
                <a:latin typeface="Calibri"/>
                <a:ea typeface="Calibri"/>
                <a:cs typeface="Calibri"/>
                <a:sym typeface="Calibri"/>
              </a:rPr>
              <a:t> (pesos) del componente principal. Indican cuánto contribuye cada variable original al componente.</a:t>
            </a:r>
            <a:endParaRPr sz="1700">
              <a:solidFill>
                <a:srgbClr val="595652"/>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t/>
            </a:r>
            <a:endParaRPr sz="1700">
              <a:solidFill>
                <a:srgbClr val="595652"/>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Los valores transformados ẑᵢℓ se llaman </a:t>
            </a:r>
            <a:r>
              <a:rPr b="1" i="1" lang="en-US" sz="1700">
                <a:solidFill>
                  <a:srgbClr val="595652"/>
                </a:solidFill>
                <a:latin typeface="Calibri"/>
                <a:ea typeface="Calibri"/>
                <a:cs typeface="Calibri"/>
                <a:sym typeface="Calibri"/>
              </a:rPr>
              <a:t>scores</a:t>
            </a:r>
            <a:r>
              <a:rPr lang="en-US" sz="1700">
                <a:solidFill>
                  <a:srgbClr val="595652"/>
                </a:solidFill>
                <a:latin typeface="Calibri"/>
                <a:ea typeface="Calibri"/>
                <a:cs typeface="Calibri"/>
                <a:sym typeface="Calibri"/>
              </a:rPr>
              <a:t> (puntajes)</a:t>
            </a:r>
            <a:endParaRPr sz="1700">
              <a:solidFill>
                <a:srgbClr val="595652"/>
              </a:solidFill>
              <a:latin typeface="Calibri"/>
              <a:ea typeface="Calibri"/>
              <a:cs typeface="Calibri"/>
              <a:sym typeface="Calibri"/>
            </a:endParaRPr>
          </a:p>
        </p:txBody>
      </p:sp>
      <p:sp>
        <p:nvSpPr>
          <p:cNvPr id="135" name="Google Shape;135;p14"/>
          <p:cNvSpPr/>
          <p:nvPr/>
        </p:nvSpPr>
        <p:spPr>
          <a:xfrm>
            <a:off x="914400" y="5303520"/>
            <a:ext cx="10515600" cy="1188720"/>
          </a:xfrm>
          <a:prstGeom prst="roundRect">
            <a:avLst>
              <a:gd fmla="val 7692"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14"/>
          <p:cNvSpPr/>
          <p:nvPr/>
        </p:nvSpPr>
        <p:spPr>
          <a:xfrm>
            <a:off x="1051560" y="5394960"/>
            <a:ext cx="1024128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Los loadings con mayor valor absoluto indican las variables más importantes para ese componente. El signo indica la dirección de la relación (positiva o negativa).</a:t>
            </a:r>
            <a:endParaRPr sz="14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41" name="Shape 141"/>
        <p:cNvGrpSpPr/>
        <p:nvPr/>
      </p:nvGrpSpPr>
      <p:grpSpPr>
        <a:xfrm>
          <a:off x="0" y="0"/>
          <a:ext cx="0" cy="0"/>
          <a:chOff x="0" y="0"/>
          <a:chExt cx="0" cy="0"/>
        </a:xfrm>
      </p:grpSpPr>
      <p:sp>
        <p:nvSpPr>
          <p:cNvPr id="142" name="Google Shape;142;p15"/>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15"/>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PROPORCIÓN DE LA VARIANZA EXPLICADA</a:t>
            </a:r>
            <a:endParaRPr sz="3600">
              <a:solidFill>
                <a:schemeClr val="dk1"/>
              </a:solidFill>
              <a:latin typeface="Calibri"/>
              <a:ea typeface="Calibri"/>
              <a:cs typeface="Calibri"/>
              <a:sym typeface="Calibri"/>
            </a:endParaRPr>
          </a:p>
        </p:txBody>
      </p:sp>
      <p:sp>
        <p:nvSpPr>
          <p:cNvPr id="144" name="Google Shape;144;p15"/>
          <p:cNvSpPr/>
          <p:nvPr/>
        </p:nvSpPr>
        <p:spPr>
          <a:xfrm>
            <a:off x="914400" y="1554480"/>
            <a:ext cx="100584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Los autovalores indican cuánta varianza captura cada componente: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2200"/>
              <a:buFont typeface="Consolas"/>
              <a:buNone/>
            </a:pPr>
            <a:r>
              <a:rPr lang="en-US" sz="2200">
                <a:solidFill>
                  <a:srgbClr val="A6B727"/>
                </a:solidFill>
                <a:latin typeface="Consolas"/>
                <a:ea typeface="Consolas"/>
                <a:cs typeface="Consolas"/>
                <a:sym typeface="Consolas"/>
              </a:rPr>
              <a:t>Varianza explicada por PCₖ = λₖ / Σᵢ₌₁ᵖ λᵢ</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Este criterio ayuda a decidir cuántos componentes conservar. Reglas comunes: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700"/>
              <a:buFont typeface="Calibri"/>
              <a:buChar char="•"/>
            </a:pPr>
            <a:r>
              <a:rPr lang="en-US" sz="1700">
                <a:solidFill>
                  <a:srgbClr val="595652"/>
                </a:solidFill>
                <a:latin typeface="Calibri"/>
                <a:ea typeface="Calibri"/>
                <a:cs typeface="Calibri"/>
                <a:sym typeface="Calibri"/>
              </a:rPr>
              <a:t>Regla del 80%: conservar los componentes que acumulen al menos el 80% de la varianza total.</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700"/>
              <a:buFont typeface="Calibri"/>
              <a:buChar char="•"/>
            </a:pPr>
            <a:r>
              <a:rPr lang="en-US" sz="1700">
                <a:solidFill>
                  <a:srgbClr val="595652"/>
                </a:solidFill>
                <a:latin typeface="Calibri"/>
                <a:ea typeface="Calibri"/>
                <a:cs typeface="Calibri"/>
                <a:sym typeface="Calibri"/>
              </a:rPr>
              <a:t>Regla de Kaiser: conservar componentes con autovalor &gt; 1 (si se trabaja con datos estandarizados).</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700"/>
              <a:buFont typeface="Calibri"/>
              <a:buChar char="•"/>
            </a:pPr>
            <a:r>
              <a:rPr lang="en-US" sz="1700">
                <a:solidFill>
                  <a:srgbClr val="595652"/>
                </a:solidFill>
                <a:latin typeface="Calibri"/>
                <a:ea typeface="Calibri"/>
                <a:cs typeface="Calibri"/>
                <a:sym typeface="Calibri"/>
              </a:rPr>
              <a:t>Scree plot: graficar los autovalores y buscar el "codo" donde dejan de decrecer rápidamente.</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49" name="Shape 149"/>
        <p:cNvGrpSpPr/>
        <p:nvPr/>
      </p:nvGrpSpPr>
      <p:grpSpPr>
        <a:xfrm>
          <a:off x="0" y="0"/>
          <a:ext cx="0" cy="0"/>
          <a:chOff x="0" y="0"/>
          <a:chExt cx="0" cy="0"/>
        </a:xfrm>
      </p:grpSpPr>
      <p:sp>
        <p:nvSpPr>
          <p:cNvPr id="150" name="Google Shape;150;p16"/>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16"/>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 NUMÉRICO: DATOS Y CENTRADO</a:t>
            </a:r>
            <a:endParaRPr sz="3600">
              <a:solidFill>
                <a:schemeClr val="dk1"/>
              </a:solidFill>
              <a:latin typeface="Calibri"/>
              <a:ea typeface="Calibri"/>
              <a:cs typeface="Calibri"/>
              <a:sym typeface="Calibri"/>
            </a:endParaRPr>
          </a:p>
        </p:txBody>
      </p:sp>
      <p:sp>
        <p:nvSpPr>
          <p:cNvPr id="152" name="Google Shape;152;p16"/>
          <p:cNvSpPr/>
          <p:nvPr/>
        </p:nvSpPr>
        <p:spPr>
          <a:xfrm>
            <a:off x="914400" y="1554480"/>
            <a:ext cx="100584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Datos originales (3 observaciones, 2 variables):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X = | 2  0 |      Medias: x̄₁ = 1.67,  x̄₂ = 1.67</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    | 0  2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    | 3  3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Datos centrados (restando la media):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X̃ = |  0.33  -1.67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    | -1.67   0.33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    |  1.33   1.33 |</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57" name="Shape 157"/>
        <p:cNvGrpSpPr/>
        <p:nvPr/>
      </p:nvGrpSpPr>
      <p:grpSpPr>
        <a:xfrm>
          <a:off x="0" y="0"/>
          <a:ext cx="0" cy="0"/>
          <a:chOff x="0" y="0"/>
          <a:chExt cx="0" cy="0"/>
        </a:xfrm>
      </p:grpSpPr>
      <p:sp>
        <p:nvSpPr>
          <p:cNvPr id="158" name="Google Shape;158;p17"/>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17"/>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 NUMÉRICO: COVARIANZA Y AUTOVALORES</a:t>
            </a:r>
            <a:endParaRPr sz="3600">
              <a:solidFill>
                <a:schemeClr val="dk1"/>
              </a:solidFill>
              <a:latin typeface="Calibri"/>
              <a:ea typeface="Calibri"/>
              <a:cs typeface="Calibri"/>
              <a:sym typeface="Calibri"/>
            </a:endParaRPr>
          </a:p>
        </p:txBody>
      </p:sp>
      <p:sp>
        <p:nvSpPr>
          <p:cNvPr id="160" name="Google Shape;160;p17"/>
          <p:cNvSpPr/>
          <p:nvPr/>
        </p:nvSpPr>
        <p:spPr>
          <a:xfrm>
            <a:off x="914400" y="1600200"/>
            <a:ext cx="100584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Matriz de covarianza: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S = (1/2) X̃ᵀX̃ =	| 2.333  0.333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                	| 0.333  2.333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Autovalores </a:t>
            </a:r>
            <a:r>
              <a:rPr lang="en-US" sz="1700">
                <a:solidFill>
                  <a:srgbClr val="595652"/>
                </a:solidFill>
                <a:latin typeface="Calibri"/>
                <a:ea typeface="Calibri"/>
                <a:cs typeface="Calibri"/>
                <a:sym typeface="Calibri"/>
              </a:rPr>
              <a:t>(resolviendo det(S - λI) = 0):</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λ₁ = 2.666  (mayor varianza → PC1)</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λ₂ = 2.000  (menor varianza → PC2)</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Autovectores: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500"/>
              <a:buFont typeface="Consolas"/>
              <a:buNone/>
            </a:pPr>
            <a:r>
              <a:rPr lang="en-US" sz="1500">
                <a:solidFill>
                  <a:srgbClr val="A6B727"/>
                </a:solidFill>
                <a:latin typeface="Consolas"/>
                <a:ea typeface="Consolas"/>
                <a:cs typeface="Consolas"/>
                <a:sym typeface="Consolas"/>
              </a:rPr>
              <a:t>v₁ = (1/√2)(1, 1)   → PC1</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500"/>
              <a:buFont typeface="Consolas"/>
              <a:buNone/>
            </a:pPr>
            <a:r>
              <a:rPr lang="en-US" sz="1500">
                <a:solidFill>
                  <a:srgbClr val="A6B727"/>
                </a:solidFill>
                <a:latin typeface="Consolas"/>
                <a:ea typeface="Consolas"/>
                <a:cs typeface="Consolas"/>
                <a:sym typeface="Consolas"/>
              </a:rPr>
              <a:t>v₂ = (1/√2)(1, -1)  → PC2</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v₁: ambas variables pesan igual y en la misma dirección (suman).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v₂: contraste entre las dos variables (una resta a la otra).</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65" name="Shape 165"/>
        <p:cNvGrpSpPr/>
        <p:nvPr/>
      </p:nvGrpSpPr>
      <p:grpSpPr>
        <a:xfrm>
          <a:off x="0" y="0"/>
          <a:ext cx="0" cy="0"/>
          <a:chOff x="0" y="0"/>
          <a:chExt cx="0" cy="0"/>
        </a:xfrm>
      </p:grpSpPr>
      <p:sp>
        <p:nvSpPr>
          <p:cNvPr id="166" name="Google Shape;166;p18"/>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18"/>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 NUMÉRICO: TRANSFORMACIÓN</a:t>
            </a:r>
            <a:endParaRPr sz="3600">
              <a:solidFill>
                <a:schemeClr val="dk1"/>
              </a:solidFill>
              <a:latin typeface="Calibri"/>
              <a:ea typeface="Calibri"/>
              <a:cs typeface="Calibri"/>
              <a:sym typeface="Calibri"/>
            </a:endParaRPr>
          </a:p>
        </p:txBody>
      </p:sp>
      <p:sp>
        <p:nvSpPr>
          <p:cNvPr id="168" name="Google Shape;168;p18"/>
          <p:cNvSpPr/>
          <p:nvPr/>
        </p:nvSpPr>
        <p:spPr>
          <a:xfrm>
            <a:off x="914400" y="1554480"/>
            <a:ext cx="59436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Matriz de autovectores y transformación: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V = | 1/√2   1/√2 |       Z = X̃ · V</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    | 1/√2  -1/√2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Datos transformados (en componentes principales):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Z = | -0.95   1.41 |   ← Obs. 1</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    | -0.95  -1.41 |   ← Obs. 2</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    |  1.90   0.00 |   ← Obs. 3</a:t>
            </a:r>
            <a:endParaRPr sz="1800">
              <a:solidFill>
                <a:schemeClr val="dk1"/>
              </a:solidFill>
              <a:latin typeface="Calibri"/>
              <a:ea typeface="Calibri"/>
              <a:cs typeface="Calibri"/>
              <a:sym typeface="Calibri"/>
            </a:endParaRPr>
          </a:p>
        </p:txBody>
      </p:sp>
      <p:pic>
        <p:nvPicPr>
          <p:cNvPr descr="/sessions/clever-sweet-sagan/clase3_images/slide21_img00.png" id="169" name="Google Shape;169;p18"/>
          <p:cNvPicPr preferRelativeResize="0"/>
          <p:nvPr/>
        </p:nvPicPr>
        <p:blipFill rotWithShape="1">
          <a:blip r:embed="rId3">
            <a:alphaModFix/>
          </a:blip>
          <a:srcRect b="0" l="0" r="0" t="0"/>
          <a:stretch/>
        </p:blipFill>
        <p:spPr>
          <a:xfrm>
            <a:off x="7132320" y="1828800"/>
            <a:ext cx="4114800" cy="3840480"/>
          </a:xfrm>
          <a:prstGeom prst="rect">
            <a:avLst/>
          </a:prstGeom>
          <a:noFill/>
          <a:ln>
            <a:noFill/>
          </a:ln>
        </p:spPr>
      </p:pic>
      <p:sp>
        <p:nvSpPr>
          <p:cNvPr id="170" name="Google Shape;170;p18"/>
          <p:cNvSpPr/>
          <p:nvPr/>
        </p:nvSpPr>
        <p:spPr>
          <a:xfrm>
            <a:off x="777240" y="5189220"/>
            <a:ext cx="5943600" cy="1097280"/>
          </a:xfrm>
          <a:prstGeom prst="roundRect">
            <a:avLst>
              <a:gd fmla="val 8333"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18"/>
          <p:cNvSpPr/>
          <p:nvPr/>
        </p:nvSpPr>
        <p:spPr>
          <a:xfrm>
            <a:off x="1051560" y="5577840"/>
            <a:ext cx="566928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El gráfico muestra los datos centrados (azul) y los ejes de los componentes principales (flechas). PC1 apunta en la dirección de máxima variabilidad.</a:t>
            </a:r>
            <a:endParaRPr sz="13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76" name="Shape 176"/>
        <p:cNvGrpSpPr/>
        <p:nvPr/>
      </p:nvGrpSpPr>
      <p:grpSpPr>
        <a:xfrm>
          <a:off x="0" y="0"/>
          <a:ext cx="0" cy="0"/>
          <a:chOff x="0" y="0"/>
          <a:chExt cx="0" cy="0"/>
        </a:xfrm>
      </p:grpSpPr>
      <p:sp>
        <p:nvSpPr>
          <p:cNvPr id="177" name="Google Shape;177;p19"/>
          <p:cNvSpPr/>
          <p:nvPr/>
        </p:nvSpPr>
        <p:spPr>
          <a:xfrm>
            <a:off x="228600" y="242888"/>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19"/>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EJEMPLOS EN R</a:t>
            </a:r>
            <a:endParaRPr/>
          </a:p>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DATASET MTCARS: DESCRIPCIÓN DE VARIABLES</a:t>
            </a:r>
            <a:endParaRPr sz="3600">
              <a:solidFill>
                <a:schemeClr val="dk1"/>
              </a:solidFill>
              <a:latin typeface="Calibri"/>
              <a:ea typeface="Calibri"/>
              <a:cs typeface="Calibri"/>
              <a:sym typeface="Calibri"/>
            </a:endParaRPr>
          </a:p>
        </p:txBody>
      </p:sp>
      <p:sp>
        <p:nvSpPr>
          <p:cNvPr id="179" name="Google Shape;179;p19"/>
          <p:cNvSpPr/>
          <p:nvPr/>
        </p:nvSpPr>
        <p:spPr>
          <a:xfrm>
            <a:off x="914400" y="1554480"/>
            <a:ext cx="64008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mtcars es un dataset incluido en R con datos de 32 automóviles (Motor Trend, 1974). Contiene 11 variables: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500"/>
              <a:buFont typeface="Calibri"/>
              <a:buChar char="•"/>
            </a:pPr>
            <a:r>
              <a:rPr lang="en-US" sz="1500">
                <a:solidFill>
                  <a:srgbClr val="595652"/>
                </a:solidFill>
                <a:latin typeface="Calibri"/>
                <a:ea typeface="Calibri"/>
                <a:cs typeface="Calibri"/>
                <a:sym typeface="Calibri"/>
              </a:rPr>
              <a:t>mpg: millas por galón (eficiencia)</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500"/>
              <a:buFont typeface="Calibri"/>
              <a:buChar char="•"/>
            </a:pPr>
            <a:r>
              <a:rPr lang="en-US" sz="1500">
                <a:solidFill>
                  <a:srgbClr val="595652"/>
                </a:solidFill>
                <a:latin typeface="Calibri"/>
                <a:ea typeface="Calibri"/>
                <a:cs typeface="Calibri"/>
                <a:sym typeface="Calibri"/>
              </a:rPr>
              <a:t>cyl: número de cilindros</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500"/>
              <a:buFont typeface="Calibri"/>
              <a:buChar char="•"/>
            </a:pPr>
            <a:r>
              <a:rPr lang="en-US" sz="1500">
                <a:solidFill>
                  <a:srgbClr val="595652"/>
                </a:solidFill>
                <a:latin typeface="Calibri"/>
                <a:ea typeface="Calibri"/>
                <a:cs typeface="Calibri"/>
                <a:sym typeface="Calibri"/>
              </a:rPr>
              <a:t>disp: cilindrada del motor (pulgadas cúbicas)</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500"/>
              <a:buFont typeface="Calibri"/>
              <a:buChar char="•"/>
            </a:pPr>
            <a:r>
              <a:rPr lang="en-US" sz="1500">
                <a:solidFill>
                  <a:srgbClr val="595652"/>
                </a:solidFill>
                <a:latin typeface="Calibri"/>
                <a:ea typeface="Calibri"/>
                <a:cs typeface="Calibri"/>
                <a:sym typeface="Calibri"/>
              </a:rPr>
              <a:t>hp: caballos de fuerza (potencia)</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500"/>
              <a:buFont typeface="Calibri"/>
              <a:buChar char="•"/>
            </a:pPr>
            <a:r>
              <a:rPr lang="en-US" sz="1500">
                <a:solidFill>
                  <a:srgbClr val="595652"/>
                </a:solidFill>
                <a:latin typeface="Calibri"/>
                <a:ea typeface="Calibri"/>
                <a:cs typeface="Calibri"/>
                <a:sym typeface="Calibri"/>
              </a:rPr>
              <a:t>drat: relación del eje trasero</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500"/>
              <a:buFont typeface="Calibri"/>
              <a:buChar char="•"/>
            </a:pPr>
            <a:r>
              <a:rPr lang="en-US" sz="1500">
                <a:solidFill>
                  <a:srgbClr val="595652"/>
                </a:solidFill>
                <a:latin typeface="Calibri"/>
                <a:ea typeface="Calibri"/>
                <a:cs typeface="Calibri"/>
                <a:sym typeface="Calibri"/>
              </a:rPr>
              <a:t>wt: peso del vehículo (miles de libras)</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500"/>
              <a:buFont typeface="Calibri"/>
              <a:buChar char="•"/>
            </a:pPr>
            <a:r>
              <a:rPr lang="en-US" sz="1500">
                <a:solidFill>
                  <a:srgbClr val="595652"/>
                </a:solidFill>
                <a:latin typeface="Calibri"/>
                <a:ea typeface="Calibri"/>
                <a:cs typeface="Calibri"/>
                <a:sym typeface="Calibri"/>
              </a:rPr>
              <a:t>qsec: tiempo en recorrer 1/4 de milla (segundos)</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500"/>
              <a:buFont typeface="Calibri"/>
              <a:buChar char="•"/>
            </a:pPr>
            <a:r>
              <a:rPr lang="en-US" sz="1500">
                <a:solidFill>
                  <a:srgbClr val="595652"/>
                </a:solidFill>
                <a:latin typeface="Calibri"/>
                <a:ea typeface="Calibri"/>
                <a:cs typeface="Calibri"/>
                <a:sym typeface="Calibri"/>
              </a:rPr>
              <a:t>vs: tipo de motor (0 = V, 1 = línea)</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500"/>
              <a:buFont typeface="Calibri"/>
              <a:buChar char="•"/>
            </a:pPr>
            <a:r>
              <a:rPr lang="en-US" sz="1500">
                <a:solidFill>
                  <a:srgbClr val="595652"/>
                </a:solidFill>
                <a:latin typeface="Calibri"/>
                <a:ea typeface="Calibri"/>
                <a:cs typeface="Calibri"/>
                <a:sym typeface="Calibri"/>
              </a:rPr>
              <a:t>am: transmisión (0 = automática, 1 = manual)</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500"/>
              <a:buFont typeface="Calibri"/>
              <a:buChar char="•"/>
            </a:pPr>
            <a:r>
              <a:rPr lang="en-US" sz="1500">
                <a:solidFill>
                  <a:srgbClr val="595652"/>
                </a:solidFill>
                <a:latin typeface="Calibri"/>
                <a:ea typeface="Calibri"/>
                <a:cs typeface="Calibri"/>
                <a:sym typeface="Calibri"/>
              </a:rPr>
              <a:t>gear: número de marchas (3, 4 o 5)</a:t>
            </a:r>
            <a:endParaRPr sz="1800">
              <a:solidFill>
                <a:schemeClr val="dk1"/>
              </a:solidFill>
              <a:latin typeface="Calibri"/>
              <a:ea typeface="Calibri"/>
              <a:cs typeface="Calibri"/>
              <a:sym typeface="Calibri"/>
            </a:endParaRPr>
          </a:p>
          <a:p>
            <a:pPr indent="-342900" lvl="0" marL="342900" marR="0" rtl="0" algn="l">
              <a:lnSpc>
                <a:spcPct val="120000"/>
              </a:lnSpc>
              <a:spcBef>
                <a:spcPts val="0"/>
              </a:spcBef>
              <a:spcAft>
                <a:spcPts val="0"/>
              </a:spcAft>
              <a:buClr>
                <a:srgbClr val="595652"/>
              </a:buClr>
              <a:buSzPts val="1500"/>
              <a:buFont typeface="Calibri"/>
              <a:buChar char="•"/>
            </a:pPr>
            <a:r>
              <a:rPr lang="en-US" sz="1500">
                <a:solidFill>
                  <a:srgbClr val="595652"/>
                </a:solidFill>
                <a:latin typeface="Calibri"/>
                <a:ea typeface="Calibri"/>
                <a:cs typeface="Calibri"/>
                <a:sym typeface="Calibri"/>
              </a:rPr>
              <a:t>carb: número de carburadores</a:t>
            </a:r>
            <a:endParaRPr sz="1800">
              <a:solidFill>
                <a:schemeClr val="dk1"/>
              </a:solidFill>
              <a:latin typeface="Calibri"/>
              <a:ea typeface="Calibri"/>
              <a:cs typeface="Calibri"/>
              <a:sym typeface="Calibri"/>
            </a:endParaRPr>
          </a:p>
        </p:txBody>
      </p:sp>
      <p:sp>
        <p:nvSpPr>
          <p:cNvPr id="180" name="Google Shape;180;p19"/>
          <p:cNvSpPr/>
          <p:nvPr/>
        </p:nvSpPr>
        <p:spPr>
          <a:xfrm>
            <a:off x="7772400" y="1645920"/>
            <a:ext cx="3931920" cy="3200400"/>
          </a:xfrm>
          <a:prstGeom prst="roundRect">
            <a:avLst>
              <a:gd fmla="val 2857"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19"/>
          <p:cNvSpPr/>
          <p:nvPr/>
        </p:nvSpPr>
        <p:spPr>
          <a:xfrm>
            <a:off x="7909560" y="1737360"/>
            <a:ext cx="3657600" cy="3017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¿Por qué mtcars para PCA?</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Tiene 11 variables numéricas, muchas de las cuales están correlacionadas (ej: cilindros, peso y potencia). Es un caso ideal para reducir dimensiones con PCA.</a:t>
            </a:r>
            <a:endParaRPr sz="16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86" name="Shape 186"/>
        <p:cNvGrpSpPr/>
        <p:nvPr/>
      </p:nvGrpSpPr>
      <p:grpSpPr>
        <a:xfrm>
          <a:off x="0" y="0"/>
          <a:ext cx="0" cy="0"/>
          <a:chOff x="0" y="0"/>
          <a:chExt cx="0" cy="0"/>
        </a:xfrm>
      </p:grpSpPr>
      <p:sp>
        <p:nvSpPr>
          <p:cNvPr id="187" name="Google Shape;187;p20"/>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20"/>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PCA EN R: CÓDIGO</a:t>
            </a:r>
            <a:endParaRPr sz="3600">
              <a:solidFill>
                <a:schemeClr val="dk1"/>
              </a:solidFill>
              <a:latin typeface="Calibri"/>
              <a:ea typeface="Calibri"/>
              <a:cs typeface="Calibri"/>
              <a:sym typeface="Calibri"/>
            </a:endParaRPr>
          </a:p>
        </p:txBody>
      </p:sp>
      <p:sp>
        <p:nvSpPr>
          <p:cNvPr id="189" name="Google Shape;189;p20"/>
          <p:cNvSpPr/>
          <p:nvPr/>
        </p:nvSpPr>
        <p:spPr>
          <a:xfrm>
            <a:off x="914400" y="1554480"/>
            <a:ext cx="6400800" cy="475488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data(mtcars)</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head(mtcars)</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str(mtcars)</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datos &lt;- mtcars</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scale. = TRUE estandariza automáticamente</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(resta media y divide por desviación estándar)</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pca &lt;- prcomp(datos, scale. = TRUE)</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Resumen de varianza explicada</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summary(pca)</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Scree plot (gráfico de autovalores)</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screeplot(pca, type = "lines")</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Loadings (pesos de cada variable en cada componente)</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pca$rotation</a:t>
            </a:r>
            <a:endParaRPr sz="1300">
              <a:solidFill>
                <a:schemeClr val="dk1"/>
              </a:solidFill>
              <a:latin typeface="Calibri"/>
              <a:ea typeface="Calibri"/>
              <a:cs typeface="Calibri"/>
              <a:sym typeface="Calibri"/>
            </a:endParaRPr>
          </a:p>
        </p:txBody>
      </p:sp>
      <p:sp>
        <p:nvSpPr>
          <p:cNvPr id="190" name="Google Shape;190;p20"/>
          <p:cNvSpPr/>
          <p:nvPr/>
        </p:nvSpPr>
        <p:spPr>
          <a:xfrm>
            <a:off x="7772400" y="1371600"/>
            <a:ext cx="3931920" cy="5029200"/>
          </a:xfrm>
          <a:prstGeom prst="roundRect">
            <a:avLst>
              <a:gd fmla="val 2326"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20"/>
          <p:cNvSpPr/>
          <p:nvPr/>
        </p:nvSpPr>
        <p:spPr>
          <a:xfrm>
            <a:off x="7909560" y="1463040"/>
            <a:ext cx="3657600" cy="484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Explicación del código</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prcomp(): función principal de PCA en R.</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scale. = TRUE: estandariza las variables antes de PCA. Fundamental cuando tienen distintas unidades.</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summary(): proporción de varianza explicada.</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screeplot(): ayuda a decidir cuántos componentes conservar.</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pca$rotation: muestra los loadings.</a:t>
            </a:r>
            <a:endParaRPr sz="13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96" name="Shape 196"/>
        <p:cNvGrpSpPr/>
        <p:nvPr/>
      </p:nvGrpSpPr>
      <p:grpSpPr>
        <a:xfrm>
          <a:off x="0" y="0"/>
          <a:ext cx="0" cy="0"/>
          <a:chOff x="0" y="0"/>
          <a:chExt cx="0" cy="0"/>
        </a:xfrm>
      </p:grpSpPr>
      <p:sp>
        <p:nvSpPr>
          <p:cNvPr id="197" name="Google Shape;197;p21"/>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21"/>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PCA EN R: RESULTADOS</a:t>
            </a:r>
            <a:endParaRPr sz="3600">
              <a:solidFill>
                <a:schemeClr val="dk1"/>
              </a:solidFill>
              <a:latin typeface="Calibri"/>
              <a:ea typeface="Calibri"/>
              <a:cs typeface="Calibri"/>
              <a:sym typeface="Calibri"/>
            </a:endParaRPr>
          </a:p>
        </p:txBody>
      </p:sp>
      <p:pic>
        <p:nvPicPr>
          <p:cNvPr descr="/sessions/clever-sweet-sagan/clase3_images/slide23_img00.png" id="199" name="Google Shape;199;p21"/>
          <p:cNvPicPr preferRelativeResize="0"/>
          <p:nvPr/>
        </p:nvPicPr>
        <p:blipFill rotWithShape="1">
          <a:blip r:embed="rId3">
            <a:alphaModFix/>
          </a:blip>
          <a:srcRect b="0" l="0" r="0" t="0"/>
          <a:stretch/>
        </p:blipFill>
        <p:spPr>
          <a:xfrm>
            <a:off x="914400" y="1645920"/>
            <a:ext cx="6400800" cy="1188720"/>
          </a:xfrm>
          <a:prstGeom prst="rect">
            <a:avLst/>
          </a:prstGeom>
          <a:noFill/>
          <a:ln>
            <a:noFill/>
          </a:ln>
        </p:spPr>
      </p:pic>
      <p:pic>
        <p:nvPicPr>
          <p:cNvPr descr="/sessions/clever-sweet-sagan/clase3_images/slide23_img01.png" id="200" name="Google Shape;200;p21"/>
          <p:cNvPicPr preferRelativeResize="0"/>
          <p:nvPr/>
        </p:nvPicPr>
        <p:blipFill rotWithShape="1">
          <a:blip r:embed="rId4">
            <a:alphaModFix/>
          </a:blip>
          <a:srcRect b="0" l="0" r="0" t="0"/>
          <a:stretch/>
        </p:blipFill>
        <p:spPr>
          <a:xfrm>
            <a:off x="914400" y="3017520"/>
            <a:ext cx="4389120" cy="2926080"/>
          </a:xfrm>
          <a:prstGeom prst="rect">
            <a:avLst/>
          </a:prstGeom>
          <a:noFill/>
          <a:ln>
            <a:noFill/>
          </a:ln>
        </p:spPr>
      </p:pic>
      <p:sp>
        <p:nvSpPr>
          <p:cNvPr id="201" name="Google Shape;201;p21"/>
          <p:cNvSpPr/>
          <p:nvPr/>
        </p:nvSpPr>
        <p:spPr>
          <a:xfrm>
            <a:off x="5943600" y="2743200"/>
            <a:ext cx="5760720" cy="3657600"/>
          </a:xfrm>
          <a:prstGeom prst="roundRect">
            <a:avLst>
              <a:gd fmla="val 2500"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21"/>
          <p:cNvSpPr/>
          <p:nvPr/>
        </p:nvSpPr>
        <p:spPr>
          <a:xfrm>
            <a:off x="6080760" y="2834640"/>
            <a:ext cx="5486400" cy="3474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¿Cómo leer el summary?</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Standard deviation: raíz cuadrada del autovalor.</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Proportion of Variance: varianza explicada por cada PC.</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Cumulative Proportion: varianza acumulada.</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El scree plot muestra gráficamente los autovalores. Se busca el "codo" donde la curva se aplana.</a:t>
            </a:r>
            <a:endParaRPr sz="13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300"/>
              <a:buFont typeface="Calibri"/>
              <a:buNone/>
            </a:pPr>
            <a:r>
              <a:rPr lang="en-US" sz="1300">
                <a:solidFill>
                  <a:srgbClr val="595652"/>
                </a:solidFill>
                <a:latin typeface="Calibri"/>
                <a:ea typeface="Calibri"/>
                <a:cs typeface="Calibri"/>
                <a:sym typeface="Calibri"/>
              </a:rPr>
              <a:t>En mtcars, PC1 y PC2 juntos suelen explicar ~80% de la varianza total.</a:t>
            </a:r>
            <a:endParaRPr sz="13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07" name="Shape 207"/>
        <p:cNvGrpSpPr/>
        <p:nvPr/>
      </p:nvGrpSpPr>
      <p:grpSpPr>
        <a:xfrm>
          <a:off x="0" y="0"/>
          <a:ext cx="0" cy="0"/>
          <a:chOff x="0" y="0"/>
          <a:chExt cx="0" cy="0"/>
        </a:xfrm>
      </p:grpSpPr>
      <p:sp>
        <p:nvSpPr>
          <p:cNvPr id="208" name="Google Shape;208;p22"/>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22"/>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PCA EN R: LOADINGS (PESOS)</a:t>
            </a:r>
            <a:endParaRPr sz="3600">
              <a:solidFill>
                <a:schemeClr val="dk1"/>
              </a:solidFill>
              <a:latin typeface="Calibri"/>
              <a:ea typeface="Calibri"/>
              <a:cs typeface="Calibri"/>
              <a:sym typeface="Calibri"/>
            </a:endParaRPr>
          </a:p>
        </p:txBody>
      </p:sp>
      <p:pic>
        <p:nvPicPr>
          <p:cNvPr descr="/sessions/clever-sweet-sagan/clase3_images/slide24_img00.png" id="210" name="Google Shape;210;p22"/>
          <p:cNvPicPr preferRelativeResize="0"/>
          <p:nvPr/>
        </p:nvPicPr>
        <p:blipFill rotWithShape="1">
          <a:blip r:embed="rId3">
            <a:alphaModFix/>
          </a:blip>
          <a:srcRect b="0" l="0" r="0" t="0"/>
          <a:stretch/>
        </p:blipFill>
        <p:spPr>
          <a:xfrm>
            <a:off x="914400" y="1554480"/>
            <a:ext cx="6400800" cy="3657600"/>
          </a:xfrm>
          <a:prstGeom prst="rect">
            <a:avLst/>
          </a:prstGeom>
          <a:noFill/>
          <a:ln>
            <a:noFill/>
          </a:ln>
        </p:spPr>
      </p:pic>
      <p:sp>
        <p:nvSpPr>
          <p:cNvPr id="211" name="Google Shape;211;p22"/>
          <p:cNvSpPr/>
          <p:nvPr/>
        </p:nvSpPr>
        <p:spPr>
          <a:xfrm>
            <a:off x="7772400" y="1554480"/>
            <a:ext cx="3931920" cy="3657600"/>
          </a:xfrm>
          <a:prstGeom prst="roundRect">
            <a:avLst>
              <a:gd fmla="val 2500"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22"/>
          <p:cNvSpPr/>
          <p:nvPr/>
        </p:nvSpPr>
        <p:spPr>
          <a:xfrm>
            <a:off x="7909560" y="1645920"/>
            <a:ext cx="3657600" cy="3474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Regla para interpretar loadings</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Importa el valor absoluto del coeficiente:</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|loading| ≥ 0.30 → variable relevante</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|loading| ≥ 0.40 → variable fuerte</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El signo indica dirección:</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relación positiva con el componente</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relación negativa con el componente</a:t>
            </a:r>
            <a:endParaRPr sz="16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17" name="Shape 217"/>
        <p:cNvGrpSpPr/>
        <p:nvPr/>
      </p:nvGrpSpPr>
      <p:grpSpPr>
        <a:xfrm>
          <a:off x="0" y="0"/>
          <a:ext cx="0" cy="0"/>
          <a:chOff x="0" y="0"/>
          <a:chExt cx="0" cy="0"/>
        </a:xfrm>
      </p:grpSpPr>
      <p:sp>
        <p:nvSpPr>
          <p:cNvPr id="218" name="Google Shape;218;p23"/>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23"/>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INTERPRETACIÓN DE PC1</a:t>
            </a:r>
            <a:endParaRPr sz="3600">
              <a:solidFill>
                <a:schemeClr val="dk1"/>
              </a:solidFill>
              <a:latin typeface="Calibri"/>
              <a:ea typeface="Calibri"/>
              <a:cs typeface="Calibri"/>
              <a:sym typeface="Calibri"/>
            </a:endParaRPr>
          </a:p>
        </p:txBody>
      </p:sp>
      <p:pic>
        <p:nvPicPr>
          <p:cNvPr descr="/sessions/clever-sweet-sagan/clase3_images/slide27_img00.png" id="220" name="Google Shape;220;p23"/>
          <p:cNvPicPr preferRelativeResize="0"/>
          <p:nvPr/>
        </p:nvPicPr>
        <p:blipFill rotWithShape="1">
          <a:blip r:embed="rId3">
            <a:alphaModFix/>
          </a:blip>
          <a:srcRect b="0" l="0" r="0" t="0"/>
          <a:stretch/>
        </p:blipFill>
        <p:spPr>
          <a:xfrm>
            <a:off x="914400" y="1565755"/>
            <a:ext cx="6478775" cy="3657600"/>
          </a:xfrm>
          <a:prstGeom prst="rect">
            <a:avLst/>
          </a:prstGeom>
          <a:noFill/>
          <a:ln>
            <a:noFill/>
          </a:ln>
        </p:spPr>
      </p:pic>
      <p:sp>
        <p:nvSpPr>
          <p:cNvPr id="221" name="Google Shape;221;p23"/>
          <p:cNvSpPr/>
          <p:nvPr/>
        </p:nvSpPr>
        <p:spPr>
          <a:xfrm>
            <a:off x="7878200" y="1554475"/>
            <a:ext cx="3826200" cy="3657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PC1 contrasta: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Loadings positivos altos: cyl, disp, hp, wt</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Autos grandes, pesados, potentes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vs.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Loadings negativos altos: mpg, drat</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Autos eficientes, económicos</a:t>
            </a:r>
            <a:endParaRPr sz="1800">
              <a:solidFill>
                <a:schemeClr val="dk1"/>
              </a:solidFill>
              <a:latin typeface="Calibri"/>
              <a:ea typeface="Calibri"/>
              <a:cs typeface="Calibri"/>
              <a:sym typeface="Calibri"/>
            </a:endParaRPr>
          </a:p>
        </p:txBody>
      </p:sp>
      <p:sp>
        <p:nvSpPr>
          <p:cNvPr id="222" name="Google Shape;222;p23"/>
          <p:cNvSpPr/>
          <p:nvPr/>
        </p:nvSpPr>
        <p:spPr>
          <a:xfrm>
            <a:off x="914400" y="5303520"/>
            <a:ext cx="10515600" cy="1280160"/>
          </a:xfrm>
          <a:prstGeom prst="roundRect">
            <a:avLst>
              <a:gd fmla="val 7143"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23"/>
          <p:cNvSpPr/>
          <p:nvPr/>
        </p:nvSpPr>
        <p:spPr>
          <a:xfrm>
            <a:off x="1051560" y="5394960"/>
            <a:ext cx="1024128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PC1 puede interpretarse como: "Tamaño y potencia del vehículo vs eficiencia"</a:t>
            </a:r>
            <a:endParaRPr sz="15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00"/>
              <a:buFont typeface="Calibri"/>
              <a:buNone/>
            </a:pPr>
            <a:r>
              <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Es un eje que va de vehículo grande/pesado/potente a vehículo liviano/eficiente.</a:t>
            </a:r>
            <a:endParaRPr sz="15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28" name="Shape 228"/>
        <p:cNvGrpSpPr/>
        <p:nvPr/>
      </p:nvGrpSpPr>
      <p:grpSpPr>
        <a:xfrm>
          <a:off x="0" y="0"/>
          <a:ext cx="0" cy="0"/>
          <a:chOff x="0" y="0"/>
          <a:chExt cx="0" cy="0"/>
        </a:xfrm>
      </p:grpSpPr>
      <p:sp>
        <p:nvSpPr>
          <p:cNvPr id="229" name="Google Shape;229;p24"/>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24"/>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INTERPRETACIÓN DE PC2</a:t>
            </a:r>
            <a:endParaRPr sz="3600">
              <a:solidFill>
                <a:schemeClr val="dk1"/>
              </a:solidFill>
              <a:latin typeface="Calibri"/>
              <a:ea typeface="Calibri"/>
              <a:cs typeface="Calibri"/>
              <a:sym typeface="Calibri"/>
            </a:endParaRPr>
          </a:p>
        </p:txBody>
      </p:sp>
      <p:pic>
        <p:nvPicPr>
          <p:cNvPr descr="/sessions/clever-sweet-sagan/clase3_images/slide28_img00.png" id="231" name="Google Shape;231;p24"/>
          <p:cNvPicPr preferRelativeResize="0"/>
          <p:nvPr/>
        </p:nvPicPr>
        <p:blipFill rotWithShape="1">
          <a:blip r:embed="rId3">
            <a:alphaModFix/>
          </a:blip>
          <a:srcRect b="0" l="0" r="0" t="0"/>
          <a:stretch/>
        </p:blipFill>
        <p:spPr>
          <a:xfrm>
            <a:off x="914400" y="1554475"/>
            <a:ext cx="6343427" cy="3657600"/>
          </a:xfrm>
          <a:prstGeom prst="rect">
            <a:avLst/>
          </a:prstGeom>
          <a:noFill/>
          <a:ln>
            <a:noFill/>
          </a:ln>
        </p:spPr>
      </p:pic>
      <p:sp>
        <p:nvSpPr>
          <p:cNvPr id="232" name="Google Shape;232;p24"/>
          <p:cNvSpPr/>
          <p:nvPr/>
        </p:nvSpPr>
        <p:spPr>
          <a:xfrm>
            <a:off x="7675173" y="1554475"/>
            <a:ext cx="4029000" cy="3657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b="1" lang="en-US" sz="1700">
                <a:solidFill>
                  <a:srgbClr val="595652"/>
                </a:solidFill>
                <a:latin typeface="Calibri"/>
                <a:ea typeface="Calibri"/>
                <a:cs typeface="Calibri"/>
                <a:sym typeface="Calibri"/>
              </a:rPr>
              <a:t>PC2 distingue: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Loadings positivos: gear, am, carb</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Más marchas, transmisión manual, más carburadores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vs.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Loadings negativos: qsec</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Mayor tiempo en 1/4 de milla</a:t>
            </a:r>
            <a:endParaRPr sz="1800">
              <a:solidFill>
                <a:schemeClr val="dk1"/>
              </a:solidFill>
              <a:latin typeface="Calibri"/>
              <a:ea typeface="Calibri"/>
              <a:cs typeface="Calibri"/>
              <a:sym typeface="Calibri"/>
            </a:endParaRPr>
          </a:p>
        </p:txBody>
      </p:sp>
      <p:sp>
        <p:nvSpPr>
          <p:cNvPr id="233" name="Google Shape;233;p24"/>
          <p:cNvSpPr/>
          <p:nvPr/>
        </p:nvSpPr>
        <p:spPr>
          <a:xfrm>
            <a:off x="914400" y="5303520"/>
            <a:ext cx="10515600" cy="1280160"/>
          </a:xfrm>
          <a:prstGeom prst="roundRect">
            <a:avLst>
              <a:gd fmla="val 7143"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24"/>
          <p:cNvSpPr/>
          <p:nvPr/>
        </p:nvSpPr>
        <p:spPr>
          <a:xfrm>
            <a:off x="1051560" y="5394960"/>
            <a:ext cx="1024128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PC2 puede interpretarse como: "Configuración deportiva vs desempeño en aceleración"</a:t>
            </a:r>
            <a:endParaRPr sz="15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00"/>
              <a:buFont typeface="Calibri"/>
              <a:buNone/>
            </a:pPr>
            <a:r>
              <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500"/>
              <a:buFont typeface="Calibri"/>
              <a:buNone/>
            </a:pPr>
            <a:r>
              <a:rPr lang="en-US" sz="1500">
                <a:solidFill>
                  <a:srgbClr val="595652"/>
                </a:solidFill>
                <a:latin typeface="Calibri"/>
                <a:ea typeface="Calibri"/>
                <a:cs typeface="Calibri"/>
                <a:sym typeface="Calibri"/>
              </a:rPr>
              <a:t>Captura características mecánicas y de transmisión que no están relacionadas con el tamaño del vehículo.</a:t>
            </a:r>
            <a:endParaRPr sz="15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39" name="Shape 239"/>
        <p:cNvGrpSpPr/>
        <p:nvPr/>
      </p:nvGrpSpPr>
      <p:grpSpPr>
        <a:xfrm>
          <a:off x="0" y="0"/>
          <a:ext cx="0" cy="0"/>
          <a:chOff x="0" y="0"/>
          <a:chExt cx="0" cy="0"/>
        </a:xfrm>
      </p:grpSpPr>
      <p:sp>
        <p:nvSpPr>
          <p:cNvPr id="240" name="Google Shape;240;p25"/>
          <p:cNvSpPr/>
          <p:nvPr/>
        </p:nvSpPr>
        <p:spPr>
          <a:xfrm>
            <a:off x="228600" y="239880"/>
            <a:ext cx="11731800"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25"/>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PROYECCIÓN DE OBSERVACIONES EN R</a:t>
            </a:r>
            <a:endParaRPr sz="3600">
              <a:solidFill>
                <a:schemeClr val="dk1"/>
              </a:solidFill>
              <a:latin typeface="Calibri"/>
              <a:ea typeface="Calibri"/>
              <a:cs typeface="Calibri"/>
              <a:sym typeface="Calibri"/>
            </a:endParaRPr>
          </a:p>
        </p:txBody>
      </p:sp>
      <p:sp>
        <p:nvSpPr>
          <p:cNvPr id="242" name="Google Shape;242;p25"/>
          <p:cNvSpPr/>
          <p:nvPr/>
        </p:nvSpPr>
        <p:spPr>
          <a:xfrm>
            <a:off x="914400" y="1554480"/>
            <a:ext cx="5943600" cy="32004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Obtener las coordenadas de cada observación</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en los primeros 2 componentes</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pca$x[, 1:2]</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Biplot: gráfico que muestra observaciones</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y variables en el espacio de PC1 y PC2</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biplot(pca, scale = 0)</a:t>
            </a:r>
            <a:endParaRPr sz="1300">
              <a:solidFill>
                <a:schemeClr val="dk1"/>
              </a:solidFill>
              <a:latin typeface="Calibri"/>
              <a:ea typeface="Calibri"/>
              <a:cs typeface="Calibri"/>
              <a:sym typeface="Calibri"/>
            </a:endParaRPr>
          </a:p>
        </p:txBody>
      </p:sp>
      <p:pic>
        <p:nvPicPr>
          <p:cNvPr descr="/sessions/clever-sweet-sagan/clase3_images/slide29_img00.png" id="243" name="Google Shape;243;p25"/>
          <p:cNvPicPr preferRelativeResize="0"/>
          <p:nvPr/>
        </p:nvPicPr>
        <p:blipFill rotWithShape="1">
          <a:blip r:embed="rId3">
            <a:alphaModFix/>
          </a:blip>
          <a:srcRect b="0" l="0" r="0" t="0"/>
          <a:stretch/>
        </p:blipFill>
        <p:spPr>
          <a:xfrm>
            <a:off x="914400" y="3749050"/>
            <a:ext cx="4820675" cy="2011674"/>
          </a:xfrm>
          <a:prstGeom prst="rect">
            <a:avLst/>
          </a:prstGeom>
          <a:noFill/>
          <a:ln>
            <a:noFill/>
          </a:ln>
        </p:spPr>
      </p:pic>
      <p:sp>
        <p:nvSpPr>
          <p:cNvPr id="244" name="Google Shape;244;p25"/>
          <p:cNvSpPr/>
          <p:nvPr/>
        </p:nvSpPr>
        <p:spPr>
          <a:xfrm>
            <a:off x="7315200" y="1554480"/>
            <a:ext cx="4389120" cy="4846320"/>
          </a:xfrm>
          <a:prstGeom prst="roundRect">
            <a:avLst>
              <a:gd fmla="val 2083"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25"/>
          <p:cNvSpPr/>
          <p:nvPr/>
        </p:nvSpPr>
        <p:spPr>
          <a:xfrm>
            <a:off x="7452360" y="1645920"/>
            <a:ext cx="4114800" cy="46634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¿Qué muestra pca$x?</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Cada fila es una observación (auto) y cada columna es un componente principal. Los valores son las coordenadas del auto en el nuevo espacio reducido.</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El biplot superpone las observaciones (puntos) y las variables (flechas) en el mismo gráfico. Variables con flechas cercanas están correlacionadas.</a:t>
            </a:r>
            <a:endParaRPr sz="16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50" name="Shape 250"/>
        <p:cNvGrpSpPr/>
        <p:nvPr/>
      </p:nvGrpSpPr>
      <p:grpSpPr>
        <a:xfrm>
          <a:off x="0" y="0"/>
          <a:ext cx="0" cy="0"/>
          <a:chOff x="0" y="0"/>
          <a:chExt cx="0" cy="0"/>
        </a:xfrm>
      </p:grpSpPr>
      <p:sp>
        <p:nvSpPr>
          <p:cNvPr id="251" name="Google Shape;251;p26"/>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26"/>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RESUMEN DEL CAPÍTULO</a:t>
            </a:r>
            <a:endParaRPr sz="3600">
              <a:solidFill>
                <a:schemeClr val="dk1"/>
              </a:solidFill>
              <a:latin typeface="Calibri"/>
              <a:ea typeface="Calibri"/>
              <a:cs typeface="Calibri"/>
              <a:sym typeface="Calibri"/>
            </a:endParaRPr>
          </a:p>
        </p:txBody>
      </p:sp>
      <p:sp>
        <p:nvSpPr>
          <p:cNvPr id="253" name="Google Shape;253;p26"/>
          <p:cNvSpPr/>
          <p:nvPr/>
        </p:nvSpPr>
        <p:spPr>
          <a:xfrm>
            <a:off x="914400" y="1554480"/>
            <a:ext cx="5029200" cy="4572000"/>
          </a:xfrm>
          <a:prstGeom prst="roundRect">
            <a:avLst>
              <a:gd fmla="val 2000"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26"/>
          <p:cNvSpPr/>
          <p:nvPr/>
        </p:nvSpPr>
        <p:spPr>
          <a:xfrm>
            <a:off x="1051560" y="1645920"/>
            <a:ext cx="4754880" cy="4389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Pasos de PCA</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1. Centrar (y estandarizar) las variables.</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2. Calcular la matriz de covarianza.</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3. Obtener autovalores y autovectores.</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4. Ordenar componentes por varianza explicada.</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5. Seleccionar cuántos conservar (scree plot, 80%, Kaiser).</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6. Proyectar los datos al espacio reducido.</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7. Interpretar los loadings de cada componente.</a:t>
            </a:r>
            <a:endParaRPr sz="1600">
              <a:solidFill>
                <a:schemeClr val="dk1"/>
              </a:solidFill>
              <a:latin typeface="Calibri"/>
              <a:ea typeface="Calibri"/>
              <a:cs typeface="Calibri"/>
              <a:sym typeface="Calibri"/>
            </a:endParaRPr>
          </a:p>
        </p:txBody>
      </p:sp>
      <p:sp>
        <p:nvSpPr>
          <p:cNvPr id="255" name="Google Shape;255;p26"/>
          <p:cNvSpPr/>
          <p:nvPr/>
        </p:nvSpPr>
        <p:spPr>
          <a:xfrm>
            <a:off x="6400800" y="1554480"/>
            <a:ext cx="5303520" cy="3017520"/>
          </a:xfrm>
          <a:prstGeom prst="roundRect">
            <a:avLst>
              <a:gd fmla="val 3030"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26"/>
          <p:cNvSpPr/>
          <p:nvPr/>
        </p:nvSpPr>
        <p:spPr>
          <a:xfrm>
            <a:off x="6537960" y="1645920"/>
            <a:ext cx="5029200" cy="2834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En R</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pca &lt;- prcomp(datos, scale. = TRUE)</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summary(pca) → varianza explicada</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screeplot(pca) → gráfico de codo</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pca$rotation → loadings (pesos)</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pca$x → coordenadas transformadas</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biplot(pca) → visualización conjunta</a:t>
            </a:r>
            <a:endParaRPr sz="1600">
              <a:solidFill>
                <a:schemeClr val="dk1"/>
              </a:solidFill>
              <a:latin typeface="Calibri"/>
              <a:ea typeface="Calibri"/>
              <a:cs typeface="Calibri"/>
              <a:sym typeface="Calibri"/>
            </a:endParaRPr>
          </a:p>
        </p:txBody>
      </p:sp>
      <p:sp>
        <p:nvSpPr>
          <p:cNvPr id="257" name="Google Shape;257;p26"/>
          <p:cNvSpPr/>
          <p:nvPr/>
        </p:nvSpPr>
        <p:spPr>
          <a:xfrm>
            <a:off x="6400800" y="4846320"/>
            <a:ext cx="5303520" cy="1371600"/>
          </a:xfrm>
          <a:prstGeom prst="roundRect">
            <a:avLst>
              <a:gd fmla="val 6667"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26"/>
          <p:cNvSpPr/>
          <p:nvPr/>
        </p:nvSpPr>
        <p:spPr>
          <a:xfrm>
            <a:off x="6537960" y="4937760"/>
            <a:ext cx="502920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PCA es una técnica de reducción de dimensiones. No es un modelo predictivo, sino una herramienta de exploración y simplificación de datos multivariados.</a:t>
            </a:r>
            <a:endParaRPr sz="14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2026-03-23T19:27:18Z</dcterms:created>
  <dc:creator>Métodos Estadísticos</dc:creator>
</cp:coreProperties>
</file>