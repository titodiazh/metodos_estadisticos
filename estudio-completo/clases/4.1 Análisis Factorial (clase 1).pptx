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jy/jmv6YbuftpXB7MkCIT3CA2J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5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 name="Google Shape;1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 name="Google Shape;2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 name="Google Shape;3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4" name="Google Shape;4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2" name="Google Shape;5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0" name="Google Shape;6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 name="Google Shape;7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8" name="Google Shape;7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6" name="Google Shape;8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3" name="Google Shape;9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5" name="Google Shape;10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8" name="Google Shape;11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6" name="Google Shape;12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4" name="Google Shape;134;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3" name="Google Shape;143;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0" name="Google Shape;15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8" name="Google Shape;15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7" name="Google Shape;167;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6" name="Google Shape;176;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8" name="Google Shape;188;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5" name="Google Shape;195;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3" name="Google Shape;203;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1" name="Google Shape;211;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9" name="Google Shape;219;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7" name="Google Shape;227;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5" name="Google Shape;235;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1" name="Shape 11"/>
        <p:cNvGrpSpPr/>
        <p:nvPr/>
      </p:nvGrpSpPr>
      <p:grpSpPr>
        <a:xfrm>
          <a:off x="0" y="0"/>
          <a:ext cx="0" cy="0"/>
          <a:chOff x="0" y="0"/>
          <a:chExt cx="0" cy="0"/>
        </a:xfrm>
      </p:grpSpPr>
      <p:sp>
        <p:nvSpPr>
          <p:cNvPr id="12" name="Google Shape;12;p1"/>
          <p:cNvSpPr/>
          <p:nvPr/>
        </p:nvSpPr>
        <p:spPr>
          <a:xfrm>
            <a:off x="228600" y="228600"/>
            <a:ext cx="11731752" cy="6400800"/>
          </a:xfrm>
          <a:prstGeom prst="rect">
            <a:avLst/>
          </a:prstGeom>
          <a:solidFill>
            <a:srgbClr val="A6B727"/>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1371600" y="1371600"/>
            <a:ext cx="941832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Análisis Factorial</a:t>
            </a:r>
            <a:endParaRPr sz="5400">
              <a:solidFill>
                <a:schemeClr val="dk1"/>
              </a:solidFill>
              <a:latin typeface="Calibri"/>
              <a:ea typeface="Calibri"/>
              <a:cs typeface="Calibri"/>
              <a:sym typeface="Calibri"/>
            </a:endParaRPr>
          </a:p>
        </p:txBody>
      </p:sp>
      <p:cxnSp>
        <p:nvCxnSpPr>
          <p:cNvPr id="14" name="Google Shape;14;p1"/>
          <p:cNvCxnSpPr/>
          <p:nvPr/>
        </p:nvCxnSpPr>
        <p:spPr>
          <a:xfrm>
            <a:off x="2286000" y="3931920"/>
            <a:ext cx="7589520" cy="0"/>
          </a:xfrm>
          <a:prstGeom prst="straightConnector1">
            <a:avLst/>
          </a:prstGeom>
          <a:noFill/>
          <a:ln cap="flat" cmpd="sng" w="19050">
            <a:solidFill>
              <a:srgbClr val="FFFFFF"/>
            </a:solidFill>
            <a:prstDash val="solid"/>
            <a:round/>
            <a:headEnd len="sm" w="sm" type="none"/>
            <a:tailEnd len="sm" w="sm" type="none"/>
          </a:ln>
        </p:spPr>
      </p:cxnSp>
      <p:sp>
        <p:nvSpPr>
          <p:cNvPr id="15" name="Google Shape;15;p1"/>
          <p:cNvSpPr/>
          <p:nvPr/>
        </p:nvSpPr>
        <p:spPr>
          <a:xfrm>
            <a:off x="2286000" y="4023360"/>
            <a:ext cx="758952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lang="en-US" sz="2400">
                <a:solidFill>
                  <a:srgbClr val="FFFFFF"/>
                </a:solidFill>
                <a:latin typeface="Calibri"/>
                <a:ea typeface="Calibri"/>
                <a:cs typeface="Calibri"/>
                <a:sym typeface="Calibri"/>
              </a:rPr>
              <a:t>CAPÍTULO 4</a:t>
            </a:r>
            <a:endParaRPr sz="24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0" name="Shape 20"/>
        <p:cNvGrpSpPr/>
        <p:nvPr/>
      </p:nvGrpSpPr>
      <p:grpSpPr>
        <a:xfrm>
          <a:off x="0" y="0"/>
          <a:ext cx="0" cy="0"/>
          <a:chOff x="0" y="0"/>
          <a:chExt cx="0" cy="0"/>
        </a:xfrm>
      </p:grpSpPr>
      <p:sp>
        <p:nvSpPr>
          <p:cNvPr id="21" name="Google Shape;21;p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¿QUÉ ES EL ANÁLISIS FACTORIAL?</a:t>
            </a:r>
            <a:endParaRPr sz="3200">
              <a:solidFill>
                <a:schemeClr val="dk1"/>
              </a:solidFill>
              <a:latin typeface="Calibri"/>
              <a:ea typeface="Calibri"/>
              <a:cs typeface="Calibri"/>
              <a:sym typeface="Calibri"/>
            </a:endParaRPr>
          </a:p>
        </p:txBody>
      </p:sp>
      <p:sp>
        <p:nvSpPr>
          <p:cNvPr id="23" name="Google Shape;23;p2"/>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El análisis factorial es una </a:t>
            </a:r>
            <a:r>
              <a:rPr b="1" lang="en-US" sz="1700">
                <a:solidFill>
                  <a:srgbClr val="595652"/>
                </a:solidFill>
                <a:latin typeface="Calibri"/>
                <a:ea typeface="Calibri"/>
                <a:cs typeface="Calibri"/>
                <a:sym typeface="Calibri"/>
              </a:rPr>
              <a:t>técnica de reducción de datos</a:t>
            </a:r>
            <a:r>
              <a:rPr lang="en-US" sz="1700">
                <a:solidFill>
                  <a:srgbClr val="595652"/>
                </a:solidFill>
                <a:latin typeface="Calibri"/>
                <a:ea typeface="Calibri"/>
                <a:cs typeface="Calibri"/>
                <a:sym typeface="Calibri"/>
              </a:rPr>
              <a:t> que sirve para </a:t>
            </a:r>
            <a:r>
              <a:rPr b="1" lang="en-US" sz="1700">
                <a:solidFill>
                  <a:srgbClr val="595652"/>
                </a:solidFill>
                <a:latin typeface="Calibri"/>
                <a:ea typeface="Calibri"/>
                <a:cs typeface="Calibri"/>
                <a:sym typeface="Calibri"/>
              </a:rPr>
              <a:t>modelar </a:t>
            </a:r>
            <a:r>
              <a:rPr lang="en-US" sz="1700">
                <a:solidFill>
                  <a:srgbClr val="595652"/>
                </a:solidFill>
                <a:latin typeface="Calibri"/>
                <a:ea typeface="Calibri"/>
                <a:cs typeface="Calibri"/>
                <a:sym typeface="Calibri"/>
              </a:rPr>
              <a:t>un </a:t>
            </a:r>
            <a:r>
              <a:rPr lang="en-US" sz="1700">
                <a:solidFill>
                  <a:srgbClr val="595652"/>
                </a:solidFill>
                <a:latin typeface="Calibri"/>
                <a:ea typeface="Calibri"/>
                <a:cs typeface="Calibri"/>
                <a:sym typeface="Calibri"/>
              </a:rPr>
              <a:t>conjunto numeroso de variables en función de un número menor de </a:t>
            </a:r>
            <a:r>
              <a:rPr b="1" lang="en-US" sz="1700">
                <a:solidFill>
                  <a:srgbClr val="595652"/>
                </a:solidFill>
                <a:latin typeface="Calibri"/>
                <a:ea typeface="Calibri"/>
                <a:cs typeface="Calibri"/>
                <a:sym typeface="Calibri"/>
              </a:rPr>
              <a:t>factores </a:t>
            </a:r>
            <a:r>
              <a:rPr lang="en-US" sz="1700">
                <a:solidFill>
                  <a:srgbClr val="595652"/>
                </a:solidFill>
                <a:latin typeface="Calibri"/>
                <a:ea typeface="Calibri"/>
                <a:cs typeface="Calibri"/>
                <a:sym typeface="Calibri"/>
              </a:rPr>
              <a:t>o variables no observadas (o </a:t>
            </a:r>
            <a:r>
              <a:rPr i="1" lang="en-US" sz="1700">
                <a:solidFill>
                  <a:srgbClr val="595652"/>
                </a:solidFill>
                <a:latin typeface="Calibri"/>
                <a:ea typeface="Calibri"/>
                <a:cs typeface="Calibri"/>
                <a:sym typeface="Calibri"/>
              </a:rPr>
              <a:t>latentes</a:t>
            </a:r>
            <a:r>
              <a:rPr lang="en-US" sz="1700">
                <a:solidFill>
                  <a:srgbClr val="595652"/>
                </a:solidFill>
                <a:latin typeface="Calibri"/>
                <a:ea typeface="Calibri"/>
                <a:cs typeface="Calibri"/>
                <a:sym typeface="Calibri"/>
              </a:rPr>
              <a:t>)</a:t>
            </a:r>
            <a:r>
              <a:rPr lang="en-US" sz="1700">
                <a:solidFill>
                  <a:srgbClr val="595652"/>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Los </a:t>
            </a:r>
            <a:r>
              <a:rPr b="1" lang="en-US" sz="1700">
                <a:solidFill>
                  <a:srgbClr val="595652"/>
                </a:solidFill>
                <a:latin typeface="Calibri"/>
                <a:ea typeface="Calibri"/>
                <a:cs typeface="Calibri"/>
                <a:sym typeface="Calibri"/>
              </a:rPr>
              <a:t>factores</a:t>
            </a:r>
            <a:r>
              <a:rPr lang="en-US" sz="1700">
                <a:solidFill>
                  <a:srgbClr val="595652"/>
                </a:solidFill>
                <a:latin typeface="Calibri"/>
                <a:ea typeface="Calibri"/>
                <a:cs typeface="Calibri"/>
                <a:sym typeface="Calibri"/>
              </a:rPr>
              <a:t> se forman con las variables que correlacionan mucho entre sí y procurando, inicialmente, que estos factores sean independientes unos de otros.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Cuando se recogen un gran número de variables de forma simultánea (por ejemplo, en un cuestionario de satisfacción laboral) se puede estar interesado en averiguar si las preguntas se agrupan de alguna forma característica.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Aplicando un Análisis Factorial a las respuestas de los sujetos se pueden encontrar grupos de variables con significado común, reduciendo el número de dimensiones necesarias.</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8" name="Shape 28"/>
        <p:cNvGrpSpPr/>
        <p:nvPr/>
      </p:nvGrpSpPr>
      <p:grpSpPr>
        <a:xfrm>
          <a:off x="0" y="0"/>
          <a:ext cx="0" cy="0"/>
          <a:chOff x="0" y="0"/>
          <a:chExt cx="0" cy="0"/>
        </a:xfrm>
      </p:grpSpPr>
      <p:sp>
        <p:nvSpPr>
          <p:cNvPr id="29" name="Google Shape;29;p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PROPÓSITO DEL ANÁLISIS FACTORIAL</a:t>
            </a:r>
            <a:endParaRPr sz="3600">
              <a:solidFill>
                <a:schemeClr val="dk1"/>
              </a:solidFill>
              <a:latin typeface="Calibri"/>
              <a:ea typeface="Calibri"/>
              <a:cs typeface="Calibri"/>
              <a:sym typeface="Calibri"/>
            </a:endParaRPr>
          </a:p>
        </p:txBody>
      </p:sp>
      <p:sp>
        <p:nvSpPr>
          <p:cNvPr id="31" name="Google Shape;31;p3"/>
          <p:cNvSpPr/>
          <p:nvPr/>
        </p:nvSpPr>
        <p:spPr>
          <a:xfrm>
            <a:off x="700088" y="1554480"/>
            <a:ext cx="6615112"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Es una técnica de reducción de la dimensionalidad de los datos.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Su propósito último consiste en buscar el número mínimo de dimensiones capaces de explicar el máximo de información contenida en los datos.</a:t>
            </a:r>
            <a:endParaRPr sz="1700">
              <a:solidFill>
                <a:srgbClr val="595652"/>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t/>
            </a:r>
            <a:endParaRPr sz="1700">
              <a:solidFill>
                <a:srgbClr val="595652"/>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En el Análisis Factorial todas las variables cumplen el mismo papel: no existe a priori una dependencia conceptual de unas variables sobre otras.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Simplifica la información de una matriz de correlaciones para hacerla más fácilmente interpretable.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Hipotéticamente existen otras variables, otras dimensiones o factores que explican por qué unos ítems se relacionan más con unos que con otros.</a:t>
            </a:r>
            <a:endParaRPr sz="1800">
              <a:solidFill>
                <a:schemeClr val="dk1"/>
              </a:solidFill>
              <a:latin typeface="Calibri"/>
              <a:ea typeface="Calibri"/>
              <a:cs typeface="Calibri"/>
              <a:sym typeface="Calibri"/>
            </a:endParaRPr>
          </a:p>
        </p:txBody>
      </p:sp>
      <p:sp>
        <p:nvSpPr>
          <p:cNvPr id="32" name="Google Shape;32;p3"/>
          <p:cNvSpPr/>
          <p:nvPr/>
        </p:nvSpPr>
        <p:spPr>
          <a:xfrm>
            <a:off x="7498080" y="1554480"/>
            <a:ext cx="4114800" cy="1645920"/>
          </a:xfrm>
          <a:prstGeom prst="roundRect">
            <a:avLst>
              <a:gd fmla="val 208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3"/>
          <p:cNvSpPr/>
          <p:nvPr/>
        </p:nvSpPr>
        <p:spPr>
          <a:xfrm>
            <a:off x="7635240" y="1645920"/>
            <a:ext cx="411480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Concepto clave</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AF busca descubrir factores latentes (no observados directamente) que expliquen las correlaciones entre las variables observadas.</a:t>
            </a:r>
            <a:endParaRPr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38" name="Shape 38"/>
        <p:cNvGrpSpPr/>
        <p:nvPr/>
      </p:nvGrpSpPr>
      <p:grpSpPr>
        <a:xfrm>
          <a:off x="0" y="0"/>
          <a:ext cx="0" cy="0"/>
          <a:chOff x="0" y="0"/>
          <a:chExt cx="0" cy="0"/>
        </a:xfrm>
      </p:grpSpPr>
      <p:sp>
        <p:nvSpPr>
          <p:cNvPr id="39" name="Google Shape;39;p4"/>
          <p:cNvSpPr/>
          <p:nvPr/>
        </p:nvSpPr>
        <p:spPr>
          <a:xfrm>
            <a:off x="228600" y="228600"/>
            <a:ext cx="11731752" cy="6400800"/>
          </a:xfrm>
          <a:prstGeom prst="rect">
            <a:avLst/>
          </a:prstGeom>
          <a:solidFill>
            <a:srgbClr val="A6B727"/>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4"/>
          <p:cNvSpPr/>
          <p:nvPr/>
        </p:nvSpPr>
        <p:spPr>
          <a:xfrm>
            <a:off x="1371600" y="1371600"/>
            <a:ext cx="941832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Conceptos Previos del</a:t>
            </a:r>
            <a:endParaRPr sz="54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Análisis Factorial</a:t>
            </a:r>
            <a:endParaRPr sz="5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5" name="Shape 45"/>
        <p:cNvGrpSpPr/>
        <p:nvPr/>
      </p:nvGrpSpPr>
      <p:grpSpPr>
        <a:xfrm>
          <a:off x="0" y="0"/>
          <a:ext cx="0" cy="0"/>
          <a:chOff x="0" y="0"/>
          <a:chExt cx="0" cy="0"/>
        </a:xfrm>
      </p:grpSpPr>
      <p:sp>
        <p:nvSpPr>
          <p:cNvPr id="46" name="Google Shape;46;p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VARIANZA DE LOS ÍTEMS</a:t>
            </a:r>
            <a:endParaRPr sz="3600">
              <a:solidFill>
                <a:schemeClr val="dk1"/>
              </a:solidFill>
              <a:latin typeface="Calibri"/>
              <a:ea typeface="Calibri"/>
              <a:cs typeface="Calibri"/>
              <a:sym typeface="Calibri"/>
            </a:endParaRPr>
          </a:p>
        </p:txBody>
      </p:sp>
      <p:sp>
        <p:nvSpPr>
          <p:cNvPr id="48" name="Google Shape;48;p5"/>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Ejemplo: ítems de una escala de actitudes hacia el trabajo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1º «Me lo paso muy bien en mi trabajo»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Escala: Muy de acuerdo=5, De acuerdo=4, Indiferente=3, Desacuerdo=2, Muy desacuerdo=1</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2º «Algunas veces me gustaría cambiarme»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Escala: Muy de acuerdo=1, De acuerdo=2, Indiferente=3, Desacuerdo=4, Muy desacuerdo=5</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La varianza σ² de cada ítem indica la diferencia en las respuestas. Si todos respondieran lo mismo → varianza=0. Si mitad a gusto y mitad a disgusto → varianza máxima.</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53" name="Shape 53"/>
        <p:cNvGrpSpPr/>
        <p:nvPr/>
      </p:nvGrpSpPr>
      <p:grpSpPr>
        <a:xfrm>
          <a:off x="0" y="0"/>
          <a:ext cx="0" cy="0"/>
          <a:chOff x="0" y="0"/>
          <a:chExt cx="0" cy="0"/>
        </a:xfrm>
      </p:grpSpPr>
      <p:sp>
        <p:nvSpPr>
          <p:cNvPr id="54" name="Google Shape;54;p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VARIANZA COMPARTIDA</a:t>
            </a:r>
            <a:endParaRPr sz="3600">
              <a:solidFill>
                <a:schemeClr val="dk1"/>
              </a:solidFill>
              <a:latin typeface="Calibri"/>
              <a:ea typeface="Calibri"/>
              <a:cs typeface="Calibri"/>
              <a:sym typeface="Calibri"/>
            </a:endParaRPr>
          </a:p>
        </p:txBody>
      </p:sp>
      <p:sp>
        <p:nvSpPr>
          <p:cNvPr id="56" name="Google Shape;56;p6"/>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Cada ítem tiene su varianza. La varianza de cada ítem puede ser </a:t>
            </a:r>
            <a:r>
              <a:rPr b="1" lang="en-US" sz="1700">
                <a:solidFill>
                  <a:srgbClr val="595652"/>
                </a:solidFill>
                <a:latin typeface="Calibri"/>
                <a:ea typeface="Calibri"/>
                <a:cs typeface="Calibri"/>
                <a:sym typeface="Calibri"/>
              </a:rPr>
              <a:t>compartida con la varianza de otros ítems.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Ejemplo: Si la correlación entre dos ítems es de 0.90, tienen un 81% de varianza común (r² = 0.90² = 0.81). El 19% restante no es varianza compartida.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Esta relación viene expresada por el coeficiente de correlación r, que expresa la proporción de varianza común entre dos variables.</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61" name="Shape 61"/>
        <p:cNvGrpSpPr/>
        <p:nvPr/>
      </p:nvGrpSpPr>
      <p:grpSpPr>
        <a:xfrm>
          <a:off x="0" y="0"/>
          <a:ext cx="0" cy="0"/>
          <a:chOff x="0" y="0"/>
          <a:chExt cx="0" cy="0"/>
        </a:xfrm>
      </p:grpSpPr>
      <p:sp>
        <p:nvSpPr>
          <p:cNvPr id="62" name="Google Shape;62;p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DESCOMPOSICIÓN DE LA VARIANZA</a:t>
            </a:r>
            <a:endParaRPr sz="3600">
              <a:solidFill>
                <a:schemeClr val="dk1"/>
              </a:solidFill>
              <a:latin typeface="Calibri"/>
              <a:ea typeface="Calibri"/>
              <a:cs typeface="Calibri"/>
              <a:sym typeface="Calibri"/>
            </a:endParaRPr>
          </a:p>
        </p:txBody>
      </p:sp>
      <p:sp>
        <p:nvSpPr>
          <p:cNvPr id="64" name="Google Shape;64;p7"/>
          <p:cNvSpPr/>
          <p:nvPr/>
        </p:nvSpPr>
        <p:spPr>
          <a:xfrm>
            <a:off x="914400" y="1554480"/>
            <a:ext cx="68580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La varianza total de una variable se descompone en: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Varianza Común: varianza compartida con otras variables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Varianza Específica: cada variable tiene un significado propio (no correlaciona con otras)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Varianza de Error: cansancio del respondedor, estilos personales de responder, etc.</a:t>
            </a:r>
            <a:endParaRPr sz="1800">
              <a:solidFill>
                <a:schemeClr val="dk1"/>
              </a:solidFill>
              <a:latin typeface="Calibri"/>
              <a:ea typeface="Calibri"/>
              <a:cs typeface="Calibri"/>
              <a:sym typeface="Calibri"/>
            </a:endParaRPr>
          </a:p>
        </p:txBody>
      </p:sp>
      <p:sp>
        <p:nvSpPr>
          <p:cNvPr id="65" name="Google Shape;65;p7"/>
          <p:cNvSpPr/>
          <p:nvPr/>
        </p:nvSpPr>
        <p:spPr>
          <a:xfrm>
            <a:off x="914400" y="4046220"/>
            <a:ext cx="10515600" cy="1645920"/>
          </a:xfrm>
          <a:prstGeom prst="roundRect">
            <a:avLst>
              <a:gd fmla="val 5556"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7"/>
          <p:cNvSpPr/>
          <p:nvPr/>
        </p:nvSpPr>
        <p:spPr>
          <a:xfrm>
            <a:off x="1051560" y="4137660"/>
            <a:ext cx="1024128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Ecuación de descomposición</a:t>
            </a:r>
            <a:endParaRPr sz="15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Varianza Total = Varianza Común + Varianza Específica + Varianza de Error</a:t>
            </a:r>
            <a:endParaRPr sz="15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El AF se encarga precisamente de analizar la varianza común.</a:t>
            </a:r>
            <a:endParaRPr sz="15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71" name="Shape 71"/>
        <p:cNvGrpSpPr/>
        <p:nvPr/>
      </p:nvGrpSpPr>
      <p:grpSpPr>
        <a:xfrm>
          <a:off x="0" y="0"/>
          <a:ext cx="0" cy="0"/>
          <a:chOff x="0" y="0"/>
          <a:chExt cx="0" cy="0"/>
        </a:xfrm>
      </p:grpSpPr>
      <p:sp>
        <p:nvSpPr>
          <p:cNvPr id="72" name="Google Shape;72;p8"/>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8"/>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¿QUÉ HACE EL ANÁLISIS FACTORIAL?</a:t>
            </a:r>
            <a:endParaRPr sz="3600">
              <a:solidFill>
                <a:schemeClr val="dk1"/>
              </a:solidFill>
              <a:latin typeface="Calibri"/>
              <a:ea typeface="Calibri"/>
              <a:cs typeface="Calibri"/>
              <a:sym typeface="Calibri"/>
            </a:endParaRPr>
          </a:p>
        </p:txBody>
      </p:sp>
      <p:sp>
        <p:nvSpPr>
          <p:cNvPr id="74" name="Google Shape;74;p8"/>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Se encarga de analizar la varianza común entre las variables, partiendo de una matriz de correlaciones.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Utiliza los coeficientes de determinación r², que representan la proporción de varianza compartida.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Existen dos enfoques principales: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1. Componentes Principales: analiza TODA la varianza (común y no común). Usa 1s en la diagonal de la matriz de correlaciones.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2. Factores Comunes: analiza SOLO la varianza común. Sustituye 1s en la diagonal por comunalidades.</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79" name="Shape 79"/>
        <p:cNvGrpSpPr/>
        <p:nvPr/>
      </p:nvGrpSpPr>
      <p:grpSpPr>
        <a:xfrm>
          <a:off x="0" y="0"/>
          <a:ext cx="0" cy="0"/>
          <a:chOff x="0" y="0"/>
          <a:chExt cx="0" cy="0"/>
        </a:xfrm>
      </p:grpSpPr>
      <p:sp>
        <p:nvSpPr>
          <p:cNvPr id="80" name="Google Shape;80;p9"/>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9"/>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¿QUÉ ES UN FACTOR?</a:t>
            </a:r>
            <a:endParaRPr sz="3600">
              <a:solidFill>
                <a:schemeClr val="dk1"/>
              </a:solidFill>
              <a:latin typeface="Calibri"/>
              <a:ea typeface="Calibri"/>
              <a:cs typeface="Calibri"/>
              <a:sym typeface="Calibri"/>
            </a:endParaRPr>
          </a:p>
        </p:txBody>
      </p:sp>
      <p:sp>
        <p:nvSpPr>
          <p:cNvPr id="82" name="Google Shape;82;p9"/>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Los factores no existen como tales; lo que existe es una </a:t>
            </a:r>
            <a:r>
              <a:rPr b="1" lang="en-US" sz="1700">
                <a:solidFill>
                  <a:srgbClr val="595652"/>
                </a:solidFill>
                <a:latin typeface="Calibri"/>
                <a:ea typeface="Calibri"/>
                <a:cs typeface="Calibri"/>
                <a:sym typeface="Calibri"/>
              </a:rPr>
              <a:t>combinación lineal de variables.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Si hay k factores, el instrumento original se descompone en k instrumentos (cada uno compuesto por todos los ítems).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En cada instrumento los ítems tienen un peso específico distinto según su relación con el factor.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Ejemplo: si encontramos 3 factores, podemos descomponer el instrumento original en tres, cada uno con una interpretación distinta.</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87" name="Shape 87"/>
        <p:cNvGrpSpPr/>
        <p:nvPr/>
      </p:nvGrpSpPr>
      <p:grpSpPr>
        <a:xfrm>
          <a:off x="0" y="0"/>
          <a:ext cx="0" cy="0"/>
          <a:chOff x="0" y="0"/>
          <a:chExt cx="0" cy="0"/>
        </a:xfrm>
      </p:grpSpPr>
      <p:sp>
        <p:nvSpPr>
          <p:cNvPr id="88" name="Google Shape;88;p10"/>
          <p:cNvSpPr/>
          <p:nvPr/>
        </p:nvSpPr>
        <p:spPr>
          <a:xfrm>
            <a:off x="228600" y="228600"/>
            <a:ext cx="11731752" cy="6400800"/>
          </a:xfrm>
          <a:prstGeom prst="rect">
            <a:avLst/>
          </a:prstGeom>
          <a:solidFill>
            <a:srgbClr val="A6B727"/>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10"/>
          <p:cNvSpPr/>
          <p:nvPr/>
        </p:nvSpPr>
        <p:spPr>
          <a:xfrm>
            <a:off x="1371600" y="1371600"/>
            <a:ext cx="941832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Modelo del Análisis Factorial</a:t>
            </a:r>
            <a:endParaRPr sz="5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94" name="Shape 94"/>
        <p:cNvGrpSpPr/>
        <p:nvPr/>
      </p:nvGrpSpPr>
      <p:grpSpPr>
        <a:xfrm>
          <a:off x="0" y="0"/>
          <a:ext cx="0" cy="0"/>
          <a:chOff x="0" y="0"/>
          <a:chExt cx="0" cy="0"/>
        </a:xfrm>
      </p:grpSpPr>
      <p:sp>
        <p:nvSpPr>
          <p:cNvPr id="95" name="Google Shape;95;p11"/>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11"/>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ECUACIÓN DEL MODELO FACTORIAL</a:t>
            </a:r>
            <a:endParaRPr sz="3200">
              <a:solidFill>
                <a:schemeClr val="dk1"/>
              </a:solidFill>
              <a:latin typeface="Calibri"/>
              <a:ea typeface="Calibri"/>
              <a:cs typeface="Calibri"/>
              <a:sym typeface="Calibri"/>
            </a:endParaRPr>
          </a:p>
        </p:txBody>
      </p:sp>
      <p:sp>
        <p:nvSpPr>
          <p:cNvPr id="97" name="Google Shape;97;p11"/>
          <p:cNvSpPr/>
          <p:nvPr/>
        </p:nvSpPr>
        <p:spPr>
          <a:xfrm>
            <a:off x="914400" y="1554480"/>
            <a:ext cx="6400800" cy="2743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Sean (X</a:t>
            </a:r>
            <a:r>
              <a:rPr baseline="30000" lang="en-US" sz="1400">
                <a:solidFill>
                  <a:srgbClr val="595652"/>
                </a:solidFill>
                <a:latin typeface="Calibri"/>
                <a:ea typeface="Calibri"/>
                <a:cs typeface="Calibri"/>
                <a:sym typeface="Calibri"/>
              </a:rPr>
              <a:t>1</a:t>
            </a:r>
            <a:r>
              <a:rPr lang="en-US" sz="1600">
                <a:solidFill>
                  <a:srgbClr val="595652"/>
                </a:solidFill>
                <a:latin typeface="Calibri"/>
                <a:ea typeface="Calibri"/>
                <a:cs typeface="Calibri"/>
                <a:sym typeface="Calibri"/>
              </a:rPr>
              <a:t>, X</a:t>
            </a:r>
            <a:r>
              <a:rPr baseline="30000" lang="en-US" sz="1400">
                <a:solidFill>
                  <a:srgbClr val="595652"/>
                </a:solidFill>
                <a:latin typeface="Calibri"/>
                <a:ea typeface="Calibri"/>
                <a:cs typeface="Calibri"/>
                <a:sym typeface="Calibri"/>
              </a:rPr>
              <a:t>2</a:t>
            </a:r>
            <a:r>
              <a:rPr lang="en-US" sz="1600">
                <a:solidFill>
                  <a:srgbClr val="595652"/>
                </a:solidFill>
                <a:latin typeface="Calibri"/>
                <a:ea typeface="Calibri"/>
                <a:cs typeface="Calibri"/>
                <a:sym typeface="Calibri"/>
              </a:rPr>
              <a:t>,..., X</a:t>
            </a:r>
            <a:r>
              <a:rPr baseline="30000" lang="en-US" sz="1400">
                <a:solidFill>
                  <a:srgbClr val="595652"/>
                </a:solidFill>
                <a:latin typeface="Calibri"/>
                <a:ea typeface="Calibri"/>
                <a:cs typeface="Calibri"/>
                <a:sym typeface="Calibri"/>
              </a:rPr>
              <a:t>p</a:t>
            </a:r>
            <a:r>
              <a:rPr lang="en-US" sz="1600">
                <a:solidFill>
                  <a:srgbClr val="595652"/>
                </a:solidFill>
                <a:latin typeface="Calibri"/>
                <a:ea typeface="Calibri"/>
                <a:cs typeface="Calibri"/>
                <a:sym typeface="Calibri"/>
              </a:rPr>
              <a:t>) las p variables estandarizadas. Se tienen n observaciones. El modelo 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X</a:t>
            </a:r>
            <a:r>
              <a:rPr baseline="30000" lang="en-US" sz="1400">
                <a:solidFill>
                  <a:srgbClr val="595652"/>
                </a:solidFill>
                <a:latin typeface="Calibri"/>
                <a:ea typeface="Calibri"/>
                <a:cs typeface="Calibri"/>
                <a:sym typeface="Calibri"/>
              </a:rPr>
              <a:t>i</a:t>
            </a:r>
            <a:r>
              <a:rPr lang="en-US" sz="1600">
                <a:solidFill>
                  <a:srgbClr val="595652"/>
                </a:solidFill>
                <a:latin typeface="Calibri"/>
                <a:ea typeface="Calibri"/>
                <a:cs typeface="Calibri"/>
                <a:sym typeface="Calibri"/>
              </a:rPr>
              <a:t> = a</a:t>
            </a:r>
            <a:r>
              <a:rPr baseline="30000" lang="en-US" sz="1200">
                <a:solidFill>
                  <a:srgbClr val="595652"/>
                </a:solidFill>
                <a:latin typeface="Calibri"/>
                <a:ea typeface="Calibri"/>
                <a:cs typeface="Calibri"/>
                <a:sym typeface="Calibri"/>
              </a:rPr>
              <a:t>i1</a:t>
            </a:r>
            <a:r>
              <a:rPr lang="en-US" sz="1600">
                <a:solidFill>
                  <a:srgbClr val="595652"/>
                </a:solidFill>
                <a:latin typeface="Calibri"/>
                <a:ea typeface="Calibri"/>
                <a:cs typeface="Calibri"/>
                <a:sym typeface="Calibri"/>
              </a:rPr>
              <a:t>·F</a:t>
            </a:r>
            <a:r>
              <a:rPr baseline="30000" lang="en-US" sz="1400">
                <a:solidFill>
                  <a:srgbClr val="595652"/>
                </a:solidFill>
                <a:latin typeface="Calibri"/>
                <a:ea typeface="Calibri"/>
                <a:cs typeface="Calibri"/>
                <a:sym typeface="Calibri"/>
              </a:rPr>
              <a:t>1</a:t>
            </a:r>
            <a:r>
              <a:rPr lang="en-US" sz="1600">
                <a:solidFill>
                  <a:srgbClr val="595652"/>
                </a:solidFill>
                <a:latin typeface="Calibri"/>
                <a:ea typeface="Calibri"/>
                <a:cs typeface="Calibri"/>
                <a:sym typeface="Calibri"/>
              </a:rPr>
              <a:t> + a</a:t>
            </a:r>
            <a:r>
              <a:rPr baseline="30000" lang="en-US" sz="1200">
                <a:solidFill>
                  <a:srgbClr val="595652"/>
                </a:solidFill>
                <a:latin typeface="Calibri"/>
                <a:ea typeface="Calibri"/>
                <a:cs typeface="Calibri"/>
                <a:sym typeface="Calibri"/>
              </a:rPr>
              <a:t>i2</a:t>
            </a:r>
            <a:r>
              <a:rPr lang="en-US" sz="1600">
                <a:solidFill>
                  <a:srgbClr val="595652"/>
                </a:solidFill>
                <a:latin typeface="Calibri"/>
                <a:ea typeface="Calibri"/>
                <a:cs typeface="Calibri"/>
                <a:sym typeface="Calibri"/>
              </a:rPr>
              <a:t>·F</a:t>
            </a:r>
            <a:r>
              <a:rPr baseline="30000" lang="en-US" sz="1400">
                <a:solidFill>
                  <a:srgbClr val="595652"/>
                </a:solidFill>
                <a:latin typeface="Calibri"/>
                <a:ea typeface="Calibri"/>
                <a:cs typeface="Calibri"/>
                <a:sym typeface="Calibri"/>
              </a:rPr>
              <a:t>2</a:t>
            </a:r>
            <a:r>
              <a:rPr lang="en-US" sz="1600">
                <a:solidFill>
                  <a:srgbClr val="595652"/>
                </a:solidFill>
                <a:latin typeface="Calibri"/>
                <a:ea typeface="Calibri"/>
                <a:cs typeface="Calibri"/>
                <a:sym typeface="Calibri"/>
              </a:rPr>
              <a:t> + ... + a</a:t>
            </a:r>
            <a:r>
              <a:rPr baseline="30000" lang="en-US" sz="1200">
                <a:solidFill>
                  <a:srgbClr val="595652"/>
                </a:solidFill>
                <a:latin typeface="Calibri"/>
                <a:ea typeface="Calibri"/>
                <a:cs typeface="Calibri"/>
                <a:sym typeface="Calibri"/>
              </a:rPr>
              <a:t>ik</a:t>
            </a:r>
            <a:r>
              <a:rPr lang="en-US" sz="1600">
                <a:solidFill>
                  <a:srgbClr val="595652"/>
                </a:solidFill>
                <a:latin typeface="Calibri"/>
                <a:ea typeface="Calibri"/>
                <a:cs typeface="Calibri"/>
                <a:sym typeface="Calibri"/>
              </a:rPr>
              <a:t>·F</a:t>
            </a:r>
            <a:r>
              <a:rPr baseline="30000" lang="en-US" sz="1400">
                <a:solidFill>
                  <a:srgbClr val="595652"/>
                </a:solidFill>
                <a:latin typeface="Calibri"/>
                <a:ea typeface="Calibri"/>
                <a:cs typeface="Calibri"/>
                <a:sym typeface="Calibri"/>
              </a:rPr>
              <a:t>k</a:t>
            </a:r>
            <a:r>
              <a:rPr lang="en-US" sz="1600">
                <a:solidFill>
                  <a:srgbClr val="595652"/>
                </a:solidFill>
                <a:latin typeface="Calibri"/>
                <a:ea typeface="Calibri"/>
                <a:cs typeface="Calibri"/>
                <a:sym typeface="Calibri"/>
              </a:rPr>
              <a:t> + u</a:t>
            </a:r>
            <a:r>
              <a:rPr baseline="30000" lang="en-US" sz="1400">
                <a:solidFill>
                  <a:srgbClr val="595652"/>
                </a:solidFill>
                <a:latin typeface="Calibri"/>
                <a:ea typeface="Calibri"/>
                <a:cs typeface="Calibri"/>
                <a:sym typeface="Calibri"/>
              </a:rPr>
              <a:t>i</a:t>
            </a:r>
            <a:r>
              <a:rPr lang="en-US" sz="1600">
                <a:solidFill>
                  <a:srgbClr val="595652"/>
                </a:solidFill>
                <a:latin typeface="Calibri"/>
                <a:ea typeface="Calibri"/>
                <a:cs typeface="Calibri"/>
                <a:sym typeface="Calibri"/>
              </a:rPr>
              <a:t>  (i = 1,...,p)</a:t>
            </a:r>
            <a:endParaRPr sz="1800">
              <a:solidFill>
                <a:schemeClr val="dk1"/>
              </a:solidFill>
              <a:latin typeface="Calibri"/>
              <a:ea typeface="Calibri"/>
              <a:cs typeface="Calibri"/>
              <a:sym typeface="Calibri"/>
            </a:endParaRPr>
          </a:p>
        </p:txBody>
      </p:sp>
      <p:pic>
        <p:nvPicPr>
          <p:cNvPr descr="/sessions/clever-sweet-sagan/clase4_images/slide15_img0.png" id="98" name="Google Shape;98;p11"/>
          <p:cNvPicPr preferRelativeResize="0"/>
          <p:nvPr/>
        </p:nvPicPr>
        <p:blipFill rotWithShape="1">
          <a:blip r:embed="rId3">
            <a:alphaModFix/>
          </a:blip>
          <a:srcRect b="0" l="0" r="0" t="0"/>
          <a:stretch/>
        </p:blipFill>
        <p:spPr>
          <a:xfrm>
            <a:off x="6429375" y="1554480"/>
            <a:ext cx="5274945" cy="1828800"/>
          </a:xfrm>
          <a:prstGeom prst="rect">
            <a:avLst/>
          </a:prstGeom>
          <a:noFill/>
          <a:ln>
            <a:noFill/>
          </a:ln>
        </p:spPr>
      </p:pic>
      <p:sp>
        <p:nvSpPr>
          <p:cNvPr id="99" name="Google Shape;99;p11"/>
          <p:cNvSpPr/>
          <p:nvPr/>
        </p:nvSpPr>
        <p:spPr>
          <a:xfrm>
            <a:off x="914400" y="3188970"/>
            <a:ext cx="6400800" cy="201168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Donde: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(F</a:t>
            </a:r>
            <a:r>
              <a:rPr baseline="30000" lang="en-US" sz="13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,...,F</a:t>
            </a:r>
            <a:r>
              <a:rPr baseline="30000" lang="en-US" sz="1300">
                <a:solidFill>
                  <a:srgbClr val="595652"/>
                </a:solidFill>
                <a:latin typeface="Calibri"/>
                <a:ea typeface="Calibri"/>
                <a:cs typeface="Calibri"/>
                <a:sym typeface="Calibri"/>
              </a:rPr>
              <a:t>k</a:t>
            </a:r>
            <a:r>
              <a:rPr lang="en-US" sz="1500">
                <a:solidFill>
                  <a:srgbClr val="595652"/>
                </a:solidFill>
                <a:latin typeface="Calibri"/>
                <a:ea typeface="Calibri"/>
                <a:cs typeface="Calibri"/>
                <a:sym typeface="Calibri"/>
              </a:rPr>
              <a:t>) son los Factores Comunes (k&lt;p)</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(u</a:t>
            </a:r>
            <a:r>
              <a:rPr baseline="30000" lang="en-US" sz="13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,...,u</a:t>
            </a:r>
            <a:r>
              <a:rPr baseline="30000" lang="en-US" sz="1300">
                <a:solidFill>
                  <a:srgbClr val="595652"/>
                </a:solidFill>
                <a:latin typeface="Calibri"/>
                <a:ea typeface="Calibri"/>
                <a:cs typeface="Calibri"/>
                <a:sym typeface="Calibri"/>
              </a:rPr>
              <a:t>p</a:t>
            </a:r>
            <a:r>
              <a:rPr lang="en-US" sz="1500">
                <a:solidFill>
                  <a:srgbClr val="595652"/>
                </a:solidFill>
                <a:latin typeface="Calibri"/>
                <a:ea typeface="Calibri"/>
                <a:cs typeface="Calibri"/>
                <a:sym typeface="Calibri"/>
              </a:rPr>
              <a:t>) son los Factores únicos o específicos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(a</a:t>
            </a:r>
            <a:r>
              <a:rPr baseline="30000" lang="en-US" sz="1300">
                <a:solidFill>
                  <a:srgbClr val="595652"/>
                </a:solidFill>
                <a:latin typeface="Calibri"/>
                <a:ea typeface="Calibri"/>
                <a:cs typeface="Calibri"/>
                <a:sym typeface="Calibri"/>
              </a:rPr>
              <a:t>ij</a:t>
            </a:r>
            <a:r>
              <a:rPr lang="en-US" sz="1500">
                <a:solidFill>
                  <a:srgbClr val="595652"/>
                </a:solidFill>
                <a:latin typeface="Calibri"/>
                <a:ea typeface="Calibri"/>
                <a:cs typeface="Calibri"/>
                <a:sym typeface="Calibri"/>
              </a:rPr>
              <a:t>) son las Cargas factoriales (pesos del factor en cada variable)</a:t>
            </a:r>
            <a:endParaRPr sz="1800">
              <a:solidFill>
                <a:schemeClr val="dk1"/>
              </a:solidFill>
              <a:latin typeface="Calibri"/>
              <a:ea typeface="Calibri"/>
              <a:cs typeface="Calibri"/>
              <a:sym typeface="Calibri"/>
            </a:endParaRPr>
          </a:p>
        </p:txBody>
      </p:sp>
      <p:sp>
        <p:nvSpPr>
          <p:cNvPr id="100" name="Google Shape;100;p11"/>
          <p:cNvSpPr/>
          <p:nvPr/>
        </p:nvSpPr>
        <p:spPr>
          <a:xfrm>
            <a:off x="914400" y="4646295"/>
            <a:ext cx="10515600" cy="1623060"/>
          </a:xfrm>
          <a:prstGeom prst="roundRect">
            <a:avLst>
              <a:gd fmla="val 100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11"/>
          <p:cNvSpPr/>
          <p:nvPr/>
        </p:nvSpPr>
        <p:spPr>
          <a:xfrm>
            <a:off x="1051560" y="4737735"/>
            <a:ext cx="1024128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Supuestos del modelo</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 Factores comunes estandarizados: E(F) = 0, Var(F) = 1</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 Factores específicos: media 0, incorrelados</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 Ambos tipos: incorrelados entre sí</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 Si factores comunes incorrelados → modelo ortogonal</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 Si no → modelo oblicuo</a:t>
            </a:r>
            <a:endParaRPr sz="13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06" name="Shape 106"/>
        <p:cNvGrpSpPr/>
        <p:nvPr/>
      </p:nvGrpSpPr>
      <p:grpSpPr>
        <a:xfrm>
          <a:off x="0" y="0"/>
          <a:ext cx="0" cy="0"/>
          <a:chOff x="0" y="0"/>
          <a:chExt cx="0" cy="0"/>
        </a:xfrm>
      </p:grpSpPr>
      <p:sp>
        <p:nvSpPr>
          <p:cNvPr id="107" name="Google Shape;107;p1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1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FORMA MATRICIAL Y COMUNALIDAD</a:t>
            </a:r>
            <a:endParaRPr sz="3600">
              <a:solidFill>
                <a:schemeClr val="dk1"/>
              </a:solidFill>
              <a:latin typeface="Calibri"/>
              <a:ea typeface="Calibri"/>
              <a:cs typeface="Calibri"/>
              <a:sym typeface="Calibri"/>
            </a:endParaRPr>
          </a:p>
        </p:txBody>
      </p:sp>
      <p:sp>
        <p:nvSpPr>
          <p:cNvPr id="109" name="Google Shape;109;p12"/>
          <p:cNvSpPr/>
          <p:nvPr/>
        </p:nvSpPr>
        <p:spPr>
          <a:xfrm>
            <a:off x="914400" y="1554480"/>
            <a:ext cx="105156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Forma matricial: X = AF + u</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Donde: X = vector p×1 de variables,  A = matriz p×k de cargas,  F = vector k×1 de factores,  u = vector p×1 de factores únicos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La varianza de cada variable 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Var(X</a:t>
            </a:r>
            <a:r>
              <a:rPr baseline="30000" lang="en-US" sz="1300">
                <a:solidFill>
                  <a:srgbClr val="595652"/>
                </a:solidFill>
                <a:latin typeface="Calibri"/>
                <a:ea typeface="Calibri"/>
                <a:cs typeface="Calibri"/>
                <a:sym typeface="Calibri"/>
              </a:rPr>
              <a:t>i</a:t>
            </a:r>
            <a:r>
              <a:rPr lang="en-US" sz="1500">
                <a:solidFill>
                  <a:srgbClr val="595652"/>
                </a:solidFill>
                <a:latin typeface="Calibri"/>
                <a:ea typeface="Calibri"/>
                <a:cs typeface="Calibri"/>
                <a:sym typeface="Calibri"/>
              </a:rPr>
              <a:t>) = Σ(j=1 to k) a</a:t>
            </a:r>
            <a:r>
              <a:rPr baseline="30000" lang="en-US" sz="1300">
                <a:solidFill>
                  <a:srgbClr val="595652"/>
                </a:solidFill>
                <a:latin typeface="Calibri"/>
                <a:ea typeface="Calibri"/>
                <a:cs typeface="Calibri"/>
                <a:sym typeface="Calibri"/>
              </a:rPr>
              <a:t>ij</a:t>
            </a:r>
            <a:r>
              <a:rPr lang="en-US" sz="1500">
                <a:solidFill>
                  <a:srgbClr val="595652"/>
                </a:solidFill>
                <a:latin typeface="Calibri"/>
                <a:ea typeface="Calibri"/>
                <a:cs typeface="Calibri"/>
                <a:sym typeface="Calibri"/>
              </a:rPr>
              <a:t>² + ψ</a:t>
            </a:r>
            <a:r>
              <a:rPr baseline="30000" lang="en-US" sz="1300">
                <a:solidFill>
                  <a:srgbClr val="595652"/>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10" name="Google Shape;110;p12"/>
          <p:cNvSpPr/>
          <p:nvPr/>
        </p:nvSpPr>
        <p:spPr>
          <a:xfrm>
            <a:off x="914400" y="3200400"/>
            <a:ext cx="5029200" cy="1828800"/>
          </a:xfrm>
          <a:prstGeom prst="roundRect">
            <a:avLst>
              <a:gd fmla="val 50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2"/>
          <p:cNvSpPr/>
          <p:nvPr/>
        </p:nvSpPr>
        <p:spPr>
          <a:xfrm>
            <a:off x="1051560" y="3291840"/>
            <a:ext cx="4754880" cy="1645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Comunalidad (h²)</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h² = Σ(j=1 to k) aij²</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Es la varianza de la variable explicada por los factores comunes. Valor entre 0 y 1.</a:t>
            </a:r>
            <a:endParaRPr sz="1400">
              <a:solidFill>
                <a:schemeClr val="dk1"/>
              </a:solidFill>
              <a:latin typeface="Calibri"/>
              <a:ea typeface="Calibri"/>
              <a:cs typeface="Calibri"/>
              <a:sym typeface="Calibri"/>
            </a:endParaRPr>
          </a:p>
        </p:txBody>
      </p:sp>
      <p:sp>
        <p:nvSpPr>
          <p:cNvPr id="112" name="Google Shape;112;p12"/>
          <p:cNvSpPr/>
          <p:nvPr/>
        </p:nvSpPr>
        <p:spPr>
          <a:xfrm>
            <a:off x="6217920" y="3200400"/>
            <a:ext cx="5029200" cy="1828800"/>
          </a:xfrm>
          <a:prstGeom prst="roundRect">
            <a:avLst>
              <a:gd fmla="val 50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12"/>
          <p:cNvSpPr/>
          <p:nvPr/>
        </p:nvSpPr>
        <p:spPr>
          <a:xfrm>
            <a:off x="6355080" y="3291840"/>
            <a:ext cx="4754880" cy="1645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Especificidad (ψ)</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ψi = Var(ui)</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Es la varianza propia de cada variable, no explicada por los factores. ψ = 1 - h²</a:t>
            </a:r>
            <a:endParaRPr sz="1400">
              <a:solidFill>
                <a:schemeClr val="dk1"/>
              </a:solidFill>
              <a:latin typeface="Calibri"/>
              <a:ea typeface="Calibri"/>
              <a:cs typeface="Calibri"/>
              <a:sym typeface="Calibri"/>
            </a:endParaRPr>
          </a:p>
        </p:txBody>
      </p:sp>
      <p:sp>
        <p:nvSpPr>
          <p:cNvPr id="114" name="Google Shape;114;p12"/>
          <p:cNvSpPr/>
          <p:nvPr/>
        </p:nvSpPr>
        <p:spPr>
          <a:xfrm>
            <a:off x="914400" y="5212080"/>
            <a:ext cx="10515600" cy="73152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Propiedad importante: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h² + ψ = 1 (suma de ambas componentes de varianza)</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19" name="Shape 119"/>
        <p:cNvGrpSpPr/>
        <p:nvPr/>
      </p:nvGrpSpPr>
      <p:grpSpPr>
        <a:xfrm>
          <a:off x="0" y="0"/>
          <a:ext cx="0" cy="0"/>
          <a:chOff x="0" y="0"/>
          <a:chExt cx="0" cy="0"/>
        </a:xfrm>
      </p:grpSpPr>
      <p:sp>
        <p:nvSpPr>
          <p:cNvPr id="120" name="Google Shape;120;p1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1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NUMÉRICO: MODELO CON 2 FACTORES</a:t>
            </a:r>
            <a:endParaRPr sz="3600">
              <a:solidFill>
                <a:schemeClr val="dk1"/>
              </a:solidFill>
              <a:latin typeface="Calibri"/>
              <a:ea typeface="Calibri"/>
              <a:cs typeface="Calibri"/>
              <a:sym typeface="Calibri"/>
            </a:endParaRPr>
          </a:p>
        </p:txBody>
      </p:sp>
      <p:sp>
        <p:nvSpPr>
          <p:cNvPr id="122" name="Google Shape;122;p13"/>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Estudiantes sometidos a tests en 6 materias: Matemáticas (Ma), Física (Fi), Química (Qu), Inglés (In), Historia (Hi), Dibujo (Di)</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Ma = 0.8F</a:t>
            </a:r>
            <a:r>
              <a:rPr baseline="30000" lang="en-US" sz="12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 + 0.2F</a:t>
            </a:r>
            <a:r>
              <a:rPr baseline="30000" lang="en-US" sz="1200">
                <a:solidFill>
                  <a:srgbClr val="595652"/>
                </a:solidFill>
                <a:latin typeface="Calibri"/>
                <a:ea typeface="Calibri"/>
                <a:cs typeface="Calibri"/>
                <a:sym typeface="Calibri"/>
              </a:rPr>
              <a:t>2</a:t>
            </a:r>
            <a:r>
              <a:rPr lang="en-US" sz="1500">
                <a:solidFill>
                  <a:srgbClr val="595652"/>
                </a:solidFill>
                <a:latin typeface="Calibri"/>
                <a:ea typeface="Calibri"/>
                <a:cs typeface="Calibri"/>
                <a:sym typeface="Calibri"/>
              </a:rPr>
              <a:t> + u</a:t>
            </a:r>
            <a:r>
              <a:rPr baseline="30000" lang="en-US" sz="1200">
                <a:solidFill>
                  <a:srgbClr val="595652"/>
                </a:solidFill>
                <a:latin typeface="Calibri"/>
                <a:ea typeface="Calibri"/>
                <a:cs typeface="Calibri"/>
                <a:sym typeface="Calibri"/>
              </a:rPr>
              <a:t>Ma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Fi = 0.7F</a:t>
            </a:r>
            <a:r>
              <a:rPr baseline="30000" lang="en-US" sz="12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 + 0.3F</a:t>
            </a:r>
            <a:r>
              <a:rPr baseline="30000" lang="en-US" sz="1200">
                <a:solidFill>
                  <a:srgbClr val="595652"/>
                </a:solidFill>
                <a:latin typeface="Calibri"/>
                <a:ea typeface="Calibri"/>
                <a:cs typeface="Calibri"/>
                <a:sym typeface="Calibri"/>
              </a:rPr>
              <a:t>2</a:t>
            </a:r>
            <a:r>
              <a:rPr lang="en-US" sz="1500">
                <a:solidFill>
                  <a:srgbClr val="595652"/>
                </a:solidFill>
                <a:latin typeface="Calibri"/>
                <a:ea typeface="Calibri"/>
                <a:cs typeface="Calibri"/>
                <a:sym typeface="Calibri"/>
              </a:rPr>
              <a:t> + u</a:t>
            </a:r>
            <a:r>
              <a:rPr baseline="30000" lang="en-US" sz="1200">
                <a:solidFill>
                  <a:srgbClr val="595652"/>
                </a:solidFill>
                <a:latin typeface="Calibri"/>
                <a:ea typeface="Calibri"/>
                <a:cs typeface="Calibri"/>
                <a:sym typeface="Calibri"/>
              </a:rPr>
              <a:t>Fi</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Qu = 0.6F</a:t>
            </a:r>
            <a:r>
              <a:rPr baseline="30000" lang="en-US" sz="12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 + 0.3F</a:t>
            </a:r>
            <a:r>
              <a:rPr baseline="30000" lang="en-US" sz="1200">
                <a:solidFill>
                  <a:srgbClr val="595652"/>
                </a:solidFill>
                <a:latin typeface="Calibri"/>
                <a:ea typeface="Calibri"/>
                <a:cs typeface="Calibri"/>
                <a:sym typeface="Calibri"/>
              </a:rPr>
              <a:t>2</a:t>
            </a:r>
            <a:r>
              <a:rPr lang="en-US" sz="1500">
                <a:solidFill>
                  <a:srgbClr val="595652"/>
                </a:solidFill>
                <a:latin typeface="Calibri"/>
                <a:ea typeface="Calibri"/>
                <a:cs typeface="Calibri"/>
                <a:sym typeface="Calibri"/>
              </a:rPr>
              <a:t> + u</a:t>
            </a:r>
            <a:r>
              <a:rPr baseline="30000" lang="en-US" sz="1200">
                <a:solidFill>
                  <a:srgbClr val="595652"/>
                </a:solidFill>
                <a:latin typeface="Calibri"/>
                <a:ea typeface="Calibri"/>
                <a:cs typeface="Calibri"/>
                <a:sym typeface="Calibri"/>
              </a:rPr>
              <a:t>Qu</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In = 0.2F</a:t>
            </a:r>
            <a:r>
              <a:rPr baseline="30000" lang="en-US" sz="12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 + 0.8F</a:t>
            </a:r>
            <a:r>
              <a:rPr baseline="30000" lang="en-US" sz="1200">
                <a:solidFill>
                  <a:srgbClr val="595652"/>
                </a:solidFill>
                <a:latin typeface="Calibri"/>
                <a:ea typeface="Calibri"/>
                <a:cs typeface="Calibri"/>
                <a:sym typeface="Calibri"/>
              </a:rPr>
              <a:t>2</a:t>
            </a:r>
            <a:r>
              <a:rPr lang="en-US" sz="1500">
                <a:solidFill>
                  <a:srgbClr val="595652"/>
                </a:solidFill>
                <a:latin typeface="Calibri"/>
                <a:ea typeface="Calibri"/>
                <a:cs typeface="Calibri"/>
                <a:sym typeface="Calibri"/>
              </a:rPr>
              <a:t> + u</a:t>
            </a:r>
            <a:r>
              <a:rPr baseline="30000" lang="en-US" sz="1200">
                <a:solidFill>
                  <a:srgbClr val="595652"/>
                </a:solidFill>
                <a:latin typeface="Calibri"/>
                <a:ea typeface="Calibri"/>
                <a:cs typeface="Calibri"/>
                <a:sym typeface="Calibri"/>
              </a:rPr>
              <a:t>In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Hi = 0.15F</a:t>
            </a:r>
            <a:r>
              <a:rPr baseline="30000" lang="en-US" sz="12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 + 0.82F</a:t>
            </a:r>
            <a:r>
              <a:rPr baseline="30000" lang="en-US" sz="1200">
                <a:solidFill>
                  <a:srgbClr val="595652"/>
                </a:solidFill>
                <a:latin typeface="Calibri"/>
                <a:ea typeface="Calibri"/>
                <a:cs typeface="Calibri"/>
                <a:sym typeface="Calibri"/>
              </a:rPr>
              <a:t>2</a:t>
            </a:r>
            <a:r>
              <a:rPr lang="en-US" sz="1500">
                <a:solidFill>
                  <a:srgbClr val="595652"/>
                </a:solidFill>
                <a:latin typeface="Calibri"/>
                <a:ea typeface="Calibri"/>
                <a:cs typeface="Calibri"/>
                <a:sym typeface="Calibri"/>
              </a:rPr>
              <a:t> + u</a:t>
            </a:r>
            <a:r>
              <a:rPr baseline="30000" lang="en-US" sz="1200">
                <a:solidFill>
                  <a:srgbClr val="595652"/>
                </a:solidFill>
                <a:latin typeface="Calibri"/>
                <a:ea typeface="Calibri"/>
                <a:cs typeface="Calibri"/>
                <a:sym typeface="Calibri"/>
              </a:rPr>
              <a:t>Hi</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Di = 0.25F</a:t>
            </a:r>
            <a:r>
              <a:rPr baseline="30000" lang="en-US" sz="1200">
                <a:solidFill>
                  <a:srgbClr val="595652"/>
                </a:solidFill>
                <a:latin typeface="Calibri"/>
                <a:ea typeface="Calibri"/>
                <a:cs typeface="Calibri"/>
                <a:sym typeface="Calibri"/>
              </a:rPr>
              <a:t>1</a:t>
            </a:r>
            <a:r>
              <a:rPr lang="en-US" sz="1500">
                <a:solidFill>
                  <a:srgbClr val="595652"/>
                </a:solidFill>
                <a:latin typeface="Calibri"/>
                <a:ea typeface="Calibri"/>
                <a:cs typeface="Calibri"/>
                <a:sym typeface="Calibri"/>
              </a:rPr>
              <a:t> + 0.85F</a:t>
            </a:r>
            <a:r>
              <a:rPr baseline="30000" lang="en-US" sz="1200">
                <a:solidFill>
                  <a:srgbClr val="595652"/>
                </a:solidFill>
                <a:latin typeface="Calibri"/>
                <a:ea typeface="Calibri"/>
                <a:cs typeface="Calibri"/>
                <a:sym typeface="Calibri"/>
              </a:rPr>
              <a:t>2</a:t>
            </a:r>
            <a:r>
              <a:rPr lang="en-US" sz="1500">
                <a:solidFill>
                  <a:srgbClr val="595652"/>
                </a:solidFill>
                <a:latin typeface="Calibri"/>
                <a:ea typeface="Calibri"/>
                <a:cs typeface="Calibri"/>
                <a:sym typeface="Calibri"/>
              </a:rPr>
              <a:t> + u</a:t>
            </a:r>
            <a:r>
              <a:rPr baseline="30000" lang="en-US" sz="1200">
                <a:solidFill>
                  <a:srgbClr val="595652"/>
                </a:solidFill>
                <a:latin typeface="Calibri"/>
                <a:ea typeface="Calibri"/>
                <a:cs typeface="Calibri"/>
                <a:sym typeface="Calibri"/>
              </a:rPr>
              <a:t>Di</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i="1" lang="en-US" sz="1500">
                <a:solidFill>
                  <a:srgbClr val="595652"/>
                </a:solidFill>
                <a:latin typeface="Calibri"/>
                <a:ea typeface="Calibri"/>
                <a:cs typeface="Calibri"/>
                <a:sym typeface="Calibri"/>
              </a:rPr>
              <a:t>Supuestos: Factores comunes estandarizados e incorrelados; factores específicos con media 0 e incorrelados.</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27" name="Shape 127"/>
        <p:cNvGrpSpPr/>
        <p:nvPr/>
      </p:nvGrpSpPr>
      <p:grpSpPr>
        <a:xfrm>
          <a:off x="0" y="0"/>
          <a:ext cx="0" cy="0"/>
          <a:chOff x="0" y="0"/>
          <a:chExt cx="0" cy="0"/>
        </a:xfrm>
      </p:grpSpPr>
      <p:sp>
        <p:nvSpPr>
          <p:cNvPr id="128" name="Google Shape;128;p1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1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CÁLCULO DE COMUNALIDADES</a:t>
            </a:r>
            <a:endParaRPr sz="3600">
              <a:solidFill>
                <a:schemeClr val="dk1"/>
              </a:solidFill>
              <a:latin typeface="Calibri"/>
              <a:ea typeface="Calibri"/>
              <a:cs typeface="Calibri"/>
              <a:sym typeface="Calibri"/>
            </a:endParaRPr>
          </a:p>
        </p:txBody>
      </p:sp>
      <p:sp>
        <p:nvSpPr>
          <p:cNvPr id="130" name="Google Shape;130;p14"/>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Para Matemáticas: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a:t>
            </a:r>
            <a:r>
              <a:rPr baseline="30000" lang="en-US" sz="1300">
                <a:solidFill>
                  <a:srgbClr val="595652"/>
                </a:solidFill>
                <a:latin typeface="Calibri"/>
                <a:ea typeface="Calibri"/>
                <a:cs typeface="Calibri"/>
                <a:sym typeface="Calibri"/>
              </a:rPr>
              <a:t>²</a:t>
            </a:r>
            <a:r>
              <a:rPr lang="en-US" sz="1600">
                <a:solidFill>
                  <a:srgbClr val="595652"/>
                </a:solidFill>
                <a:latin typeface="Calibri"/>
                <a:ea typeface="Calibri"/>
                <a:cs typeface="Calibri"/>
                <a:sym typeface="Calibri"/>
              </a:rPr>
              <a:t>Ma = 0.8² + 0.2² = 0.64 + 0.04 = 0.68</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ψMa = 1 - 0.68 = 0.32</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i="1" lang="en-US" sz="1600">
                <a:solidFill>
                  <a:srgbClr val="595652"/>
                </a:solidFill>
                <a:latin typeface="Calibri"/>
                <a:ea typeface="Calibri"/>
                <a:cs typeface="Calibri"/>
                <a:sym typeface="Calibri"/>
              </a:rPr>
              <a:t>→ Matemáticas tiene 68% de varianza explicada por los factores, 32% es varianza específica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Para Dibujo: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a:t>
            </a:r>
            <a:r>
              <a:rPr baseline="30000" lang="en-US" sz="1300">
                <a:solidFill>
                  <a:srgbClr val="595652"/>
                </a:solidFill>
                <a:latin typeface="Calibri"/>
                <a:ea typeface="Calibri"/>
                <a:cs typeface="Calibri"/>
                <a:sym typeface="Calibri"/>
              </a:rPr>
              <a:t>²</a:t>
            </a:r>
            <a:r>
              <a:rPr lang="en-US" sz="1600">
                <a:solidFill>
                  <a:srgbClr val="595652"/>
                </a:solidFill>
                <a:latin typeface="Calibri"/>
                <a:ea typeface="Calibri"/>
                <a:cs typeface="Calibri"/>
                <a:sym typeface="Calibri"/>
              </a:rPr>
              <a:t>Di = 0.25² + 0.85² = 0.0625 + 0.7225 = 0.785</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ψDi = 1 - 0.785 = 0.215</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i="1" lang="en-US" sz="1600">
                <a:solidFill>
                  <a:srgbClr val="595652"/>
                </a:solidFill>
                <a:latin typeface="Calibri"/>
                <a:ea typeface="Calibri"/>
                <a:cs typeface="Calibri"/>
                <a:sym typeface="Calibri"/>
              </a:rPr>
              <a:t>→ Dibujo tiene 78.5% de varianza explicada por los factores, 21.5% es varianza específica</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35" name="Shape 135"/>
        <p:cNvGrpSpPr/>
        <p:nvPr/>
      </p:nvGrpSpPr>
      <p:grpSpPr>
        <a:xfrm>
          <a:off x="0" y="0"/>
          <a:ext cx="0" cy="0"/>
          <a:chOff x="0" y="0"/>
          <a:chExt cx="0" cy="0"/>
        </a:xfrm>
      </p:grpSpPr>
      <p:sp>
        <p:nvSpPr>
          <p:cNvPr id="136" name="Google Shape;136;p1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1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EJEMPLO: MATRIZ DE CORRELACIONES</a:t>
            </a:r>
            <a:endParaRPr sz="3200">
              <a:solidFill>
                <a:schemeClr val="dk1"/>
              </a:solidFill>
              <a:latin typeface="Calibri"/>
              <a:ea typeface="Calibri"/>
              <a:cs typeface="Calibri"/>
              <a:sym typeface="Calibri"/>
            </a:endParaRPr>
          </a:p>
        </p:txBody>
      </p:sp>
      <p:sp>
        <p:nvSpPr>
          <p:cNvPr id="138" name="Google Shape;138;p15"/>
          <p:cNvSpPr/>
          <p:nvPr/>
        </p:nvSpPr>
        <p:spPr>
          <a:xfrm>
            <a:off x="914400" y="1554480"/>
            <a:ext cx="10515600" cy="228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Como las puntuaciones están estandarizadas, la matriz de varianza-covarianza coincide con la matriz de correlaciones.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Observa cómo las variables de ciencias (Ma, Fi, Qu) tienen correlaciones altas entre sí, y las de humanidades (In, Hi, Di) también se correlacionan entre sí.</a:t>
            </a:r>
            <a:endParaRPr sz="1800">
              <a:solidFill>
                <a:schemeClr val="dk1"/>
              </a:solidFill>
              <a:latin typeface="Calibri"/>
              <a:ea typeface="Calibri"/>
              <a:cs typeface="Calibri"/>
              <a:sym typeface="Calibri"/>
            </a:endParaRPr>
          </a:p>
        </p:txBody>
      </p:sp>
      <p:pic>
        <p:nvPicPr>
          <p:cNvPr descr="/sessions/clever-sweet-sagan/clase4_images/slide21_img1.png" id="139" name="Google Shape;139;p15"/>
          <p:cNvPicPr preferRelativeResize="0"/>
          <p:nvPr/>
        </p:nvPicPr>
        <p:blipFill rotWithShape="1">
          <a:blip r:embed="rId3">
            <a:alphaModFix/>
          </a:blip>
          <a:srcRect b="0" l="0" r="0" t="0"/>
          <a:stretch/>
        </p:blipFill>
        <p:spPr>
          <a:xfrm>
            <a:off x="2054399" y="2854553"/>
            <a:ext cx="8052722" cy="34462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44" name="Shape 144"/>
        <p:cNvGrpSpPr/>
        <p:nvPr/>
      </p:nvGrpSpPr>
      <p:grpSpPr>
        <a:xfrm>
          <a:off x="0" y="0"/>
          <a:ext cx="0" cy="0"/>
          <a:chOff x="0" y="0"/>
          <a:chExt cx="0" cy="0"/>
        </a:xfrm>
      </p:grpSpPr>
      <p:sp>
        <p:nvSpPr>
          <p:cNvPr id="145" name="Google Shape;145;p16"/>
          <p:cNvSpPr/>
          <p:nvPr/>
        </p:nvSpPr>
        <p:spPr>
          <a:xfrm>
            <a:off x="228600" y="228600"/>
            <a:ext cx="11731752" cy="6400800"/>
          </a:xfrm>
          <a:prstGeom prst="rect">
            <a:avLst/>
          </a:prstGeom>
          <a:solidFill>
            <a:srgbClr val="A6B727"/>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16"/>
          <p:cNvSpPr/>
          <p:nvPr/>
        </p:nvSpPr>
        <p:spPr>
          <a:xfrm>
            <a:off x="1371600" y="1371600"/>
            <a:ext cx="941832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Análisis de la Matriz</a:t>
            </a:r>
            <a:endParaRPr sz="54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de Correlación</a:t>
            </a:r>
            <a:endParaRPr sz="5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51" name="Shape 151"/>
        <p:cNvGrpSpPr/>
        <p:nvPr/>
      </p:nvGrpSpPr>
      <p:grpSpPr>
        <a:xfrm>
          <a:off x="0" y="0"/>
          <a:ext cx="0" cy="0"/>
          <a:chOff x="0" y="0"/>
          <a:chExt cx="0" cy="0"/>
        </a:xfrm>
      </p:grpSpPr>
      <p:sp>
        <p:nvSpPr>
          <p:cNvPr id="152" name="Google Shape;152;p1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1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ANÁLISIS DE LA MATRIZ DE CORRELACIÓN</a:t>
            </a:r>
            <a:endParaRPr sz="3600">
              <a:solidFill>
                <a:schemeClr val="dk1"/>
              </a:solidFill>
              <a:latin typeface="Calibri"/>
              <a:ea typeface="Calibri"/>
              <a:cs typeface="Calibri"/>
              <a:sym typeface="Calibri"/>
            </a:endParaRPr>
          </a:p>
        </p:txBody>
      </p:sp>
      <p:sp>
        <p:nvSpPr>
          <p:cNvPr id="154" name="Google Shape;154;p17"/>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La finalidad es comprobar si las características de la matriz de correlaciones son adecuadas para realizar un Análisis Factorial.</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Requisitos principales: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Las variables deben estar altamente correlacionadas entre sí.</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Variables con correlación alta entre sí deberían tener la misma con el mismo factor.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Si las correlaciones entre todas las variables son bajas, tal vez no sea apropiado aplicar Análisis Factorial a esos datos.</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59" name="Shape 159"/>
        <p:cNvGrpSpPr/>
        <p:nvPr/>
      </p:nvGrpSpPr>
      <p:grpSpPr>
        <a:xfrm>
          <a:off x="0" y="0"/>
          <a:ext cx="0" cy="0"/>
          <a:chOff x="0" y="0"/>
          <a:chExt cx="0" cy="0"/>
        </a:xfrm>
      </p:grpSpPr>
      <p:sp>
        <p:nvSpPr>
          <p:cNvPr id="160" name="Google Shape;160;p18"/>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18"/>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TEST DE ESFERICIDAD DE BARTLETT</a:t>
            </a:r>
            <a:endParaRPr sz="3600">
              <a:solidFill>
                <a:schemeClr val="dk1"/>
              </a:solidFill>
              <a:latin typeface="Calibri"/>
              <a:ea typeface="Calibri"/>
              <a:cs typeface="Calibri"/>
              <a:sym typeface="Calibri"/>
            </a:endParaRPr>
          </a:p>
        </p:txBody>
      </p:sp>
      <p:sp>
        <p:nvSpPr>
          <p:cNvPr id="162" name="Google Shape;162;p18"/>
          <p:cNvSpPr/>
          <p:nvPr/>
        </p:nvSpPr>
        <p:spPr>
          <a:xfrm>
            <a:off x="914400" y="1554480"/>
            <a:ext cx="64008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Contrasta, bajo hipótesis de normalidad multivariante, si la matriz de correlación R es la matriz identidad.</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R = I</a:t>
            </a:r>
            <a:r>
              <a:rPr baseline="30000" lang="en-US" sz="1300">
                <a:solidFill>
                  <a:srgbClr val="595652"/>
                </a:solidFill>
                <a:latin typeface="Calibri"/>
                <a:ea typeface="Calibri"/>
                <a:cs typeface="Calibri"/>
                <a:sym typeface="Calibri"/>
              </a:rPr>
              <a:t>p</a:t>
            </a:r>
            <a:r>
              <a:rPr lang="en-US" sz="1600">
                <a:solidFill>
                  <a:srgbClr val="595652"/>
                </a:solidFill>
                <a:latin typeface="Calibri"/>
                <a:ea typeface="Calibri"/>
                <a:cs typeface="Calibri"/>
                <a:sym typeface="Calibri"/>
              </a:rPr>
              <a:t> → las variables no están intercorrelacionadas → Análisis Factorial NO es apropiado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Hipótesis: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a:t>
            </a:r>
            <a:r>
              <a:rPr baseline="-25000" lang="en-US" sz="1300">
                <a:solidFill>
                  <a:srgbClr val="595652"/>
                </a:solidFill>
                <a:latin typeface="Calibri"/>
                <a:ea typeface="Calibri"/>
                <a:cs typeface="Calibri"/>
                <a:sym typeface="Calibri"/>
              </a:rPr>
              <a:t>0</a:t>
            </a:r>
            <a:r>
              <a:rPr lang="en-US" sz="1600">
                <a:solidFill>
                  <a:srgbClr val="595652"/>
                </a:solidFill>
                <a:latin typeface="Calibri"/>
                <a:ea typeface="Calibri"/>
                <a:cs typeface="Calibri"/>
                <a:sym typeface="Calibri"/>
              </a:rPr>
              <a:t>: |R| = 1  ó  R = I</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a:t>
            </a:r>
            <a:r>
              <a:rPr baseline="-25000" lang="en-US" sz="1300">
                <a:solidFill>
                  <a:srgbClr val="595652"/>
                </a:solidFill>
                <a:latin typeface="Calibri"/>
                <a:ea typeface="Calibri"/>
                <a:cs typeface="Calibri"/>
                <a:sym typeface="Calibri"/>
              </a:rPr>
              <a:t>1</a:t>
            </a:r>
            <a:r>
              <a:rPr lang="en-US" sz="1600">
                <a:solidFill>
                  <a:srgbClr val="595652"/>
                </a:solidFill>
                <a:latin typeface="Calibri"/>
                <a:ea typeface="Calibri"/>
                <a:cs typeface="Calibri"/>
                <a:sym typeface="Calibri"/>
              </a:rPr>
              <a:t>: |R| ≠ 1  ó  R ≠ I</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estadístico se basa en una transformación del determinante de R usando valores propios. Un p-valor pequeño (p &lt; 0.05) rechaza H</a:t>
            </a:r>
            <a:r>
              <a:rPr baseline="-25000" lang="en-US" sz="1300">
                <a:solidFill>
                  <a:srgbClr val="595652"/>
                </a:solidFill>
                <a:latin typeface="Calibri"/>
                <a:ea typeface="Calibri"/>
                <a:cs typeface="Calibri"/>
                <a:sym typeface="Calibri"/>
              </a:rPr>
              <a:t>0</a:t>
            </a:r>
            <a:r>
              <a:rPr lang="en-US" sz="1600">
                <a:solidFill>
                  <a:srgbClr val="595652"/>
                </a:solidFill>
                <a:latin typeface="Calibri"/>
                <a:ea typeface="Calibri"/>
                <a:cs typeface="Calibri"/>
                <a:sym typeface="Calibri"/>
              </a:rPr>
              <a:t> → buenos datos para AF</a:t>
            </a:r>
            <a:endParaRPr sz="1800">
              <a:solidFill>
                <a:schemeClr val="dk1"/>
              </a:solidFill>
              <a:latin typeface="Calibri"/>
              <a:ea typeface="Calibri"/>
              <a:cs typeface="Calibri"/>
              <a:sym typeface="Calibri"/>
            </a:endParaRPr>
          </a:p>
        </p:txBody>
      </p:sp>
      <p:pic>
        <p:nvPicPr>
          <p:cNvPr descr="/sessions/clever-sweet-sagan/clase4_images/slide24_img2.png" id="163" name="Google Shape;163;p18"/>
          <p:cNvPicPr preferRelativeResize="0"/>
          <p:nvPr/>
        </p:nvPicPr>
        <p:blipFill rotWithShape="1">
          <a:blip r:embed="rId3">
            <a:alphaModFix/>
          </a:blip>
          <a:srcRect b="0" l="0" r="0" t="0"/>
          <a:stretch/>
        </p:blipFill>
        <p:spPr>
          <a:xfrm>
            <a:off x="6888480" y="3452574"/>
            <a:ext cx="4389120" cy="77581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68" name="Shape 168"/>
        <p:cNvGrpSpPr/>
        <p:nvPr/>
      </p:nvGrpSpPr>
      <p:grpSpPr>
        <a:xfrm>
          <a:off x="0" y="0"/>
          <a:ext cx="0" cy="0"/>
          <a:chOff x="0" y="0"/>
          <a:chExt cx="0" cy="0"/>
        </a:xfrm>
      </p:grpSpPr>
      <p:sp>
        <p:nvSpPr>
          <p:cNvPr id="169" name="Google Shape;169;p19"/>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19"/>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CORRELACIÓN PARCIAL Y MEDIDA KMO</a:t>
            </a:r>
            <a:endParaRPr sz="3200">
              <a:solidFill>
                <a:schemeClr val="dk1"/>
              </a:solidFill>
              <a:latin typeface="Calibri"/>
              <a:ea typeface="Calibri"/>
              <a:cs typeface="Calibri"/>
              <a:sym typeface="Calibri"/>
            </a:endParaRPr>
          </a:p>
        </p:txBody>
      </p:sp>
      <p:sp>
        <p:nvSpPr>
          <p:cNvPr id="171" name="Google Shape;171;p19"/>
          <p:cNvSpPr/>
          <p:nvPr/>
        </p:nvSpPr>
        <p:spPr>
          <a:xfrm>
            <a:off x="914400" y="1554480"/>
            <a:ext cx="64008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coeficiente de correlación parcial mide la relación entre dos variables eliminando la influencia del resto.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variables comparten factores comunes, las correlaciones parciales son bajas (porque la relación es explicada por los factores).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Medida de Adecuación de la Muestra (KMO - Kaiser-Meyer-Olkin):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Compara correlaciones simples con correlaciones parciales.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Varía de 0 a 1. Valores cercanos a 1 indican que el AF es apropiado.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Interpretación del KMO: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 KMO ≥ 0.75 → Bien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 KMO ≥ 0.5 → Aceptable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 KMO &lt; 0.5 → Inaceptable (AF no es apropiado)</a:t>
            </a:r>
            <a:endParaRPr sz="1800">
              <a:solidFill>
                <a:schemeClr val="dk1"/>
              </a:solidFill>
              <a:latin typeface="Calibri"/>
              <a:ea typeface="Calibri"/>
              <a:cs typeface="Calibri"/>
              <a:sym typeface="Calibri"/>
            </a:endParaRPr>
          </a:p>
        </p:txBody>
      </p:sp>
      <p:pic>
        <p:nvPicPr>
          <p:cNvPr descr="/sessions/clever-sweet-sagan/clase4_images/slide27_img3.png" id="172" name="Google Shape;172;p19"/>
          <p:cNvPicPr preferRelativeResize="0"/>
          <p:nvPr/>
        </p:nvPicPr>
        <p:blipFill rotWithShape="1">
          <a:blip r:embed="rId3">
            <a:alphaModFix/>
          </a:blip>
          <a:srcRect b="0" l="0" r="0" t="0"/>
          <a:stretch/>
        </p:blipFill>
        <p:spPr>
          <a:xfrm>
            <a:off x="7315200" y="3417570"/>
            <a:ext cx="4389120" cy="14544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77" name="Shape 177"/>
        <p:cNvGrpSpPr/>
        <p:nvPr/>
      </p:nvGrpSpPr>
      <p:grpSpPr>
        <a:xfrm>
          <a:off x="0" y="0"/>
          <a:ext cx="0" cy="0"/>
          <a:chOff x="0" y="0"/>
          <a:chExt cx="0" cy="0"/>
        </a:xfrm>
      </p:grpSpPr>
      <p:sp>
        <p:nvSpPr>
          <p:cNvPr id="178" name="Google Shape;178;p20"/>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20"/>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EN R: TEST KMO EN DATOS DE NOTAS</a:t>
            </a:r>
            <a:endParaRPr sz="3600">
              <a:solidFill>
                <a:schemeClr val="dk1"/>
              </a:solidFill>
              <a:latin typeface="Calibri"/>
              <a:ea typeface="Calibri"/>
              <a:cs typeface="Calibri"/>
              <a:sym typeface="Calibri"/>
            </a:endParaRPr>
          </a:p>
        </p:txBody>
      </p:sp>
      <p:sp>
        <p:nvSpPr>
          <p:cNvPr id="180" name="Google Shape;180;p20"/>
          <p:cNvSpPr/>
          <p:nvPr/>
        </p:nvSpPr>
        <p:spPr>
          <a:xfrm>
            <a:off x="914400" y="1554480"/>
            <a:ext cx="50292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library(readxl)</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library(psych)</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datos &lt;- read_excel("notas.xlsx")</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KMO(datos)</a:t>
            </a:r>
            <a:endParaRPr sz="1300">
              <a:solidFill>
                <a:schemeClr val="dk1"/>
              </a:solidFill>
              <a:latin typeface="Calibri"/>
              <a:ea typeface="Calibri"/>
              <a:cs typeface="Calibri"/>
              <a:sym typeface="Calibri"/>
            </a:endParaRPr>
          </a:p>
        </p:txBody>
      </p:sp>
      <p:sp>
        <p:nvSpPr>
          <p:cNvPr id="181" name="Google Shape;181;p20"/>
          <p:cNvSpPr/>
          <p:nvPr/>
        </p:nvSpPr>
        <p:spPr>
          <a:xfrm>
            <a:off x="914400" y="3566160"/>
            <a:ext cx="5029200" cy="914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Resultado inicial:</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C00000"/>
              </a:buClr>
              <a:buSzPts val="1600"/>
              <a:buFont typeface="Calibri"/>
              <a:buNone/>
            </a:pPr>
            <a:r>
              <a:rPr b="1" lang="en-US" sz="1600">
                <a:solidFill>
                  <a:srgbClr val="C00000"/>
                </a:solidFill>
                <a:latin typeface="Calibri"/>
                <a:ea typeface="Calibri"/>
                <a:cs typeface="Calibri"/>
                <a:sym typeface="Calibri"/>
              </a:rPr>
              <a:t>Overall MSA = 0.35</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 datos NO adecuados (0.35 &lt; 0.50)</a:t>
            </a:r>
            <a:endParaRPr sz="1800">
              <a:solidFill>
                <a:schemeClr val="dk1"/>
              </a:solidFill>
              <a:latin typeface="Calibri"/>
              <a:ea typeface="Calibri"/>
              <a:cs typeface="Calibri"/>
              <a:sym typeface="Calibri"/>
            </a:endParaRPr>
          </a:p>
        </p:txBody>
      </p:sp>
      <p:pic>
        <p:nvPicPr>
          <p:cNvPr descr="/sessions/clever-sweet-sagan/clase4_images/slide29_img5.png" id="182" name="Google Shape;182;p20"/>
          <p:cNvPicPr preferRelativeResize="0"/>
          <p:nvPr/>
        </p:nvPicPr>
        <p:blipFill rotWithShape="1">
          <a:blip r:embed="rId3">
            <a:alphaModFix/>
          </a:blip>
          <a:srcRect b="0" l="0" r="0" t="0"/>
          <a:stretch/>
        </p:blipFill>
        <p:spPr>
          <a:xfrm>
            <a:off x="914400" y="4572000"/>
            <a:ext cx="5029200" cy="1443038"/>
          </a:xfrm>
          <a:prstGeom prst="rect">
            <a:avLst/>
          </a:prstGeom>
          <a:noFill/>
          <a:ln>
            <a:noFill/>
          </a:ln>
        </p:spPr>
      </p:pic>
      <p:sp>
        <p:nvSpPr>
          <p:cNvPr id="183" name="Google Shape;183;p20"/>
          <p:cNvSpPr/>
          <p:nvPr/>
        </p:nvSpPr>
        <p:spPr>
          <a:xfrm>
            <a:off x="6400800" y="1554480"/>
            <a:ext cx="43891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Después de eliminar variables poco correlacionadas (lenguaje, música, ed. física):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6100"/>
              </a:buClr>
              <a:buSzPts val="1600"/>
              <a:buFont typeface="Calibri"/>
              <a:buNone/>
            </a:pPr>
            <a:r>
              <a:rPr b="1" lang="en-US" sz="1600">
                <a:solidFill>
                  <a:srgbClr val="006100"/>
                </a:solidFill>
                <a:latin typeface="Calibri"/>
                <a:ea typeface="Calibri"/>
                <a:cs typeface="Calibri"/>
                <a:sym typeface="Calibri"/>
              </a:rPr>
              <a:t>Overall MSA = 0.61</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 datos ADECUADOS (0.61 &gt; 0.50)</a:t>
            </a:r>
            <a:endParaRPr sz="1800">
              <a:solidFill>
                <a:schemeClr val="dk1"/>
              </a:solidFill>
              <a:latin typeface="Calibri"/>
              <a:ea typeface="Calibri"/>
              <a:cs typeface="Calibri"/>
              <a:sym typeface="Calibri"/>
            </a:endParaRPr>
          </a:p>
        </p:txBody>
      </p:sp>
      <p:pic>
        <p:nvPicPr>
          <p:cNvPr descr="/sessions/clever-sweet-sagan/clase4_images/slide30_img6.png" id="184" name="Google Shape;184;p20"/>
          <p:cNvPicPr preferRelativeResize="0"/>
          <p:nvPr/>
        </p:nvPicPr>
        <p:blipFill rotWithShape="1">
          <a:blip r:embed="rId4">
            <a:alphaModFix/>
          </a:blip>
          <a:srcRect b="0" l="0" r="0" t="0"/>
          <a:stretch/>
        </p:blipFill>
        <p:spPr>
          <a:xfrm>
            <a:off x="6400800" y="3566160"/>
            <a:ext cx="4389120" cy="20116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89" name="Shape 189"/>
        <p:cNvGrpSpPr/>
        <p:nvPr/>
      </p:nvGrpSpPr>
      <p:grpSpPr>
        <a:xfrm>
          <a:off x="0" y="0"/>
          <a:ext cx="0" cy="0"/>
          <a:chOff x="0" y="0"/>
          <a:chExt cx="0" cy="0"/>
        </a:xfrm>
      </p:grpSpPr>
      <p:sp>
        <p:nvSpPr>
          <p:cNvPr id="190" name="Google Shape;190;p21"/>
          <p:cNvSpPr/>
          <p:nvPr/>
        </p:nvSpPr>
        <p:spPr>
          <a:xfrm>
            <a:off x="228600" y="228600"/>
            <a:ext cx="11731752" cy="6400800"/>
          </a:xfrm>
          <a:prstGeom prst="rect">
            <a:avLst/>
          </a:prstGeom>
          <a:solidFill>
            <a:srgbClr val="A6B727"/>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21"/>
          <p:cNvSpPr/>
          <p:nvPr/>
        </p:nvSpPr>
        <p:spPr>
          <a:xfrm>
            <a:off x="1371600" y="1371600"/>
            <a:ext cx="941832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Extracción de Factores</a:t>
            </a:r>
            <a:endParaRPr sz="54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96" name="Shape 196"/>
        <p:cNvGrpSpPr/>
        <p:nvPr/>
      </p:nvGrpSpPr>
      <p:grpSpPr>
        <a:xfrm>
          <a:off x="0" y="0"/>
          <a:ext cx="0" cy="0"/>
          <a:chOff x="0" y="0"/>
          <a:chExt cx="0" cy="0"/>
        </a:xfrm>
      </p:grpSpPr>
      <p:sp>
        <p:nvSpPr>
          <p:cNvPr id="197" name="Google Shape;197;p2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2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PROBLEMAS DE LA EXTRACCIÓN DE FACTORES</a:t>
            </a:r>
            <a:endParaRPr sz="3600">
              <a:solidFill>
                <a:schemeClr val="dk1"/>
              </a:solidFill>
              <a:latin typeface="Calibri"/>
              <a:ea typeface="Calibri"/>
              <a:cs typeface="Calibri"/>
              <a:sym typeface="Calibri"/>
            </a:endParaRPr>
          </a:p>
        </p:txBody>
      </p:sp>
      <p:sp>
        <p:nvSpPr>
          <p:cNvPr id="199" name="Google Shape;199;p22"/>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Grados de libertad:</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p(p+1)/2 ≥ p(k+1), es decir, k ≤ (p-1)/2</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número de factores no puede ser demasiado grande respecto al número de variables.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No unicidad de la solución: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T es una matriz ortogonal (TT' = I), entonces A* = AT es también solución del modelo.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Esto es la base de los métodos de rotación.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i="1" lang="en-US" sz="1700">
                <a:solidFill>
                  <a:srgbClr val="595652"/>
                </a:solidFill>
                <a:latin typeface="Calibri"/>
                <a:ea typeface="Calibri"/>
                <a:cs typeface="Calibri"/>
                <a:sym typeface="Calibri"/>
              </a:rPr>
              <a:t>El modelo es único salvo rotaciones ortogonales.</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04" name="Shape 204"/>
        <p:cNvGrpSpPr/>
        <p:nvPr/>
      </p:nvGrpSpPr>
      <p:grpSpPr>
        <a:xfrm>
          <a:off x="0" y="0"/>
          <a:ext cx="0" cy="0"/>
          <a:chOff x="0" y="0"/>
          <a:chExt cx="0" cy="0"/>
        </a:xfrm>
      </p:grpSpPr>
      <p:sp>
        <p:nvSpPr>
          <p:cNvPr id="205" name="Google Shape;205;p2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2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DE ROTACIÓN DE FACTORES</a:t>
            </a:r>
            <a:endParaRPr sz="3600">
              <a:solidFill>
                <a:schemeClr val="dk1"/>
              </a:solidFill>
              <a:latin typeface="Calibri"/>
              <a:ea typeface="Calibri"/>
              <a:cs typeface="Calibri"/>
              <a:sym typeface="Calibri"/>
            </a:endParaRPr>
          </a:p>
        </p:txBody>
      </p:sp>
      <p:sp>
        <p:nvSpPr>
          <p:cNvPr id="207" name="Google Shape;207;p23"/>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Usando el ejemplo anterior con una matriz de rotación ortogonal:</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T = [1/√2    1/√2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[-1/√2   1/√2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Se obtiene A* = AT (matriz de cargas rotada).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Propiedades de la rotación: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Cambia la matriz de cargas (interpretabilidad mejora)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NO cambia las comunalidades ni la varianza explicada total</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Diferentes métodos: Varimax, Quartimax, Equamax, Oblimin, Promax</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12" name="Shape 212"/>
        <p:cNvGrpSpPr/>
        <p:nvPr/>
      </p:nvGrpSpPr>
      <p:grpSpPr>
        <a:xfrm>
          <a:off x="0" y="0"/>
          <a:ext cx="0" cy="0"/>
          <a:chOff x="0" y="0"/>
          <a:chExt cx="0" cy="0"/>
        </a:xfrm>
      </p:grpSpPr>
      <p:sp>
        <p:nvSpPr>
          <p:cNvPr id="213" name="Google Shape;213;p2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2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MÉTODOS DE EXTRACCIÓN DE FACTORES</a:t>
            </a:r>
            <a:endParaRPr sz="3600">
              <a:solidFill>
                <a:schemeClr val="dk1"/>
              </a:solidFill>
              <a:latin typeface="Calibri"/>
              <a:ea typeface="Calibri"/>
              <a:cs typeface="Calibri"/>
              <a:sym typeface="Calibri"/>
            </a:endParaRPr>
          </a:p>
        </p:txBody>
      </p:sp>
      <p:sp>
        <p:nvSpPr>
          <p:cNvPr id="215" name="Google Shape;215;p24"/>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Existen diferentes métodos para obtener los factores comunes: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1. Método de Componentes Principales (PCA)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2. Método de los Ejes Principales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3. Método de Máxima Verosimilitud</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Cada método tiene ventajas y limitaciones. La elección depende de los objetivos y características de los datos.</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20" name="Shape 220"/>
        <p:cNvGrpSpPr/>
        <p:nvPr/>
      </p:nvGrpSpPr>
      <p:grpSpPr>
        <a:xfrm>
          <a:off x="0" y="0"/>
          <a:ext cx="0" cy="0"/>
          <a:chOff x="0" y="0"/>
          <a:chExt cx="0" cy="0"/>
        </a:xfrm>
      </p:grpSpPr>
      <p:sp>
        <p:nvSpPr>
          <p:cNvPr id="221" name="Google Shape;221;p2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2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MÉTODO DE COMPONENTES PRINCIPALES</a:t>
            </a:r>
            <a:endParaRPr sz="3600">
              <a:solidFill>
                <a:schemeClr val="dk1"/>
              </a:solidFill>
              <a:latin typeface="Calibri"/>
              <a:ea typeface="Calibri"/>
              <a:cs typeface="Calibri"/>
              <a:sym typeface="Calibri"/>
            </a:endParaRPr>
          </a:p>
        </p:txBody>
      </p:sp>
      <p:sp>
        <p:nvSpPr>
          <p:cNvPr id="223" name="Google Shape;223;p25"/>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Estima las puntuaciones factoriales mediante las puntuaciones tipificadas de las primeras k-componentes principales.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Ventaja: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Siempre proporciona una solución (sin problemas de convergencia).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Inconveniente: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No está basado en el modelo de AF.</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Puede llevar a estimadores sesgados si hay comunalidades bajas.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Analiza toda la varianza, no solo la común.</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28" name="Shape 228"/>
        <p:cNvGrpSpPr/>
        <p:nvPr/>
      </p:nvGrpSpPr>
      <p:grpSpPr>
        <a:xfrm>
          <a:off x="0" y="0"/>
          <a:ext cx="0" cy="0"/>
          <a:chOff x="0" y="0"/>
          <a:chExt cx="0" cy="0"/>
        </a:xfrm>
      </p:grpSpPr>
      <p:sp>
        <p:nvSpPr>
          <p:cNvPr id="229" name="Google Shape;229;p2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2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MÉTODO DE LOS EJES PRINCIPALES</a:t>
            </a:r>
            <a:endParaRPr sz="3600">
              <a:solidFill>
                <a:schemeClr val="dk1"/>
              </a:solidFill>
              <a:latin typeface="Calibri"/>
              <a:ea typeface="Calibri"/>
              <a:cs typeface="Calibri"/>
              <a:sym typeface="Calibri"/>
            </a:endParaRPr>
          </a:p>
        </p:txBody>
      </p:sp>
      <p:sp>
        <p:nvSpPr>
          <p:cNvPr id="231" name="Google Shape;231;p26"/>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Se basa en el modelo factorial estricto: R</a:t>
            </a:r>
            <a:r>
              <a:rPr baseline="30000" lang="en-US" sz="1400">
                <a:solidFill>
                  <a:srgbClr val="595652"/>
                </a:solidFill>
                <a:latin typeface="Calibri"/>
                <a:ea typeface="Calibri"/>
                <a:cs typeface="Calibri"/>
                <a:sym typeface="Calibri"/>
              </a:rPr>
              <a:t>p</a:t>
            </a:r>
            <a:r>
              <a:rPr lang="en-US" sz="1700">
                <a:solidFill>
                  <a:srgbClr val="595652"/>
                </a:solidFill>
                <a:latin typeface="Calibri"/>
                <a:ea typeface="Calibri"/>
                <a:cs typeface="Calibri"/>
                <a:sym typeface="Calibri"/>
              </a:rPr>
              <a:t> = AA' + ψ</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En la práctica, reemplaza la matriz teórica R</a:t>
            </a:r>
            <a:r>
              <a:rPr baseline="30000" lang="en-US" sz="1400">
                <a:solidFill>
                  <a:srgbClr val="595652"/>
                </a:solidFill>
                <a:latin typeface="Calibri"/>
                <a:ea typeface="Calibri"/>
                <a:cs typeface="Calibri"/>
                <a:sym typeface="Calibri"/>
              </a:rPr>
              <a:t>p</a:t>
            </a:r>
            <a:r>
              <a:rPr lang="en-US" sz="1700">
                <a:solidFill>
                  <a:srgbClr val="595652"/>
                </a:solidFill>
                <a:latin typeface="Calibri"/>
                <a:ea typeface="Calibri"/>
                <a:cs typeface="Calibri"/>
                <a:sym typeface="Calibri"/>
              </a:rPr>
              <a:t> por la matriz de correlaciones muestral 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R - ψ ≈ AA'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Reemplaza los 1s en la diagonal por estimaciones de comunalidades.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El método es iterativo: comienza con estimaciones iniciales de comunalidades, luego itera hasta convergencia.</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36" name="Shape 236"/>
        <p:cNvGrpSpPr/>
        <p:nvPr/>
      </p:nvGrpSpPr>
      <p:grpSpPr>
        <a:xfrm>
          <a:off x="0" y="0"/>
          <a:ext cx="0" cy="0"/>
          <a:chOff x="0" y="0"/>
          <a:chExt cx="0" cy="0"/>
        </a:xfrm>
      </p:grpSpPr>
      <p:sp>
        <p:nvSpPr>
          <p:cNvPr id="237" name="Google Shape;237;p2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2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MÉTODO DE MÁXIMA VEROSIMILITUD</a:t>
            </a:r>
            <a:endParaRPr sz="3200">
              <a:solidFill>
                <a:schemeClr val="dk1"/>
              </a:solidFill>
              <a:latin typeface="Calibri"/>
              <a:ea typeface="Calibri"/>
              <a:cs typeface="Calibri"/>
              <a:sym typeface="Calibri"/>
            </a:endParaRPr>
          </a:p>
        </p:txBody>
      </p:sp>
      <p:sp>
        <p:nvSpPr>
          <p:cNvPr id="239" name="Google Shape;239;p27"/>
          <p:cNvSpPr/>
          <p:nvPr/>
        </p:nvSpPr>
        <p:spPr>
          <a:xfrm>
            <a:off x="914400" y="1554480"/>
            <a:ext cx="105156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Asume distribución normal multivariada de las variables.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Busca A y Ψ que maximizan la verosimilitud de observar los datos obtenidos.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Modelo teórico: Σ = AA' + Ψ</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Incluye prueba χ² de bondad de ajuste: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a:t>
            </a:r>
            <a:r>
              <a:rPr baseline="-25000" lang="en-US" sz="1300">
                <a:solidFill>
                  <a:srgbClr val="595652"/>
                </a:solidFill>
                <a:latin typeface="Calibri"/>
                <a:ea typeface="Calibri"/>
                <a:cs typeface="Calibri"/>
                <a:sym typeface="Calibri"/>
              </a:rPr>
              <a:t>0</a:t>
            </a:r>
            <a:r>
              <a:rPr lang="en-US" sz="1600">
                <a:solidFill>
                  <a:srgbClr val="595652"/>
                </a:solidFill>
                <a:latin typeface="Calibri"/>
                <a:ea typeface="Calibri"/>
                <a:cs typeface="Calibri"/>
                <a:sym typeface="Calibri"/>
              </a:rPr>
              <a:t>: Σ = AA' + Ψ  (el modelo es adecuado)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p-valor &gt; 0.05 → modelo no se rechaza (buen ajuste)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Procedimiento: partir de S, proponer modelo, buscar que Σ ≈ S, iterar hasta convergencia.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2026-04-02T22:31:35Z</dcterms:created>
  <dc:creator>Métodos Estadísticos</dc:creator>
</cp:coreProperties>
</file>