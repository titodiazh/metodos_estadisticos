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B7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132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Conglomerados</a:t>
            </a:r>
            <a:endParaRPr lang="es-CL" sz="5400" noProof="0" dirty="0"/>
          </a:p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s-CL" sz="5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s-CL" sz="2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2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ANÁLISIS DE CONGLOMERADOS?</a:t>
            </a:r>
            <a:endParaRPr lang="es-CL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de Conglomerados (</a:t>
            </a:r>
            <a:r>
              <a:rPr lang="es-CL" sz="1700" i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es una técnica de 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no supervisado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agrupa observaciones en subconjuntos (clústeres) de manera que: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dentro del mismo clúster sean similares entre sí (homogeneidad interna).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en distintos clústeres sean diferentes entre sí (separación entre grupos).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la clasificación supervisada, no contamos con etiquetas previas: los grupos emergen de los datos.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7589520" y="16459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7726680" y="173736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práctica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marketing: segmentar clientes para campañas personalizadas. En biología: clasificar especies por características. En física: agrupar partículas similares. En sociología: identificar grupos demográficos.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FORMAL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X = {x₁, x₂, ..., xₙ} un conjunto de n observaciones en ℝᵖ (p variables). </a:t>
            </a:r>
            <a:r>
              <a:rPr lang="es-CL" sz="17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busca una partición C = {C₁, C₂, ..., Cₖ} tal que: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Cobertura: ⋃ⱼ₌₁ᵏ Cⱼ = X (cada observación pertenece a algún clúster)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s-CL" sz="17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Disjuntividad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Cᵢ ∩ Cⱼ = ∅ para i ≠ j (clústeres no se solapan)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 vacío: Cⱼ ≠ ∅ para todo j (cada clúster contiene al menos una observación)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es minimizar variabilidad interna (cohesión) y maximizar variabilidad externa (separación).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DEL ANÁLISIS DE CONGLOMERADOS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PREPARACIÓN DE DATOS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Limpiar, eliminar valores faltantes, estandarizar variables para que tengan escala comparable.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DEFINICIÓN DE DISTANCIA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Elegir medida de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similaridad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distancia entre observaciones (Euclídea, Manhattan, correlación, etc.).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SELECCIÓN DEL ALGORITMO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Decidir entre jerárquicos (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aglomerativos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desagregativos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 particionados (K-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etc.).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DETERMINACIÓN DEL NÚMERO ÓPTIMO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Usar criterios como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elegir k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VALIDACIÓN E INTERPRETACIÓN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Evaluar estabilidad, interpretabilidad y relevancia de los grupos obtenidos.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 </a:t>
            </a:r>
            <a:r>
              <a:rPr lang="es-CL" sz="5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Similaridad</a:t>
            </a:r>
            <a:endParaRPr lang="es-CL" sz="5400" noProof="0" dirty="0"/>
          </a:p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Distancia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s-CL" sz="24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MEDIDAS DE DISTANCIA EN CLUSTERING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217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capítulos anteriores estudiamos medidas de distancia. Aquí hacemos un repaso rápido centrado en su uso en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 elección de distancia es clave para los resultados: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datos: numéricos, binarios, categóricos.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variables: estandarización puede cambiar resultados drásticamente.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qué tipo de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similaridad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importa para la aplicación.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8 empresas con X₁ (activos en millones €) y X₂ (trabajadores). ¿Cuáles son similares?</a:t>
            </a:r>
            <a:endParaRPr lang="es-CL" sz="1800" noProof="0" dirty="0"/>
          </a:p>
        </p:txBody>
      </p:sp>
      <p:pic>
        <p:nvPicPr>
          <p:cNvPr id="5" name="Image 0" descr="/sessions/clever-sweet-sagan/clase5_images/slide05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554480"/>
            <a:ext cx="4572000" cy="3474720"/>
          </a:xfrm>
          <a:prstGeom prst="rect">
            <a:avLst/>
          </a:prstGeom>
        </p:spPr>
      </p:pic>
      <p:pic>
        <p:nvPicPr>
          <p:cNvPr id="6" name="Image 1" descr="/sessions/clever-sweet-sagan/clase5_images/slide04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37760"/>
            <a:ext cx="27432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DISTANCIAS NUMÉRICAS: EUCLÍDEA Y MINKOWSKI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Euclídea (la más usada en </a:t>
            </a:r>
            <a:r>
              <a:rPr lang="es-CL" sz="1700" b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20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</a:t>
            </a:r>
            <a:r>
              <a:rPr lang="es-CL" sz="20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i,j</a:t>
            </a:r>
            <a:r>
              <a:rPr lang="es-CL" sz="20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 √[ Σₚ (xᵢₚ - xⱼₚ)² ]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Euclídea al cuadrado: d²(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i,j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Σₚ (xᵢₚ - xⱼₚ)². Usada en Ward (amplifica distancias grandes).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general — Minkowski: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20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</a:t>
            </a:r>
            <a:r>
              <a:rPr lang="es-CL" sz="20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i,j</a:t>
            </a:r>
            <a:r>
              <a:rPr lang="es-CL" sz="20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 [ Σₚ |xᵢₚ - xⱼₚ|</a:t>
            </a:r>
            <a:r>
              <a:rPr lang="es-CL" sz="2000" baseline="300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</a:t>
            </a:r>
            <a:r>
              <a:rPr lang="es-CL" sz="20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]</a:t>
            </a:r>
            <a:r>
              <a:rPr lang="es-CL" sz="2000" baseline="300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(1/λ)</a:t>
            </a:r>
            <a:endParaRPr lang="es-CL" sz="1800" baseline="300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λ=1 → Manhattan (caminos en grilla)    λ=2 → Euclídea (línea recta)    λ=∞ →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Chebyshev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dimensión)</a:t>
            </a:r>
            <a:endParaRPr lang="es-CL" sz="1800" noProof="0" dirty="0"/>
          </a:p>
        </p:txBody>
      </p:sp>
      <p:pic>
        <p:nvPicPr>
          <p:cNvPr id="5" name="Image 0" descr="/sessions/clever-sweet-sagan/clase5_images/slide07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645920"/>
            <a:ext cx="4114800" cy="2286000"/>
          </a:xfrm>
          <a:prstGeom prst="rect">
            <a:avLst/>
          </a:prstGeom>
        </p:spPr>
      </p:pic>
      <p:pic>
        <p:nvPicPr>
          <p:cNvPr id="6" name="Image 1" descr="/sessions/clever-sweet-sagan/clase5_images/slide10_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023360"/>
            <a:ext cx="41148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DISTANCIAS NUMÉRICAS EN R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Datos: 8 empresas, 2 variables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Inversion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c(16, 12, 10, 12, 45, 50, 45, 50),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Ventas    = c(10, 14, 22, 25, 10, 15, 25, 27))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rownames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(datos) &lt;- c("E1","E2","E3","E4","E5","E6","E7","E8")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Distancias Euclídea, Manhattan y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Chebyshev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dist_eucl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euclidean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dist_manh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"manhattan")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dist_cheb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Euclídea al cuadrado (útil para Ward)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dist_eucl_sq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euclidean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")^2</a:t>
            </a:r>
            <a:endParaRPr lang="es-CL" sz="1300" noProof="0" dirty="0"/>
          </a:p>
        </p:txBody>
      </p:sp>
      <p:pic>
        <p:nvPicPr>
          <p:cNvPr id="5" name="Image 0" descr="/sessions/clever-sweet-sagan/clase5_images/slide08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4572000" cy="2286000"/>
          </a:xfrm>
          <a:prstGeom prst="rect">
            <a:avLst/>
          </a:prstGeom>
        </p:spPr>
      </p:pic>
      <p:pic>
        <p:nvPicPr>
          <p:cNvPr id="6" name="Image 1" descr="/sessions/clever-sweet-sagan/clase5_images/slide09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023360"/>
            <a:ext cx="4572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BASADA EN CORRELACIÓN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patrón relativo importa más que magnitudes absolutas: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</a:t>
            </a:r>
            <a:r>
              <a:rPr lang="es-CL" sz="22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i,j</a:t>
            </a: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 1 - </a:t>
            </a:r>
            <a:r>
              <a:rPr lang="es-CL" sz="22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</a:t>
            </a: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(Xᵢ, Xⱼ)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∈ [0, 2]: d=0 (correlación perfecta positiva), d=1 (sin correlación), d=2 (correlación perfecta negativa).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 a cambios de escala: ideal para perfiles de datos (genes, consumo, etc.).</a:t>
            </a:r>
            <a:endParaRPr lang="es-CL" sz="1800" noProof="0" dirty="0"/>
          </a:p>
        </p:txBody>
      </p:sp>
      <p:pic>
        <p:nvPicPr>
          <p:cNvPr id="5" name="Image 0" descr="/sessions/clever-sweet-sagan/clase5_images/slide14_im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89120"/>
            <a:ext cx="502920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6459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4"/>
          <p:cNvSpPr/>
          <p:nvPr/>
        </p:nvSpPr>
        <p:spPr>
          <a:xfrm>
            <a:off x="6537960" y="17373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(t(datos)) calcula la matriz de distancias basadas en correlación entre observaciones (filas).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4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DISTANCIAS PARA DATOS BINARIOS: JACCARD Y SIMPLE MATCHING</a:t>
            </a:r>
            <a:endParaRPr lang="es-CL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variables presencia/ausencia (0/1), tabla de contingencia 2×2: a (ambas 1), b (i=1, j=0), c (i=0, j=1), d (ambas 0).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JACCARD: d(</a:t>
            </a:r>
            <a:r>
              <a:rPr lang="es-CL" sz="17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i,j</a:t>
            </a:r>
            <a:r>
              <a:rPr lang="es-CL" sz="17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 (</a:t>
            </a:r>
            <a:r>
              <a:rPr lang="es-CL" sz="17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b+c</a:t>
            </a:r>
            <a:r>
              <a:rPr lang="es-CL" sz="17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(</a:t>
            </a:r>
            <a:r>
              <a:rPr lang="es-CL" sz="17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a+b+c</a:t>
            </a:r>
            <a:r>
              <a:rPr lang="es-CL" sz="17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coincidencias de ceros. Útil cuando ausencia mutua no indica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similaridad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 MATCHING: d(</a:t>
            </a:r>
            <a:r>
              <a:rPr lang="es-CL" sz="17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i,j</a:t>
            </a:r>
            <a:r>
              <a:rPr lang="es-CL" sz="17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 (</a:t>
            </a:r>
            <a:r>
              <a:rPr lang="es-CL" sz="17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b+c</a:t>
            </a:r>
            <a:r>
              <a:rPr lang="es-CL" sz="17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(</a:t>
            </a:r>
            <a:r>
              <a:rPr lang="es-CL" sz="17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a+b+c+d</a:t>
            </a:r>
            <a:r>
              <a:rPr lang="es-CL" sz="17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coincidencias de ceros. Útil cuando ausencia mutua sí indica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similaridad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800" noProof="0" dirty="0"/>
          </a:p>
        </p:txBody>
      </p:sp>
      <p:pic>
        <p:nvPicPr>
          <p:cNvPr id="5" name="Image 0" descr="/sessions/clever-sweet-sagan/clase5_images/slide15_img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645920"/>
            <a:ext cx="4114800" cy="2011680"/>
          </a:xfrm>
          <a:prstGeom prst="rect">
            <a:avLst/>
          </a:prstGeom>
        </p:spPr>
      </p:pic>
      <p:pic>
        <p:nvPicPr>
          <p:cNvPr id="6" name="Image 1" descr="/sessions/clever-sweet-sagan/clase5_images/slide16_img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840480"/>
            <a:ext cx="4114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DISTANCIAS BINARIAS EN R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5943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Datos binarios (presencia/ausencia)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datos_bin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(c(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1,1,0,0,  0,1,1,1,  1,1,0,1,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0,0,0,1,  1,1,1,0),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nrow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5,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byrow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TRUE)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rownames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datos_bin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&lt;- c("E1","E2","E3","E4","E5")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Distancia Jaccard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(ade4)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dist.binary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datos_bin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Simple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Matching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(manual):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obs1 vs obs2: a=1, b=1, c=1, d=1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 = (1+1)/(1+1+1+1) = 0.5</a:t>
            </a:r>
            <a:endParaRPr lang="es-CL" sz="1300" noProof="0" dirty="0"/>
          </a:p>
        </p:txBody>
      </p:sp>
      <p:pic>
        <p:nvPicPr>
          <p:cNvPr id="5" name="Image 0" descr="/sessions/clever-sweet-sagan/clase5_images/slide17_img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4572000" cy="2103120"/>
          </a:xfrm>
          <a:prstGeom prst="rect">
            <a:avLst/>
          </a:prstGeom>
        </p:spPr>
      </p:pic>
      <p:pic>
        <p:nvPicPr>
          <p:cNvPr id="6" name="Image 1" descr="/sessions/clever-sweet-sagan/clase5_images/slide18_img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931920"/>
            <a:ext cx="4572000" cy="2103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14400" y="5943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4"/>
          <p:cNvSpPr/>
          <p:nvPr/>
        </p:nvSpPr>
        <p:spPr>
          <a:xfrm>
            <a:off x="1051560" y="60350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dist.binary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del paquete ade4 calcula Jaccard. Para Simple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puede usar el paquete proxy o calcular manualmente.</a:t>
            </a:r>
            <a:endParaRPr lang="es-CL" sz="13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</a:t>
            </a:r>
            <a:endParaRPr lang="es-CL" sz="5400" noProof="0" dirty="0"/>
          </a:p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s-CL" sz="24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ESTANDARIZAR LOS DATOS?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suelen tener distintas unidades y rangos. Ejemplo: empresas con activos en miles de millones (10-20) y trabajadores (40-350).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estandarización: la variable activos domina el cálculo de distancias porque sus valores son mayores, ocultando información de trabajadores.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estandarización: ambas variables contribuyen equitativamente al cálculo de distancias.</a:t>
            </a:r>
            <a:endParaRPr lang="es-CL" sz="1800" noProof="0" dirty="0"/>
          </a:p>
        </p:txBody>
      </p:sp>
      <p:pic>
        <p:nvPicPr>
          <p:cNvPr id="5" name="Image 0" descr="/sessions/clever-sweet-sagan/clase5_images/slide19_img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5448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ESTANDARIZACIÓN: PUNTUACIONES Z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 media y dividir por desviación estándar: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>
              <a:lnSpc>
                <a:spcPct val="120000"/>
              </a:lnSpc>
            </a:pPr>
            <a:r>
              <a:rPr lang="es-CL" sz="24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zᵢₚ = (xᵢₚ - </a:t>
            </a:r>
            <a:r>
              <a:rPr lang="es-CL" sz="24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x̄ₚ</a:t>
            </a:r>
            <a:r>
              <a:rPr lang="es-CL" sz="24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sₚ</a:t>
            </a:r>
            <a:endParaRPr lang="es-CL" sz="1800" noProof="0" dirty="0">
              <a:solidFill>
                <a:srgbClr val="A6B727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x̄ₚ = media de variable p, sₚ = desviación estándar de variable p.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variables con media 0 y desviación estándar 1.</a:t>
            </a:r>
            <a:endParaRPr lang="es-CL" sz="1800" noProof="0" dirty="0"/>
          </a:p>
        </p:txBody>
      </p:sp>
      <p:pic>
        <p:nvPicPr>
          <p:cNvPr id="5" name="Image 0" descr="/sessions/clever-sweet-sagan/clase5_images/slide21_img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645920"/>
            <a:ext cx="41148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5029200"/>
            <a:ext cx="10515600" cy="1463040"/>
          </a:xfrm>
          <a:prstGeom prst="roundRect">
            <a:avLst>
              <a:gd name="adj" fmla="val 6250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4"/>
          <p:cNvSpPr/>
          <p:nvPr/>
        </p:nvSpPr>
        <p:spPr>
          <a:xfrm>
            <a:off x="1051560" y="51206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(datos) estandariza automáticamente.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matriz con atributos: center (medias) y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ESCALAMIENTO: RANGO [0, MÁX]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cada variable por su máximo (o su máximo valor observado):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x̂ᵢₚ = xᵢₚ / </a:t>
            </a:r>
            <a:r>
              <a:rPr lang="es-CL" sz="22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máx</a:t>
            </a: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ₚ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todas las variables en rango [0, 1] (si todos los datos ≥ 0).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interpretable, variables positivas, mantiene distribución relativa.</a:t>
            </a:r>
            <a:endParaRPr lang="es-CL" sz="1800" noProof="0" dirty="0"/>
          </a:p>
        </p:txBody>
      </p:sp>
      <p:pic>
        <p:nvPicPr>
          <p:cNvPr id="5" name="Image 0" descr="/sessions/clever-sweet-sagan/clase5_images/slide23_img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645920"/>
            <a:ext cx="41148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5029200"/>
            <a:ext cx="10515600" cy="1463040"/>
          </a:xfrm>
          <a:prstGeom prst="roundRect">
            <a:avLst>
              <a:gd name="adj" fmla="val 6250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4"/>
          <p:cNvSpPr/>
          <p:nvPr/>
        </p:nvSpPr>
        <p:spPr>
          <a:xfrm>
            <a:off x="1051560" y="51206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cambia la forma de la distribución, solo la escala. Útil cuando no hay valores negativos y se desea interpretar como proporciones del máximo.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ESCALAMIENTO: RANGO [0, 1] (MIN-MAX)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 mínimo y dividir por rango: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x̂ᵢₚ = (xᵢₚ - </a:t>
            </a:r>
            <a:r>
              <a:rPr lang="es-CL" sz="22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mín</a:t>
            </a: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ₚ) / (</a:t>
            </a:r>
            <a:r>
              <a:rPr lang="es-CL" sz="22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máx</a:t>
            </a: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ₚ - </a:t>
            </a:r>
            <a:r>
              <a:rPr lang="es-CL" sz="22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mín</a:t>
            </a: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ₚ)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todas las variables en rango exacto [0, 1], donde 0 = mínimo y 1 = máximo.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localiza observaciones específicas (extremos) en posiciones conocidas.</a:t>
            </a:r>
            <a:endParaRPr lang="es-CL" sz="1800" noProof="0" dirty="0"/>
          </a:p>
        </p:txBody>
      </p:sp>
      <p:pic>
        <p:nvPicPr>
          <p:cNvPr id="5" name="Image 0" descr="/sessions/clever-sweet-sagan/clase5_images/slide25_img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645920"/>
            <a:ext cx="41148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5029200"/>
            <a:ext cx="10515600" cy="1463040"/>
          </a:xfrm>
          <a:prstGeom prst="roundRect">
            <a:avLst>
              <a:gd name="adj" fmla="val 6250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4"/>
          <p:cNvSpPr/>
          <p:nvPr/>
        </p:nvSpPr>
        <p:spPr>
          <a:xfrm>
            <a:off x="1051560" y="51206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(datos, center = TRUE,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TRUE) para Z-scores.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(datos - min(datos)) / (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(datos) - min(datos)) para Min-Max.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COMPARACIÓN: CUÁNDO USAR CADA MÉTODO</a:t>
            </a:r>
            <a:endParaRPr lang="es-CL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Puntuaciones Z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Cuando: variables tienen unidades distintas o rangos muy diferentes.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media 0,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Interacción: simétrico con valores negativos.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para: distancias euclídeas, métodos que asumen normalidad.</a:t>
            </a:r>
            <a:endParaRPr lang="es-CL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6537960" y="164592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[0,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Cuando: datos positivos, se desea comparar proporciones del máximo.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todas en [0, 1].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Interacción: preserva cero como origen.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para: datos de conteo o proporciones.</a:t>
            </a:r>
            <a:endParaRPr lang="es-CL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914400" y="4114800"/>
            <a:ext cx="5029200" cy="2468880"/>
          </a:xfrm>
          <a:prstGeom prst="roundRect">
            <a:avLst>
              <a:gd name="adj" fmla="val 3704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420624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[0, 1]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Cuando: se necesitan extremos fijos y referencias claras.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=0,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=1, distribuido uniformemente.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Interacción: muy sensible a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para: datos con límites naturales.</a:t>
            </a:r>
            <a:endParaRPr lang="es-CL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0" y="4114800"/>
            <a:ext cx="5303520" cy="2468880"/>
          </a:xfrm>
          <a:prstGeom prst="roundRect">
            <a:avLst>
              <a:gd name="adj" fmla="val 3704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6537960" y="420624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ESCALA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Cuando: variables ya en unidades comparables (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todas en cm).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distancia bruta.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Interacción: variables grandes dominan.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para: análisis exploratorio rápido.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Jerárquicos</a:t>
            </a:r>
            <a:endParaRPr lang="es-CL" sz="5400" noProof="0" dirty="0"/>
          </a:p>
          <a:p>
            <a:pPr marL="0" indent="0" algn="ctr">
              <a:buNone/>
            </a:pPr>
            <a:r>
              <a:rPr lang="es-CL" sz="5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Aglomerativos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s-CL" sz="24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ENFOQUES JERÁRQUICOS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AGLOMERATIVO (Bottom-Up)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Inicio: cada observación es un clúster individual (n clústeres).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Iteración: unen los dos clústeres más similares.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Fin: un solo clúster conteniendo todas las observaciones.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DESAGREGATIVO (Top-Down)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Inicio: todos los datos en un solo clúster.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Iteración: divide el clúster más heterogéneo.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Fin: cada observación como clúster individual.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producen un </a:t>
            </a:r>
            <a:r>
              <a:rPr lang="es-CL" sz="1700" i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</a:t>
            </a:r>
            <a:r>
              <a:rPr lang="es-CL" sz="17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árbol binario mostrando jerarquía de fusiones/divisiones.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DISTANCIAS ENTRE CLÚSTERES: 5 MÉTODOS</a:t>
            </a:r>
            <a:endParaRPr lang="es-CL" sz="3600" noProof="0" dirty="0"/>
          </a:p>
        </p:txBody>
      </p:sp>
      <p:pic>
        <p:nvPicPr>
          <p:cNvPr id="4" name="Image 0" descr="/sessions/clever-sweet-sagan/clase5_images/slide28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10058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LINKAGE: VECINO MÁS CERCANO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distancia entre dos clústeres A y B es la distancia mínima entre cualquier par de observaciones (una en A, otra en B):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d(A, B) = </a:t>
            </a:r>
            <a:r>
              <a:rPr lang="es-CL" sz="22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mín</a:t>
            </a: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ᵢ∈A,ⱼ∈B d(i, j)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Algoritmo: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Cada observación es un clúster inicial.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Encontrar los dos clústeres con d(A,B) mínima.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Unirlos en un nuevo clúster.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Repetir hasta quedarse con un solo clúster.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Efecto: tiende a crear clústeres largos y filamentosos (cadena = </a:t>
            </a:r>
            <a:r>
              <a:rPr lang="es-CL" sz="1600" i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r>
              <a:rPr lang="es-CL" sz="16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L" sz="1600" i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r>
              <a:rPr lang="es-CL" sz="16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LINKAGE EJEMPLO: 5 EMPRESAS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858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5 de las 8 empresas (datos estandarizados Z-score):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E1=(-0.79,-1.29)  E2=(-1.02,-0.68)  E5=(0.85,-1.29)  E7=(0.85,0.99)  E8=(1.13,1.29)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distancias euclídeas (estandarizadas):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d(E1,E2)=0.65   d(E1,E5)=1.64   d(E1,E7)=2.81   d(E1,E8)=3.22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d(E2,E5)=1.97   d(E2,E7)=2.51   d(E2,E8)=2.92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d(E5,E7)=2.28   d(E5,E8)=2.60   d(E7,E8)=0.42</a:t>
            </a:r>
            <a:endParaRPr lang="es-CL" sz="1800" noProof="0" dirty="0"/>
          </a:p>
        </p:txBody>
      </p:sp>
      <p:pic>
        <p:nvPicPr>
          <p:cNvPr id="5" name="Image 0" descr="/sessions/clever-sweet-sagan/clase5_images/slide31_img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645920"/>
            <a:ext cx="393192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0" y="4572000"/>
            <a:ext cx="4846320" cy="2011680"/>
          </a:xfrm>
          <a:prstGeom prst="roundRect">
            <a:avLst>
              <a:gd name="adj" fmla="val 4545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4"/>
          <p:cNvSpPr/>
          <p:nvPr/>
        </p:nvSpPr>
        <p:spPr>
          <a:xfrm>
            <a:off x="6995160" y="46634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Intuición</a:t>
            </a:r>
            <a:endParaRPr lang="es-CL" sz="1300" noProof="0" dirty="0"/>
          </a:p>
          <a:p>
            <a:pPr marL="0" indent="0">
              <a:buNone/>
            </a:pP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{E7,E8} están muy cerca (0.42): alta inversión, ventas altas.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{E1,E2} también están cerca (0.65): baja inversión.</a:t>
            </a:r>
            <a:endParaRPr lang="es-CL" sz="1300" noProof="0" dirty="0"/>
          </a:p>
          <a:p>
            <a:pPr marL="0" indent="0"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queda intermedio: alta inversión pero ventas bajas.</a:t>
            </a:r>
            <a:endParaRPr lang="es-CL" sz="13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LINKAGE PASO 1-2: PRIMERAS FUSIONES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 distancia en matriz: d(E7,E8) = 0.42 → Unir {E7,E8}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Clústeres actuales: {E1}, {E2}, {E5}, {E7,E8} (4 clústeres)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Recalcular distancias desde {E7,E8} (single = mínima):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d({E7,E8}, E1) =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(d(E7,E1), d(E8,E1)) =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(2.81, 3.22) = 2.81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d({E7,E8}, E2) =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(d(E7,E2), d(E8,E2)) =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(2.51, 2.92) = 2.51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d({E7,E8}, E5) =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(d(E7,E5), d(E8,E5)) =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(2.28, 2.60) = 2.28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Restantes: d(E1,E2)=0.65, d(E1,E5)=1.64, d(E2,E5)=1.97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mínima: d(E1,E2) = 0.65 → Unir {E1,E2}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Clústeres actuales: {E1,E2}, {E5}, {E7,E8} (3 clústeres)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LINKAGE PASO 3-4: UNIONES POSTERIORES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Recalcular distancias entre {E1,E2}, {E5} y {E7,E8}: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d({E1,E2}, E5) =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(d(E1,E5), d(E2,E5)) =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(1.64, 1.97) = 1.64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d({E1,E2}, {E7,E8}) =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(d(E1,E7), d(E1,E8), d(E2,E7), d(E2,E8)) =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(2.81, 3.22, 2.51, 2.92) = 2.51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d(E5, {E7,E8}) = 2.28 (ya calculado)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Mínima: d({E1,E2}, E5) = 1.64 → Unir {E1,E2,E5}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Clústeres actuales: {E1,E2,E5}, {E7,E8} (2 clústeres)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d({E1,E2,E5}, {E7,E8}) =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todas las distancias cruzadas =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(2.81, 3.22, 2.51, 2.92, 2.28, 2.60) = 2.28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todos: {E1,E2,E5,E7,E8} a distancia 2.28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i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</a:t>
            </a:r>
            <a:r>
              <a:rPr lang="es-CL" sz="17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fusiones a distancias 0.42 → 0.65 → 1.64 → 2.28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CL" sz="15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E5 se unió a {E1,E2} por cercanía a E1, efecto cadena típico de Single </a:t>
            </a:r>
            <a:r>
              <a:rPr lang="es-CL" sz="1500" i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</a:t>
            </a:r>
            <a:r>
              <a:rPr lang="es-CL" sz="15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LINKAGE: DENDROGRAMA Y R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5943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Linkage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 R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datos_norm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dist_matriz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datos_norm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euclidean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Aglomerativo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Single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Linkage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hc_single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hclust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dist_matriz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"single")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Visualizar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dendrograma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hc_single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"Single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Linkage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"Observación",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"Distancia")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Asignar a k clústeres (cortar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dendrograma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cutree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hc_single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 = 2)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300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19B9EC5-2B17-24A5-05AC-0E3F56FC7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627" y="1691640"/>
            <a:ext cx="541460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LINKAGE: VECINO MÁS LEJANO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distancia entre dos clústeres A y B es la distancia MÁXIMA entre cualquier par de observaciones: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d(A, B) = </a:t>
            </a:r>
            <a:r>
              <a:rPr lang="es-CL" sz="22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máx</a:t>
            </a: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ᵢ∈A,ⱼ∈B d(i, j)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Efecto: crea clústeres compactos y bien separados (más conservador que Single </a:t>
            </a:r>
            <a:r>
              <a:rPr lang="es-CL" sz="1700" b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Ventajas: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el efecto cadena: clústeres más esféricos.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para datos con estructuras de grupo bien definidas.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4754880"/>
            <a:ext cx="10515600" cy="1737360"/>
          </a:xfrm>
          <a:prstGeom prst="roundRect">
            <a:avLst>
              <a:gd name="adj" fmla="val 5263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1051560" y="484632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mínima distancia → fusiones agresivas, clústeres filamentosos.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máxima distancia → fusiones conservadoras, clústeres compactos.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LINKAGE EJEMPLO: MISMAS 5 EMPRESAS</a:t>
            </a:r>
            <a:endParaRPr lang="es-CL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datos: E1, E2, E5, E7, E8 (distancias estandarizadas). Ahora con complete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(máximo):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Mínima distancia: d(E7,E8) = 0.42 → Unir {E7,E8}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Recalcular con Complete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d({E7,E8}, E1) =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(2.81, 3.22) = 3.22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d({E7,E8}, E2) =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(2.51, 2.92) = 2.92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d({E7,E8}, E5) =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(2.28, 2.60) = 2.60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Restantes: d(E1,E2)=0.65, d(E1,E5)=1.64, d(E2,E5)=1.97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Mínima: d(E1,E2) = 0.65 → Unir {E1,E2}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d({E1,E2},E5) =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(1.64,1.97) = 1.97. d({E1,E2},{E7,E8}) =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(2.81,3.22,2.51,2.92) = 3.22. d(E5,{E7,E8}) = 2.60.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Mínima: d({E1,E2},E5) = 1.97 → Unir {E1,E2,E5}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d({E1,E2,E5},{E7,E8}) =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(3.22, 2.92, 2.60) = 3.22 → Unir todos.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500" i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</a:t>
            </a:r>
            <a:r>
              <a:rPr lang="es-CL" sz="15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0.42 → 0.65 → 1.97 → 3.22  (vs Single: 0.42 → 0.65 → 1.64 → 2.28)Complete da distancias de fusión mayores → </a:t>
            </a:r>
            <a:r>
              <a:rPr lang="es-CL" sz="1500" i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r>
              <a:rPr lang="es-CL" sz="15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más compactos.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LINKAGE: DENDROGRAMA Y R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Complete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Linkage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 R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hc_complete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hclust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dist_matriz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"complete")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Visualizar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hc_complete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"Complete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Linkage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"Observación",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"Distancia")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Asignar clústeres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cutree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hc_complete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 = 2)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Comparar con Single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Linkage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mfrow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c(1, 2))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hc_single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"Single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Linkage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hc_complete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"Complete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Linkage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s-CL" sz="1300" noProof="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5034CC1-91D7-81FD-1EB1-467582827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395" y="1417320"/>
            <a:ext cx="5938514" cy="451294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DEL CENTROIDE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distancia entre dos clústeres es la distancia ENTRE SUS CENTROIDES: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22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d(A, B) = d(μₐ, μᵦ)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μₐ = Σᵢ∈A xᵢ / |A| (centroide/promedio de clúster A).</a:t>
            </a: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8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Característica: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métrica válida (viola desigualdad triangular en ciertos casos).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Computacionalmente eficiente: solo necesita promedios.</a:t>
            </a:r>
            <a:endParaRPr lang="es-CL" sz="1800" noProof="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datos con estructuras de grupo esféricas y bien separadas.</a:t>
            </a:r>
            <a:endParaRPr lang="es-CL" sz="1800" noProof="0" dirty="0"/>
          </a:p>
        </p:txBody>
      </p:sp>
      <p:pic>
        <p:nvPicPr>
          <p:cNvPr id="5" name="Image 0" descr="/sessions/clever-sweet-sagan/clase5_images/slide43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645920"/>
            <a:ext cx="41148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5029200"/>
            <a:ext cx="10515600" cy="1463040"/>
          </a:xfrm>
          <a:prstGeom prst="roundRect">
            <a:avLst>
              <a:gd name="adj" fmla="val 6250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4"/>
          <p:cNvSpPr/>
          <p:nvPr/>
        </p:nvSpPr>
        <p:spPr>
          <a:xfrm>
            <a:off x="1051560" y="51206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</a:t>
            </a:r>
            <a:endParaRPr lang="es-CL" sz="1400" noProof="0" dirty="0"/>
          </a:p>
          <a:p>
            <a:pPr marL="0" indent="0">
              <a:buNone/>
            </a:pP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mostrar inversiones: ramificaciones que se cruzan. Indica que la representación no es monótona en distancias (no tan confiable como Single/Complete).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CENTROIDE: DENDROGRAMA Y R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5943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Método del Centroide en R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hc_centroid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hclust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dist_matriz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centroid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Visualizar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hc_centroid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"Centroide",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"Observación",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"Distancia")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Asignar clústeres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cutree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hc_centroid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 = 2)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centroides de clústeres finales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FUN = mean)</a:t>
            </a:r>
            <a:endParaRPr lang="es-CL" sz="1300" noProof="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409AC08-A69F-0901-D258-0191E7DC1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955" y="1285804"/>
            <a:ext cx="5640397" cy="428639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WARD</a:t>
            </a:r>
            <a:endParaRPr lang="es-CL" sz="36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/>
              <p:nvPr/>
            </p:nvSpPr>
            <p:spPr>
              <a:xfrm>
                <a:off x="914400" y="1554480"/>
                <a:ext cx="6400800" cy="45720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L" sz="17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Minimiza el incremento de variabilidad interna al fusionar dos clústeres. Define distancia entre dos </a:t>
                </a:r>
                <a:r>
                  <a:rPr lang="es-CL" sz="1700" noProof="0" dirty="0" err="1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clusters</a:t>
                </a:r>
                <a:r>
                  <a:rPr lang="es-CL" sz="17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como el incremento en suma de cuadrados </a:t>
                </a:r>
                <a:r>
                  <a:rPr lang="es-CL" sz="1700" noProof="0" dirty="0" err="1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intra-cluster</a:t>
                </a:r>
                <a:r>
                  <a:rPr lang="es-CL" sz="17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que se produce al fusionarlos, la que se puede calcular como:</a:t>
                </a:r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CL" sz="1800" noProof="0" dirty="0"/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2000" i="1" noProof="0" dirty="0" smtClean="0">
                          <a:solidFill>
                            <a:srgbClr val="A6B727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𝑑</m:t>
                      </m:r>
                      <m:r>
                        <a:rPr lang="es-CL" sz="2000" i="1" noProof="0" dirty="0" smtClean="0">
                          <a:solidFill>
                            <a:srgbClr val="A6B727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s-CL" sz="2000" b="0" i="1" noProof="0" dirty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sSubPr>
                        <m:e>
                          <m:r>
                            <a:rPr lang="es-CL" sz="2000" b="0" i="1" noProof="0" dirty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𝐶</m:t>
                          </m:r>
                        </m:e>
                        <m:sub>
                          <m:r>
                            <a:rPr lang="es-CL" sz="2000" b="0" i="1" noProof="0" dirty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𝑖</m:t>
                          </m:r>
                        </m:sub>
                      </m:sSub>
                      <m:r>
                        <a:rPr lang="es-CL" sz="2000" i="1" noProof="0" dirty="0" smtClean="0">
                          <a:solidFill>
                            <a:srgbClr val="A6B727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, </m:t>
                      </m:r>
                      <m:sSub>
                        <m:sSubPr>
                          <m:ctrlPr>
                            <a:rPr lang="es-CL" sz="2000" b="0" i="1" noProof="0" dirty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sSubPr>
                        <m:e>
                          <m:r>
                            <a:rPr lang="es-CL" sz="2000" b="0" i="1" noProof="0" dirty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𝐶</m:t>
                          </m:r>
                        </m:e>
                        <m:sub>
                          <m:r>
                            <a:rPr lang="es-CL" sz="2000" b="0" i="1" noProof="0" dirty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𝑗</m:t>
                          </m:r>
                        </m:sub>
                      </m:sSub>
                      <m:r>
                        <a:rPr lang="es-CL" sz="2000" i="1" noProof="0" dirty="0" smtClean="0">
                          <a:solidFill>
                            <a:srgbClr val="A6B727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 = </m:t>
                      </m:r>
                      <m:f>
                        <m:fPr>
                          <m:ctrlPr>
                            <a:rPr lang="es-CL" sz="2000" i="1" noProof="0" dirty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s-CL" sz="2000" i="1" noProof="0" dirty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sz="2000" b="0" i="1" noProof="0" dirty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000" b="0" i="1" noProof="0" dirty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s-CL" sz="2000" b="0" i="1" noProof="0" dirty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s-CL" sz="2000" i="1" noProof="0" dirty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sz="2000" b="0" i="1" noProof="0" dirty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000" b="0" i="1" noProof="0" dirty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s-CL" sz="2000" b="0" i="1" noProof="0" dirty="0" smtClean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L" sz="2000" i="1" dirty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sz="2000" i="1" dirty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000" i="1" dirty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s-CL" sz="2000" i="1" dirty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s-CL" sz="2000" b="0" i="1" dirty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CL" sz="2000" i="1" dirty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sz="2000" i="1" dirty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000" i="1" dirty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s-CL" sz="2000" i="1" dirty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p>
                        <m:sSupPr>
                          <m:ctrlPr>
                            <a:rPr lang="es-CL" sz="2000" b="0" i="1" noProof="0" dirty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CL" sz="2000" i="1" noProof="0" dirty="0" smtClean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L" sz="2000" i="1" dirty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2000" i="1" dirty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CL" sz="2000" i="1" dirty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L" sz="2000" i="1" dirty="0">
                                  <a:solidFill>
                                    <a:srgbClr val="A6B727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es-CL" sz="2000" i="1" dirty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s-CL" sz="2000" i="1" dirty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CL" sz="2000" i="1" dirty="0">
                                      <a:solidFill>
                                        <a:srgbClr val="A6B727"/>
                                      </a:solidFill>
                                      <a:latin typeface="Cambria Math" panose="02040503050406030204" pitchFamily="18" charset="0"/>
                                      <a:ea typeface="Consolas" pitchFamily="34" charset="-122"/>
                                      <a:cs typeface="Consolas" pitchFamily="34" charset="-12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CL" sz="2000" b="0" i="1" noProof="0" dirty="0" smtClean="0">
                              <a:solidFill>
                                <a:srgbClr val="A6B72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CL" sz="1800" noProof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CL" sz="1700" b="1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Donde:</a:t>
                </a:r>
                <a:endParaRPr lang="es-CL" sz="1800" noProof="0" dirty="0"/>
              </a:p>
              <a:p>
                <a:pPr marL="342900" indent="-342900">
                  <a:lnSpc>
                    <a:spcPct val="120000"/>
                  </a:lnSpc>
                  <a:buSzPct val="100000"/>
                  <a:buChar char="•"/>
                </a:pP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</a:t>
                </a:r>
                <a:r>
                  <a:rPr lang="es-CL" sz="1600" baseline="-250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</a:t>
                </a: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C</a:t>
                </a:r>
                <a:r>
                  <a:rPr lang="es-CL" sz="1600" baseline="-250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2</a:t>
                </a: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… , </a:t>
                </a:r>
                <a:r>
                  <a:rPr lang="es-CL" sz="1600" noProof="0" dirty="0" err="1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</a:t>
                </a:r>
                <a:r>
                  <a:rPr lang="es-CL" sz="1600" baseline="-25000" noProof="0" dirty="0" err="1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</a:t>
                </a:r>
                <a:r>
                  <a:rPr lang="es-CL" sz="160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son los </a:t>
                </a:r>
                <a:r>
                  <a:rPr lang="es-CL" sz="1600" dirty="0" err="1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clusters</a:t>
                </a:r>
                <a:r>
                  <a:rPr lang="es-CL" sz="160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s-CL" sz="1800" baseline="-25000" noProof="0" dirty="0"/>
              </a:p>
              <a:p>
                <a:pPr marL="342900" indent="-342900">
                  <a:lnSpc>
                    <a:spcPct val="120000"/>
                  </a:lnSpc>
                  <a:buSzPct val="100000"/>
                  <a:buChar char="•"/>
                </a:pP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|C</a:t>
                </a:r>
                <a:r>
                  <a:rPr lang="es-CL" sz="1600" baseline="-250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</a:t>
                </a: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| es el tamaño del </a:t>
                </a:r>
                <a:r>
                  <a:rPr lang="es-CL" sz="1600" noProof="0" dirty="0" err="1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cluster</a:t>
                </a:r>
                <a:r>
                  <a:rPr lang="es-CL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i.</a:t>
                </a:r>
                <a:endParaRPr lang="es-CL" sz="1800" noProof="0" dirty="0"/>
              </a:p>
              <a:p>
                <a:pPr marL="342900" indent="-342900">
                  <a:lnSpc>
                    <a:spcPct val="120000"/>
                  </a:lnSpc>
                  <a:buSzPct val="100000"/>
                  <a:buChar char="•"/>
                </a:pPr>
                <a:r>
                  <a:rPr lang="el-GR" sz="16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μ</a:t>
                </a:r>
                <a:r>
                  <a:rPr lang="es-CL" sz="1600" baseline="-25000" noProof="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</a:t>
                </a:r>
                <a:r>
                  <a:rPr lang="es-CL" sz="1600" baseline="-2500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s-CL" sz="160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es el centroide del </a:t>
                </a:r>
                <a:r>
                  <a:rPr lang="es-CL" sz="1600" dirty="0" err="1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cluster</a:t>
                </a:r>
                <a:r>
                  <a:rPr lang="es-CL" sz="1600" dirty="0">
                    <a:solidFill>
                      <a:srgbClr val="59565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i</a:t>
                </a:r>
                <a:endParaRPr lang="es-CL" sz="1800" noProof="0" dirty="0"/>
              </a:p>
              <a:p>
                <a:pPr marL="342900" indent="-342900">
                  <a:lnSpc>
                    <a:spcPct val="120000"/>
                  </a:lnSpc>
                  <a:buSzPct val="100000"/>
                  <a:buChar char="•"/>
                </a:pPr>
                <a:r>
                  <a:rPr lang="es-CL" sz="1600" dirty="0">
                    <a:solidFill>
                      <a:srgbClr val="595652"/>
                    </a:solidFill>
                    <a:latin typeface="Calibri" pitchFamily="34" charset="0"/>
                    <a:cs typeface="Calibri" pitchFamily="34" charset="-120"/>
                  </a:rPr>
                  <a:t>‖  ‖ es la distancia euclidiana</a:t>
                </a:r>
              </a:p>
            </p:txBody>
          </p:sp>
        </mc:Choice>
        <mc:Fallback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4480"/>
                <a:ext cx="6400800" cy="4572000"/>
              </a:xfrm>
              <a:prstGeom prst="rect">
                <a:avLst/>
              </a:prstGeom>
              <a:blipFill>
                <a:blip r:embed="rId3"/>
                <a:stretch>
                  <a:fillRect l="-571"/>
                </a:stretch>
              </a:blipFill>
              <a:ln/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3">
            <a:extLst>
              <a:ext uri="{FF2B5EF4-FFF2-40B4-BE49-F238E27FC236}">
                <a16:creationId xmlns:a16="http://schemas.microsoft.com/office/drawing/2014/main" id="{EA8571CC-65B9-E576-9991-37BD0F27917B}"/>
              </a:ext>
            </a:extLst>
          </p:cNvPr>
          <p:cNvSpPr/>
          <p:nvPr/>
        </p:nvSpPr>
        <p:spPr>
          <a:xfrm>
            <a:off x="7443216" y="2355603"/>
            <a:ext cx="4389120" cy="2743200"/>
          </a:xfrm>
          <a:prstGeom prst="roundRect">
            <a:avLst>
              <a:gd name="adj" fmla="val 3333"/>
            </a:avLst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700" b="1" i="0" u="none" strike="noStrike" kern="1200" cap="none" spc="0" normalizeH="0" baseline="0" noProof="0">
                <a:ln>
                  <a:noFill/>
                </a:ln>
                <a:solidFill>
                  <a:srgbClr val="5956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Propiedades:</a:t>
            </a: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srgbClr val="5956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Busca clústeres de tamaño similar (penaliza fusiones desiguales).</a:t>
            </a: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srgbClr val="5956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Crea clústeres compactos y bien definidos.</a:t>
            </a: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srgbClr val="5956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Estable y robusto: muy usado en práctica.</a:t>
            </a: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s-CL" sz="1600" b="0" i="0" u="none" strike="noStrike" kern="1200" cap="none" spc="0" normalizeH="0" baseline="0" noProof="0">
                <a:ln>
                  <a:noFill/>
                </a:ln>
                <a:solidFill>
                  <a:srgbClr val="59565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es una métrica verdadera (pero más estable que Centroide).</a:t>
            </a: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WARD: DENDROGRAMA Y R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Método de Ward en R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Nota: método = "ward.D2" usa suma de cuadrados euclídea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hc_ward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hclust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dist_matriz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"ward.D2")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Visualizar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hc_ward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"Ward",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"Observación",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"Distancia")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Asignar clústeres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cutree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hc_ward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 = 2)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Calcular varianza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intra-cluster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within_SS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sum(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hc_ward$height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3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(paste("Suma de cuadrados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within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:", </a:t>
            </a:r>
            <a:r>
              <a:rPr lang="es-CL" sz="1300" noProof="0" dirty="0" err="1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within_SS</a:t>
            </a:r>
            <a:r>
              <a:rPr lang="es-CL" sz="1300" noProof="0" dirty="0">
                <a:solidFill>
                  <a:srgbClr val="A6B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s-CL" sz="1300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DD13F25-8634-49C5-FAF8-E53028E60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179" y="1417320"/>
            <a:ext cx="5575173" cy="42368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7256</Words>
  <Application>Microsoft Office PowerPoint</Application>
  <PresentationFormat>Panorámica</PresentationFormat>
  <Paragraphs>802</Paragraphs>
  <Slides>60</Slides>
  <Notes>60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65" baseType="lpstr">
      <vt:lpstr>Arial</vt:lpstr>
      <vt:lpstr>Calibri</vt:lpstr>
      <vt:lpstr>Cambria Math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Conglomerados - Capítulo 5</dc:title>
  <dc:subject>PptxGenJS Presentation</dc:subject>
  <dc:creator>Métodos Estadísticos</dc:creator>
  <cp:lastModifiedBy>Enrique Saint-Pierre</cp:lastModifiedBy>
  <cp:revision>9</cp:revision>
  <dcterms:created xsi:type="dcterms:W3CDTF">2026-04-25T15:27:42Z</dcterms:created>
  <dcterms:modified xsi:type="dcterms:W3CDTF">2026-04-26T21:59:53Z</dcterms:modified>
</cp:coreProperties>
</file>