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B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13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Conglomerados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s-CL" sz="5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No Jerárquicos: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K-MEDIAS: MÉTODO DE PARTICIÓN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métodos jerárquicos, K-Medias particiona directamente los datos en k grupos predefinidos, buscando minimizar la variabilidad interna total: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mín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Σⱼ₌₁ᵏ  Σᵢ∈Cⱼ  ||xᵢ - μⱼ||²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μⱼ es el centroide (media) del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Cⱼ.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especificar k de antemano.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iterativo: alterna entre asignar puntos y recalcular centroides.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a un óptimo local (depende de inicialización).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eficiente computacionalmente: O(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n·k·t·p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donde t = iteraciones.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K-MEDIAS PASO A PASO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6400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INICIALIZACIÓN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Elegir k centroides iniciales (aleatorios o con K-Means++).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ASIGNACIÓN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Cada observación se asigna al centroide más cercano (distancia Euclídea).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ACTUALIZACIÓN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Recalcular cada centroide como la media de las observaciones asignadas a su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CONVERGENCIA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Repetir pasos 2-3 hasta que las asignaciones no cambien (o cambio en WSS &lt; ε).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6995160" y="1645920"/>
            <a:ext cx="4709160" cy="2743200"/>
          </a:xfrm>
          <a:prstGeom prst="roundRect">
            <a:avLst>
              <a:gd name="adj" fmla="val 333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6995160" y="17373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garantizada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 siempre converge porque WSS decrece en cada iteración y está acotada inferiormente por 0. Sin embargo, puede converger a un óptimo LOCAL, no necesariamente global.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4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 EJEMPLO: MISMAS 5 EMPRESAS, K=2</a:t>
            </a:r>
            <a:endParaRPr lang="es-CL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datos estandarizados: E1=(-0.79,-1.29), E2=(-1.02,-0.68), E5=(0.85,-1.29), E7=(0.85,0.99), E8=(1.13,1.29)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Centroides iniciales (elegidos aleatoriamente): μ₁ = E1, μ₂ = E8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μ₁ = (-0.79, -1.29)         μ₂ = (1.13, 1.29)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1 — Asignar cada empresa al centroide más cercano: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d(E1,μ₁)=0.00, d(E1,μ₂)=3.22 → Cluster 1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E2: d(E2,μ₁)=0.65, d(E2,μ₂)=2.92 → Cluster 1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E5: d(E5,μ₁)=1.64, d(E5,μ₂)=2.60 → Cluster 1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E7: d(E7,μ₁)=2.81, d(E7,μ₂)=0.42 → Cluster 2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E8: d(E8,μ₁)=3.22, d(E8,μ₂)=0.00 → Cluster 2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Cluster 1 = {E1, E2, E5}, Cluster 2 = {E7, E8}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 EJEMPLO: RECALCULAR Y VERIFICAR</a:t>
            </a:r>
            <a:endParaRPr lang="es-CL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centroides (media de cada 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μ₁ = media(E1,E2,E5) = ((-0.79-1.02+0.85)/3, (-1.29-0.68-1.29)/3) = (-0.32, -1.09)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μ₂ = media(E7,E8) = ((0.85+1.13)/2, (0.99+1.29)/2) = (0.99, 1.14)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2 — Reasignar con nuevos centroides: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d(E1,μ₁)=0.51, d(E1,μ₂)=3.02 → Cluster 1 (sin cambio)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E2: d(E2,μ₁)=0.81, d(E2,μ₂)=2.72 → Cluster 1 (sin cambio)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E5: d(E5,μ₁)=1.19, d(E5,μ₂)=2.44 → Cluster 1 (sin cambio)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E7: d(E7,μ₁)=2.39, d(E7,μ₂)=0.21 → Cluster 2 (sin cambio)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E8: d(E8,μ₁)=2.79, d(E8,μ₂)=0.21 → Cluster 2 (sin cambio)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Asignaciones no cambiaron → CONVERGENCIA en 2 iteraciones.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final: {E1,E2,E5} (baja inversión + E5) vs {E7,E8} (alta inversión, altas ventas).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la estructura encontrada por Single y Complete </a:t>
            </a:r>
            <a:r>
              <a:rPr lang="es-CL" sz="15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r>
              <a:rPr lang="es-CL" sz="15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K-MEANS++: INICIALIZACIÓN INTELIGENTE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8580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la inicialización aleatoria puede converger a óptimos locales malos si los centroides iniciales están muy juntos.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(Arthur &amp; 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Vassilvitskii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2007):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Elegir el primer centroide aleatoriamente entre las observaciones.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Para cada punto x, calcular D(x) = distancia al centroide más cercano ya elegido.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Elegir el siguiente centroide con probabilidad proporcional a D(x)².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Repetir pasos 2-3 hasta tener k centroides.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Ejecutar K-Medias estándar con estos centroides iniciales.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los centroides iniciales quedan bien dispersos → convergencia más rápida y mejores resultados.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0"/>
            <a:ext cx="4389120" cy="3200400"/>
          </a:xfrm>
          <a:prstGeom prst="roundRect">
            <a:avLst>
              <a:gd name="adj" fmla="val 2857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7452360" y="173736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usa K-Means++ por defecto (R ≥ 4.x). El argumento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nstart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=25 ejecuta 25 inicializaciones distintas y retorna la mejor.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 VS JERÁRQUICOS: COMPARACIÓN</a:t>
            </a:r>
            <a:endParaRPr lang="es-C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 — Ventajas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Rápido y escalable a grandes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(millones de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Fácil de implementar e interpretar.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 bien con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esféricos y de tamaño similar.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 directo: k grupos sin necesidad de cortar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6537960" y="16459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 — Limitaciones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Requiere especificar k de antemano.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Sensible a inicialización (mitigar con K-Means++ o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nstart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Asume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esféricos de tamaño similar.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Sensible a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(afectan los centroides).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produce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hay jerarquía).</a:t>
            </a:r>
            <a:endParaRPr lang="es-CL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0789920" cy="2011680"/>
          </a:xfrm>
          <a:prstGeom prst="roundRect">
            <a:avLst>
              <a:gd name="adj" fmla="val 4545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4663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uno?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Jerárquicos: datos pequeños/medianos, se quiere explorar distintos k visualmente (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irregular.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K-Medias: datos grandes, se tiene idea del k,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esféricos, se busca eficiencia computacional.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K-MEDIAS EN R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K-Medias básico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(datos)    # Siempre estandarizar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nstart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=25: ejecuta 25 inicializaciones, retorna la mejor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centers = 3,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nstart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25)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Resultados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km$cluster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# Asignación de cada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km$centers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# Centroides finales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km$tot.withinss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# WSS total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Visualizar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factoextra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fviz_cluster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data =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palette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"Set2",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ggtheme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theme_minimal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K-Means++ explícito (paquete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ClusterR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ClusterR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km_pp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KMeans_rcpp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initializer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++")</a:t>
            </a:r>
            <a:endParaRPr lang="es-CL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7726680" y="17373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fviz_cluster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de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factoextra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visualización automática con PCA si hay más de 2 variables.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DEL CODO (ELBOW METHOD)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encontrar el número k de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equilibra dos criterios: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Compactación interna: cada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debe ser cohesivo (baja varianza dentro).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Simplicidad: evitar demasiados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(principio de parsimonia).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Intuición: conforme aumenta k, la varianza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intra-cluster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disminuye (porque subdividimos más). El "codo" es donde la mejoría se estabiliza.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graficar varianza 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intra-cluster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k, buscar el punto de inflexión.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48_img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114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(WITHIN-CLUSTER SUM OF SQUARES)</a:t>
            </a:r>
            <a:endParaRPr lang="es-CL" sz="36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/>
              <p:nvPr/>
            </p:nvSpPr>
            <p:spPr>
              <a:xfrm>
                <a:off x="914400" y="1554480"/>
                <a:ext cx="6400800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b="1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Notación formal: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xᵢ ∈ ℝᵖ: observación i (vector de p variables)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Cⱼ: conjunto de índices de observaciones en clúster j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μⱼ = (Σᵢ∈Cⱼ xᵢ) / |Cⱼ|: centroide del clúster j</a:t>
                </a:r>
              </a:p>
              <a:p>
                <a:pPr>
                  <a:lnSpc>
                    <a:spcPct val="120000"/>
                  </a:lnSpc>
                  <a:buSzPct val="100000"/>
                </a:pP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b="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</a:rPr>
                        <m:t>𝑊𝑆𝑆</m:t>
                      </m:r>
                      <m:d>
                        <m:dPr>
                          <m:ctrlP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CL" sz="1800" b="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s-CL" sz="1800" b="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25"/>
                                        </m:rPr>
                                        <a:rPr lang="es-CL" sz="1800" b="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es-CL" sz="1800" b="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s-CL" sz="1800" b="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1800" b="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s-CL" sz="1800" b="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s-CL" sz="1800" b="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CL" sz="1800" b="0" i="1" noProof="0" smtClean="0">
                                              <a:solidFill>
                                                <a:srgbClr val="A6B7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L" sz="1800" b="0" i="1" noProof="0" smtClean="0">
                                              <a:solidFill>
                                                <a:srgbClr val="A6B7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CL" sz="1800" b="0" i="1" noProof="0" smtClean="0">
                                              <a:solidFill>
                                                <a:srgbClr val="A6B7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CL" sz="1800" b="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CL" sz="1800" b="0" i="1" noProof="0" smtClean="0">
                                              <a:solidFill>
                                                <a:srgbClr val="A6B7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L" sz="1800" b="0" i="1" noProof="0" smtClean="0">
                                              <a:solidFill>
                                                <a:srgbClr val="A6B7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s-CL" sz="1800" b="0" i="1" noProof="0" smtClean="0">
                                              <a:solidFill>
                                                <a:srgbClr val="A6B7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  <m:sup>
                          <m: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700" i="1" noProof="0" dirty="0">
                  <a:solidFill>
                    <a:srgbClr val="5956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i="1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Suma total de desviaciones cuadráticas de cada observación a su centroide de clúster.</a:t>
                </a:r>
                <a:endParaRPr lang="es-CL" sz="1800" noProof="0" dirty="0"/>
              </a:p>
            </p:txBody>
          </p:sp>
        </mc:Choice>
        <mc:Fallback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6400800" cy="4114800"/>
              </a:xfrm>
              <a:prstGeom prst="rect">
                <a:avLst/>
              </a:prstGeom>
              <a:blipFill>
                <a:blip r:embed="rId3"/>
                <a:stretch>
                  <a:fillRect l="-571"/>
                </a:stretch>
              </a:blipFill>
              <a:ln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0" descr="/sessions/clever-sweet-sagan/clase5_images/slide49_bg.png"/>
          <p:cNvPicPr>
            <a:picLocks noChangeAspect="1"/>
          </p:cNvPicPr>
          <p:nvPr/>
        </p:nvPicPr>
        <p:blipFill>
          <a:blip r:embed="rId4"/>
          <a:srcRect r="34156"/>
          <a:stretch>
            <a:fillRect/>
          </a:stretch>
        </p:blipFill>
        <p:spPr>
          <a:xfrm>
            <a:off x="6837529" y="1626813"/>
            <a:ext cx="4735772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502920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1051560" y="51206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mide compactación: valores bajos = clústeres cohesivos. Siempre decrece con k (más clústeres = menos varianza dentro). Buscamos k donde el decremento se estabiliza.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WSS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492621" cy="4223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es monótonamente decreciente en k: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WSS(1) ≥ WSS(2) ≥ WSS(3) ≥ ... ≥ WSS(n) = 0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en WSS al pasar de k a k+1: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ΔWSS(k) = WSS(k) - WSS(k+1)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bajo (k=1,2,3): ΔWSS es GRANDE (mejoría sustancial).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mediano: ΔWSS es moderado (mejora todavía presente).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alto: ΔWSS es PEQUEÑO (mejora marginal, clústeres mínimos).</a:t>
            </a:r>
            <a:endParaRPr lang="es-CL" sz="1800" noProof="0" dirty="0"/>
          </a:p>
        </p:txBody>
      </p:sp>
      <p:pic>
        <p:nvPicPr>
          <p:cNvPr id="6" name="Image 0" descr="/sessions/clever-sweet-sagan/clase5_images/slide48_img23.png">
            <a:extLst>
              <a:ext uri="{FF2B5EF4-FFF2-40B4-BE49-F238E27FC236}">
                <a16:creationId xmlns:a16="http://schemas.microsoft.com/office/drawing/2014/main" id="{6440EC13-3250-D5F7-23CA-1C252D16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114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DEL GRÁFICO DE CODO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16878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Graficar: eje x = k (número de clústeres), eje y = WSS(k).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Buscar: el punto de inflexión (codo) donde la curva cambia de pendiente pronunciada a plana.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WSS(1)=100, WSS(2)=60 (ΔWSS=40, ~40% mejora) → cambio grande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WSS(2)=60, WSS(3)=45 (ΔWSS=15, ~25% mejora) → cambio moderado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WSS(3)=45, WSS(4)=42 (ΔWSS=3, ~7% mejora) → cambio pequeño ← CODO AQUÍ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WSS(4)=42, WSS(5)=41 (ΔWSS=1, ~2% mejora) → mejora marginal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51_img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522" y="5097780"/>
            <a:ext cx="8243248" cy="1280160"/>
          </a:xfrm>
          <a:prstGeom prst="rect">
            <a:avLst/>
          </a:prstGeom>
        </p:spPr>
      </p:pic>
      <p:pic>
        <p:nvPicPr>
          <p:cNvPr id="7" name="Image 0" descr="/sessions/clever-sweet-sagan/clase5_images/slide48_img23.png">
            <a:extLst>
              <a:ext uri="{FF2B5EF4-FFF2-40B4-BE49-F238E27FC236}">
                <a16:creationId xmlns:a16="http://schemas.microsoft.com/office/drawing/2014/main" id="{90F7C247-DEBF-87EC-90A2-C53B9B14A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45920"/>
            <a:ext cx="4114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SILHOUETTE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bien una observación se ajusta a su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respecto a los demás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Combina: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a(i): distancia promedio de i a otras observaciones del MISMO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(cohesión interna).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b(i): distancia promedio de i al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vecino más cercano (separación).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observación i: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s(i) = (b(i) - a(i)) / 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máx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{a(i), b(i)}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484632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051560" y="4937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s(i) ∈ [-1, 1]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≈ 1: observación está muy bien asignada.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≈ 0: observación está cerca del borde de dos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&lt; 0: observación podría estar mejor en otro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A(I) - COHESIÓN INTERNA</a:t>
            </a:r>
            <a:endParaRPr lang="es-CL" sz="36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914400" y="1554480"/>
                <a:ext cx="6400800" cy="36576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 observación i en clúster C:</a:t>
                </a: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𝑎</m:t>
                      </m:r>
                      <m:d>
                        <m:dPr>
                          <m:ctrlPr>
                            <a:rPr lang="es-CL" sz="20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r>
                            <a:rPr lang="es-CL" sz="20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𝑖</m:t>
                          </m:r>
                        </m:e>
                      </m:d>
                      <m:r>
                        <a:rPr lang="es-CL" sz="200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</m:t>
                      </m:r>
                      <m:f>
                        <m:fPr>
                          <m:ctrlP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Pr>
                        <m:num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s-CL" sz="20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20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CL" sz="2000" i="1" noProof="0" dirty="0">
                  <a:solidFill>
                    <a:srgbClr val="A6B727"/>
                  </a:solidFill>
                  <a:latin typeface="Cambria Math" panose="02040503050406030204" pitchFamily="18" charset="0"/>
                  <a:ea typeface="Consolas" pitchFamily="34" charset="-122"/>
                  <a:cs typeface="Consolas" pitchFamily="34" charset="-12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2000" i="1" noProof="0" dirty="0">
                  <a:solidFill>
                    <a:srgbClr val="A6B727"/>
                  </a:solidFill>
                  <a:latin typeface="Cambria Math" panose="02040503050406030204" pitchFamily="18" charset="0"/>
                  <a:ea typeface="Consolas" pitchFamily="34" charset="-122"/>
                  <a:cs typeface="Consolas" pitchFamily="34" charset="-12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Distancia promedio de i a otros miembros de su clúster.</a:t>
                </a: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Interpretación: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a(i) bajo → i está cercano a otros en su clúster (buena cohesión).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a(i) alto → i está lejos de otros en su clúster (mal ajuste).</a:t>
                </a:r>
                <a:endParaRPr lang="es-CL" sz="1800" noProof="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6400800" cy="3657600"/>
              </a:xfrm>
              <a:prstGeom prst="rect">
                <a:avLst/>
              </a:prstGeom>
              <a:blipFill>
                <a:blip r:embed="rId3"/>
                <a:stretch>
                  <a:fillRect l="-762" b="-8333"/>
                </a:stretch>
              </a:blipFill>
              <a:ln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914400" y="4754880"/>
            <a:ext cx="10515600" cy="1737360"/>
          </a:xfrm>
          <a:prstGeom prst="roundRect">
            <a:avLst>
              <a:gd name="adj" fmla="val 526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1051560" y="48463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a(i) solo considera distancias DENTRO del clúster asignado. No compara con otros clústeres.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B(I) - SEPARACIÓN EXTERNA</a:t>
            </a:r>
            <a:endParaRPr lang="es-CL" sz="36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914399" y="1554480"/>
                <a:ext cx="9908275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 observación i en clúster C, sea C' ≠ C cualquier otro clúster:</a:t>
                </a:r>
                <a:endParaRPr lang="es-CL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𝑑</m:t>
                      </m:r>
                      <m:d>
                        <m:dPr>
                          <m:ctrlPr>
                            <a:rPr lang="es-CL" sz="18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r>
                            <a:rPr lang="es-CL" sz="18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𝑖</m:t>
                          </m:r>
                          <m:r>
                            <a:rPr lang="es-CL" sz="18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, </m:t>
                          </m:r>
                          <m:sSup>
                            <m:sSupPr>
                              <m:ctrlPr>
                                <a:rPr lang="es-CL" sz="180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pPr>
                            <m:e>
                              <m:r>
                                <a:rPr lang="es-CL" sz="180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CL" sz="180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CL" sz="180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</m:t>
                      </m:r>
                      <m:f>
                        <m:fPr>
                          <m:ctrlP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Pr>
                        <m:num>
                          <m: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f>
                            <m:fPr>
                              <m:ctrlP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/>
                          </m:f>
                        </m:sub>
                        <m:sup/>
                        <m:e>
                          <m:r>
                            <a:rPr lang="es-CL" sz="18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L" sz="18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L" sz="18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CL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800" noProof="0" dirty="0"/>
                  <a:t>Entonces la distancia promedio al </a:t>
                </a:r>
                <a:r>
                  <a:rPr lang="es-CL" sz="1800" noProof="0" dirty="0" err="1"/>
                  <a:t>cluster</a:t>
                </a:r>
                <a:r>
                  <a:rPr lang="es-CL" sz="1800" noProof="0" dirty="0"/>
                  <a:t> mas cercano 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𝑏</m:t>
                      </m:r>
                      <m:d>
                        <m:dPr>
                          <m:ctrlPr>
                            <a:rPr lang="es-CL" sz="20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r>
                            <a:rPr lang="es-CL" sz="20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𝑖</m:t>
                          </m:r>
                        </m:e>
                      </m:d>
                      <m:r>
                        <a:rPr lang="es-CL" sz="200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</m:t>
                      </m:r>
                      <m:func>
                        <m:funcPr>
                          <m:ctrlP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2000" b="0" i="0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min</m:t>
                          </m:r>
                        </m:fName>
                        <m:e>
                          <m:r>
                            <a:rPr lang="es-CL" sz="20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𝑑</m:t>
                          </m:r>
                          <m:d>
                            <m:dPr>
                              <m:ctrlP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dPr>
                            <m:e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𝑖</m:t>
                              </m:r>
                              <m:r>
                                <a:rPr lang="es-CL" sz="20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s-CL" sz="20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s-CL" sz="20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s-CL" sz="20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s-CL" sz="2000" b="0" noProof="0" dirty="0">
                  <a:solidFill>
                    <a:srgbClr val="A6B727"/>
                  </a:solidFill>
                  <a:latin typeface="Calibri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Interpretación: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b(i) bajo → i está cercano a otros clústeres (mala separación).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b(i) alto → i está lejos de otros clústeres (buena separación).</a:t>
                </a:r>
                <a:endParaRPr lang="es-CL" sz="1800" noProof="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554480"/>
                <a:ext cx="9908275" cy="4114800"/>
              </a:xfrm>
              <a:prstGeom prst="rect">
                <a:avLst/>
              </a:prstGeom>
              <a:blipFill>
                <a:blip r:embed="rId3"/>
                <a:stretch>
                  <a:fillRect l="-492"/>
                </a:stretch>
              </a:blipFill>
              <a:ln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914400" y="484632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1051560" y="4937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a(i) = cohesión (dentro)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b(i) = separación (fuera)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diferencia normalizada.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S(I) - COEFICIENTE FINAL</a:t>
            </a:r>
            <a:endParaRPr lang="es-CL" sz="36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914400" y="1554480"/>
                <a:ext cx="10058400" cy="50292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20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𝑠</m:t>
                      </m:r>
                      <m:d>
                        <m:dPr>
                          <m:ctrlPr>
                            <a:rPr lang="es-CL" sz="22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r>
                            <a:rPr lang="es-CL" sz="22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𝑖</m:t>
                          </m:r>
                        </m:e>
                      </m:d>
                      <m:r>
                        <a:rPr lang="es-CL" sz="2200" i="1" noProof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</m:t>
                      </m:r>
                      <m:f>
                        <m:fPr>
                          <m:ctrlPr>
                            <a:rPr lang="es-CL" sz="220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Pr>
                        <m:num>
                          <m:r>
                            <a:rPr lang="es-CL" sz="22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𝑏</m:t>
                          </m:r>
                          <m:d>
                            <m:dPr>
                              <m:ctrlPr>
                                <a:rPr lang="es-CL" sz="22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dPr>
                            <m:e>
                              <m:r>
                                <a:rPr lang="es-CL" sz="22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𝑖</m:t>
                              </m:r>
                            </m:e>
                          </m:d>
                          <m:r>
                            <a:rPr lang="es-CL" sz="22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−</m:t>
                          </m:r>
                          <m:r>
                            <a:rPr lang="es-CL" sz="22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𝑎</m:t>
                          </m:r>
                          <m:r>
                            <a:rPr lang="es-CL" sz="22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(</m:t>
                          </m:r>
                          <m:r>
                            <a:rPr lang="es-CL" sz="22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𝑖</m:t>
                          </m:r>
                          <m:r>
                            <a:rPr lang="es-CL" sz="2200" b="0" i="1" noProof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)</m:t>
                          </m:r>
                        </m:num>
                        <m:den>
                          <m:func>
                            <m:funcPr>
                              <m:ctrlPr>
                                <a:rPr lang="es-CL" sz="2200" b="0" i="1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L" sz="2200" b="0" i="0" noProof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CL" sz="2200" b="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220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s-CL" sz="220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L" sz="220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s-CL" sz="220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, </m:t>
                                  </m:r>
                                  <m:r>
                                    <a:rPr lang="es-CL" sz="2200" i="1" noProof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s-CL" sz="220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L" sz="2200" i="1" noProof="0" smtClean="0">
                                          <a:solidFill>
                                            <a:srgbClr val="A6B727"/>
                                          </a:solidFill>
                                          <a:latin typeface="Cambria Math" panose="02040503050406030204" pitchFamily="18" charset="0"/>
                                          <a:ea typeface="Consolas" pitchFamily="34" charset="-122"/>
                                          <a:cs typeface="Consolas" pitchFamily="34" charset="-12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b="1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Interpretación de valores:</a:t>
                </a: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s(i) ≈ 1: b(i) &gt;&gt; a(i). Observación está bien asignada (lejos del vecino más cercano, cerca de su clúster).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s(i) ≈ 0: b(i) ≈ a(i). Observación está en la frontera de dos clústeres (ambigua).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s(i) &lt; 0: a(i) &gt; b(i). Observación está mal asignada (más cercana al clúster vecino que al suyo).</a:t>
                </a: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b="1" noProof="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Silhueta</a:t>
                </a:r>
                <a:r>
                  <a:rPr lang="es-CL" sz="1700" b="1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Global para k </a:t>
                </a:r>
                <a:r>
                  <a:rPr lang="es-CL" sz="1700" b="1" noProof="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clusters</a:t>
                </a:r>
                <a:r>
                  <a:rPr lang="es-CL" sz="1700" b="1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S(k) = promedio(s(i)) para todas las observaciones</a:t>
                </a: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Máximo S(k) indica k óptimo.</a:t>
                </a:r>
                <a:endParaRPr lang="es-CL" sz="1800" noProof="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10058400" cy="5029200"/>
              </a:xfrm>
              <a:prstGeom prst="rect">
                <a:avLst/>
              </a:prstGeom>
              <a:blipFill>
                <a:blip r:embed="rId3"/>
                <a:stretch>
                  <a:fillRect l="-364"/>
                </a:stretch>
              </a:blipFill>
              <a:ln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VENTAJAS Y LIMITACIONES</a:t>
            </a:r>
            <a:endParaRPr lang="es-CL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CL" sz="1300" noProof="0" dirty="0"/>
          </a:p>
          <a:p>
            <a:pPr marL="0" indent="0">
              <a:buNone/>
            </a:pP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Métrica única: rango [-1, 1] fácil de interpretar.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Considera cohesión Y separación.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Permite identificar observaciones mal clasificadas.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Gráfico visual atractivo (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Aplicable a cualquier algoritmo de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6537960" y="1645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s-CL" sz="1300" noProof="0" dirty="0"/>
          </a:p>
          <a:p>
            <a:pPr marL="0" indent="0">
              <a:buNone/>
            </a:pP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Computacionalmente costoso: O(n²) en espacio/tiempo.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Sesgado hacia clústeres convexos y de tamaño similar.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funciona bien con clústeres alargados o no esféricos.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Resultado depende de la métrica de distancia elegida.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Puede ser inestable con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521208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53035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Method: si ambos coinciden, hay confianza. Si difieren, investigar estructura de clústeres (pueden ser no convexos).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</a:t>
            </a:r>
            <a:r>
              <a:rPr lang="es-CL" sz="5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Desagregativos</a:t>
            </a: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JERÁRQUICOS DESAGREGATIVOS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Top-Down: comienzan con todos los datos en un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van dividiendo.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Inicio: {x₁, x₂, ..., xₙ} en un único clúster.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Identificar el clúster más heterogéneo (máxima varianza interna).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Dividir en dos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sub-clústeres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(usualmente el elemento más alejado del resto).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Reasignar elementos al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sub-clúster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los acerca más.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Repetir hasta tener n clústeres (cada observación sola).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s-CL" sz="17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idéntico al </a:t>
            </a:r>
            <a:r>
              <a:rPr lang="es-CL" sz="17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</a:t>
            </a: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leído de arriba a abajo.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DIANA (DIVISIVE ANALYSIS)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matriz de distancias D (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n×n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entre n observaciones.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</a:t>
            </a:r>
            <a:endParaRPr lang="es-CL" sz="1800" noProof="0" dirty="0"/>
          </a:p>
          <a:p>
            <a:pPr>
              <a:lnSpc>
                <a:spcPct val="120000"/>
              </a:lnSpc>
              <a:buSzPct val="100000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0) Inicializar: C₀ = {1,2,...,n} (un único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>
              <a:lnSpc>
                <a:spcPct val="120000"/>
              </a:lnSpc>
              <a:buSzPct val="100000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1) Primera división: C₁ = {elemento con máxima distancia promedio a otros en C};  C₂ = C \ C₁</a:t>
            </a:r>
          </a:p>
          <a:p>
            <a:pPr>
              <a:lnSpc>
                <a:spcPct val="120000"/>
              </a:lnSpc>
              <a:buSzPct val="100000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Mover los elementos de </a:t>
            </a:r>
            <a:r>
              <a:rPr lang="es-CL" sz="1600" dirty="0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C₂ que estén más cerca de </a:t>
            </a:r>
            <a:r>
              <a:rPr lang="es-CL" dirty="0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C₁</a:t>
            </a:r>
          </a:p>
          <a:p>
            <a:pPr>
              <a:lnSpc>
                <a:spcPct val="120000"/>
              </a:lnSpc>
              <a:buSzPct val="100000"/>
            </a:pPr>
            <a:r>
              <a:rPr lang="es-CL" sz="1600" dirty="0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3) Repetir 2 hasta que no haya más elementos que mover</a:t>
            </a:r>
          </a:p>
          <a:p>
            <a:pPr>
              <a:lnSpc>
                <a:spcPct val="120000"/>
              </a:lnSpc>
              <a:buSzPct val="100000"/>
            </a:pPr>
            <a:r>
              <a:rPr lang="es-CL" sz="1600" dirty="0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4) Repetir desde 1 con los nuevos </a:t>
            </a:r>
            <a:r>
              <a:rPr lang="es-CL" sz="1600" dirty="0" err="1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clusters</a:t>
            </a:r>
            <a:r>
              <a:rPr lang="es-CL" sz="1600" dirty="0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 hasta que todos los </a:t>
            </a:r>
            <a:r>
              <a:rPr lang="es-CL" sz="1600" dirty="0" err="1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clusters</a:t>
            </a:r>
            <a:r>
              <a:rPr lang="es-CL" sz="1600" dirty="0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 tengan un elemento</a:t>
            </a:r>
          </a:p>
          <a:p>
            <a:pPr>
              <a:lnSpc>
                <a:spcPct val="120000"/>
              </a:lnSpc>
              <a:buSzPct val="100000"/>
            </a:pPr>
            <a:endParaRPr lang="es-CL" sz="1600" noProof="0" dirty="0">
              <a:solidFill>
                <a:srgbClr val="59565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  <a:buSzPct val="100000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unitarios con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divisiones.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EJEMPLO: MISMAS 5 EMPRESAS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DIANA a las mismas 5 empresas estandarizadas. Matriz de distancias: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E1     E2     E5     E7     E8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E1   0.00   0.65   1.64   2.81   3.22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E2   0.65   0.00   1.97   2.51   2.92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E5   1.64   1.97   0.00   2.28   2.60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E7   2.81   2.51   2.28   0.00   0.42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E8   3.22   2.92   2.60   0.42   0.00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7909560" y="173736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parte de un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todos y lo va dividiendo.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tarea: calcular disparidad de cada empresa en el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{E1,E2,E5,E7,E8}.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PASO 1: DISPARIDAD Y DIVISIÓN INICIAL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 promedio del 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{E1,E2,E5,E7,E8}: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(0.65+1.64+2.81+3.22+1.97+2.51+2.92+2.28+2.60+0.42) / 10 = 2.10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 individual (promedio de distancias a los otros):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(0.65+1.64+2.81+3.22)/4 = 2.08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E2: (0.65+1.97+2.51+2.92)/4 = 2.01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E5: (1.64+1.97+2.28+2.60)/4 = 2.12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E7: (2.81+2.51+2.28+0.42)/4 = 2.01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E8: (3.22+2.92+2.60+0.42)/4 = 2.29 ← MÁXIMA DISPARIDAD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es la más "diferente" del grupo → inicia grupo escindido.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inicial: C₁ = {E8}, C₂ = {E1, E2, E5, E7}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PASO 2: REASIGNACIÓN ITERATIVA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empresa en C₂, calcular: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d(i, C₂\{i}) − d(i, C₁). Si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 → mover a C₁.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1 (C₁={E8}, C₂={E1,E2,E5,E7}):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d(E1,C₂\E1) = (0.65+1.64+2.81)/3 = 1.70, d(E1,C₁) = 3.22.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−1.52 (quedar)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E2: d(E2,C₂\E2) = (0.65+1.97+2.51)/3 = 1.71, d(E2,C₁) = 2.92.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−1.21 (quedar)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E5: d(E5,C₂\E5) = (1.64+1.97+2.28)/3 = 1.96, d(E5,C₁) = 2.60.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−0.64 (quedar)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E7: d(E7,C₂\E7) = (2.81+2.51+2.28)/3 = 2.53, d(E7,C₁) = 0.42. </a:t>
            </a:r>
            <a:r>
              <a:rPr lang="es-CL" sz="14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+2.11 ← MOVER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 se mueve → C₁ = {E7, E8}, C₂ = {E1, E2, E5}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2 (C₁={E7,E8}, C₂={E1,E2,E5}):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d(E1,C₂\E1)=(0.65+1.64)/2=1.15, d(E1,C₁)=(2.81+3.22)/2=3.02.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=−1.87 (quedar)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E2: d(E2,C₂\E2)=(0.65+1.97)/2=1.31, d(E2,C₁)=(2.51+2.92)/2=2.71.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=−1.40 (quedar)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E5: d(E5,C₂\E5)=(1.64+1.97)/2=1.80, d(E5,C₁)=(2.28+2.60)/2=2.44.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=−0.64 (quedar)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</a:t>
            </a:r>
            <a:r>
              <a:rPr lang="es-CL" sz="16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 → división estable.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PASO 3: SEGUNDA DIVISIÓN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primera división: C₁ = {E7,E8}, C₂ = {E1,E2,E5}. ¿Cuál dividir?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 C₁ = {E7,E8}: d(E7,E8) = 0.42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 C₂ = {E1,E2,E5}: (0.65+1.64+1.97)/3 = 1.42 ← MÁS HETEROGÉNEO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C₂ = {E1,E2,E5}. Disparidad individual: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(0.65+1.64)/2 = 1.15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E2: (0.65+1.97)/2 = 1.31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E5: (1.64+1.97)/2 = 1.80 ← MÁXIMA → E5 inicia grupo escindido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C₃ = {E5}, C₄ = {E1,E2}. Reasignación: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d(E1,{E2})=0.65, d(E1,{E5})=1.64.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−0.99 → quedar en C₄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E2: d(E2,{E1})=0.65, d(E2,{E5})=1.97.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−1.32 → quedar en C₄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estable: C₃ = {E5}, C₄ = {E1, E2}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DIANA: RESULTADO FINAL Y COMPARACIÓN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943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después de 2 divisiones (3 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{E7, E8}  —  Alta inversión, altas ventas (heterogeneidad: 0.42)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{E1, E2}  —  Baja inversión (heterogeneidad: 0.65)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{E5}       —  Alta inversión, bajas ventas (aislado)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métodos (mismos datos, k=2 y k=3):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métodos coinciden en que {E7,E8} forman un grupo natural.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Single/Complete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K-Medias (k=2): {E1,E2,E5} vs {E7,E8}.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(k=3): separa además E5 de {E1,E2}, detectando su perfil atípico.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mismo dataset con distintos métodos permite compararlos y tomar decisiones más informadas.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DIANA: DENDROGRAMA</a:t>
            </a:r>
            <a:endParaRPr lang="es-CL" sz="3600" noProof="0" dirty="0"/>
          </a:p>
        </p:txBody>
      </p:sp>
      <p:sp>
        <p:nvSpPr>
          <p:cNvPr id="5" name="Shape 2"/>
          <p:cNvSpPr/>
          <p:nvPr/>
        </p:nvSpPr>
        <p:spPr>
          <a:xfrm>
            <a:off x="914400" y="548640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3"/>
          <p:cNvSpPr/>
          <p:nvPr/>
        </p:nvSpPr>
        <p:spPr>
          <a:xfrm>
            <a:off x="1051560" y="5577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endParaRPr lang="es-CL" sz="1300" noProof="0" dirty="0"/>
          </a:p>
          <a:p>
            <a:pPr marL="0" indent="0">
              <a:buNone/>
            </a:pP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se lee de arriba (raíz) a abajo (hojas): primero se separa {E7,E8}, luego E5 de {E1,E2}. Comparar con los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dendrogramas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aglomerativos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se leen de abajo hacia arriba.</a:t>
            </a:r>
            <a:endParaRPr lang="es-CL" sz="1300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A33BB55-1D4F-3D0C-5C19-91CEDD908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133" y="1060801"/>
            <a:ext cx="5703253" cy="433415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EN R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281525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DIANA: método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desagregativo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dist_matriz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euclidean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DIANA en R (nota: usa dados originales o matriz distancia)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diana_result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diana(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euclidean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Visualizar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dendrograma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diana_result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"DIANA - Divisive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"Observación",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"Distancia")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Asignar a k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cutree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diana_result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 = 3)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Comparar con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aglomerativo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hc_ward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hclust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dist_matriz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"ward.D2")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mfrow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c(1, 2))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hc_ward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"Ward 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aglomerativo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diana_result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"DIANA 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desagregativo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)")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CAPÍTULO 5: CLUSTERING</a:t>
            </a:r>
            <a:endParaRPr lang="es-CL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s-CL" sz="1300" noProof="0" dirty="0"/>
          </a:p>
          <a:p>
            <a:pPr marL="0" indent="0">
              <a:buNone/>
            </a:pP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agrupa observaciones similares sin etiquetas previas.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Medidas de distancia: Euclídea, Manhattan, Correlación, Binarias.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Estandarización: Z-scores, rango [0,máx], Min-Max [0,1].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Métodos jerárquicos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aglomerativos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Single, Complete, Centroide, Ward.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Métodos no jerárquicos: K-Medias (+ K-Means++ para inicialización).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Métodos jerárquicos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desagregativos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DIANA.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Elección de k: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(WSS),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6537960" y="164592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prácticos</a:t>
            </a:r>
            <a:endParaRPr lang="es-CL" sz="1300" noProof="0" dirty="0"/>
          </a:p>
          <a:p>
            <a:pPr marL="0" indent="0">
              <a:buNone/>
            </a:pP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Preparar datos (limpiar, estandarizar).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Elegir medida de distancia según tipo de datos.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 algoritmo (Ward para jerárquico, K-Medias para grandes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Determinar k óptimo (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Interpretar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validar resultados.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Documentar perfiles de cada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3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7256</Words>
  <Application>Microsoft Office PowerPoint</Application>
  <PresentationFormat>Panorámica</PresentationFormat>
  <Paragraphs>802</Paragraphs>
  <Slides>60</Slides>
  <Notes>60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 Math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Conglomerados - Capítulo 5</dc:title>
  <dc:subject>PptxGenJS Presentation</dc:subject>
  <dc:creator>Métodos Estadísticos</dc:creator>
  <cp:lastModifiedBy>Enrique Saint-Pierre</cp:lastModifiedBy>
  <cp:revision>9</cp:revision>
  <dcterms:created xsi:type="dcterms:W3CDTF">2026-04-25T15:27:42Z</dcterms:created>
  <dcterms:modified xsi:type="dcterms:W3CDTF">2026-04-26T21:59:53Z</dcterms:modified>
</cp:coreProperties>
</file>