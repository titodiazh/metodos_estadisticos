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97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74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405F-8A0B-81ED-44EC-FDD8B7F1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C83FA-2F01-1C5A-2C86-AE32864F3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31A33-06D9-C2C0-34E2-074496025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B096D-A64E-45BA-17FB-FE3B0A426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14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DE45-6E8A-40D9-0034-AA1286FF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251AA-13CB-9FD7-B314-3F11BA74F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63000-2043-5A1D-5063-C03580BB5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7AD48-A79F-78DB-D791-CEC273F9A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70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Supervisada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LDA, QDA y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CLASIFICACIÓN SUPERVISADA?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supervisada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disponemos de un conjunto de datos donde conocemos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qué grupo pertenece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observación. El objetivo es construir una regla que permita clasificar </a:t>
            </a: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observaciones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uno de esos grupos.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B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B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(Capítulo 5: </a:t>
            </a:r>
            <a:r>
              <a:rPr lang="es-CL" sz="1300" noProof="0" dirty="0" err="1">
                <a:solidFill>
                  <a:srgbClr val="B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r>
              <a:rPr lang="es-CL" sz="1300" noProof="0" dirty="0">
                <a:solidFill>
                  <a:srgbClr val="B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8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grupos conocidos a priori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descubren agrupaciones naturales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segmentar clientes</a:t>
            </a:r>
            <a:endParaRPr lang="es-CL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0" y="2834640"/>
            <a:ext cx="4846320" cy="2926080"/>
          </a:xfrm>
          <a:prstGeom prst="rect">
            <a:avLst/>
          </a:prstGeom>
          <a:solidFill>
            <a:srgbClr val="F4F7E9"/>
          </a:solidFill>
          <a:ln w="254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6583680" y="29260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(Capítulo 6: Clasificación)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8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son conocidos (etiquetas)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una regla de decisión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predecir si un cliente paga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CLASIFICACIÓN</a:t>
            </a:r>
            <a:endParaRPr lang="es-CL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observaciones, cada una con p variables predictoras (X₁, X₂, ..., Xₚ)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variable respuesta categórica Y con K grupos.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2606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Objetivo: encontrar una función  f(x)  tal que  f(x) → Grupo correcto</a:t>
            </a:r>
            <a:endParaRPr lang="es-C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que estudiaremos: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3200400" cy="45720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s-CL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s-CL" sz="14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s-CL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 los datos sobre</a:t>
            </a:r>
            <a:endParaRPr lang="es-CL" sz="12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dirección óptima (Fisher)</a:t>
            </a:r>
            <a:endParaRPr lang="es-CL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480560" y="420624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4480560" y="4206240"/>
            <a:ext cx="3200400" cy="45720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s-CL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s-CL" sz="14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Cuadrático</a:t>
            </a:r>
            <a:endParaRPr lang="es-CL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4617720" y="5349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LDA pero permite</a:t>
            </a:r>
            <a:endParaRPr lang="es-CL" sz="12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covarianzas distintas por grupo</a:t>
            </a:r>
            <a:endParaRPr lang="es-CL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8046720" y="420624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8046720" y="4206240"/>
            <a:ext cx="3200400" cy="45720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813816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</a:t>
            </a:r>
            <a:endParaRPr lang="es-CL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818388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s-CL" sz="14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Bayesiano Ingenuo</a:t>
            </a:r>
            <a:endParaRPr lang="es-CL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8183880" y="5349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Bayes con</a:t>
            </a:r>
            <a:endParaRPr lang="es-CL" sz="12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condicional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BANCO DE ADEMUZ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de Ademuz quiere predecir si un nuevo cliente será </a:t>
            </a:r>
            <a:r>
              <a:rPr lang="es-CL" sz="1700" b="1" noProof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fallido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paga sus deudas) o </a:t>
            </a:r>
            <a:r>
              <a:rPr lang="es-CL" sz="1700" b="1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cumplidor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(paga correctamente).</a:t>
            </a:r>
            <a:endParaRPr lang="es-CL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disponible: 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clientes históricos con dos variables medidas: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X₁ = Patrimonio (miles de €)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X₂ = Deuda (miles de €)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 = Grupo (Fallido / Cumplidor)</a:t>
            </a:r>
            <a:endParaRPr lang="es-CL" sz="18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029200" cy="228600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583680" y="265176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por grupo: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Fallidos (n=8):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Patrimonio medio = 5    Deuda media = 5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Cumplidores (n=8):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Patrimonio medio = 9    Deuda media = 3</a:t>
            </a:r>
            <a:endParaRPr lang="es-CL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cliente nuevo con Patrimonio = 7 y Deuda = 4.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7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más probable que sea fallido o cumplidor?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BANCO DE ADEMUZ</a:t>
            </a:r>
            <a:endParaRPr lang="es-CL" sz="3600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911007"/>
              </p:ext>
            </p:extLst>
          </p:nvPr>
        </p:nvGraphicFramePr>
        <p:xfrm>
          <a:off x="1371600" y="1371600"/>
          <a:ext cx="9418320" cy="51297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 (X₁)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(X₂)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(Y)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Univariada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PRIMER INTENTO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USANDO SOLO PATRIMONIO</a:t>
            </a:r>
            <a:endParaRPr lang="es-CL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simple: 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punto de corte entre las medias de los dos grupos.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828800" y="2103120"/>
            <a:ext cx="85039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96596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(X̄₁ + X̄₂) / 2 = (5 + 9) / 2 = 7</a:t>
            </a:r>
            <a:endParaRPr lang="es-CL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Patrimonio &lt; 7 → Fallido     Si Patrimonio ≥ 7 → Cumplidor</a:t>
            </a:r>
            <a:endParaRPr lang="es-CL" sz="18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548267"/>
              </p:ext>
            </p:extLst>
          </p:nvPr>
        </p:nvGraphicFramePr>
        <p:xfrm>
          <a:off x="1371600" y="3566160"/>
          <a:ext cx="941832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real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 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 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Correcto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= 12/16 =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s-CL" sz="1800" noProof="0" dirty="0"/>
          </a:p>
        </p:txBody>
      </p:sp>
      <p:sp>
        <p:nvSpPr>
          <p:cNvPr id="10" name="Shape 7"/>
          <p:cNvSpPr/>
          <p:nvPr/>
        </p:nvSpPr>
        <p:spPr>
          <a:xfrm>
            <a:off x="2743200" y="5303520"/>
            <a:ext cx="6675120" cy="54864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8"/>
          <p:cNvSpPr/>
          <p:nvPr/>
        </p:nvSpPr>
        <p:spPr>
          <a:xfrm>
            <a:off x="2880360" y="5394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hacerlo mejor combinando ambas variables?</a:t>
            </a:r>
            <a:endParaRPr lang="es-CL" sz="17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USANDO SOLO DEUDA</a:t>
            </a:r>
            <a:endParaRPr lang="es-C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1828800" y="1554480"/>
            <a:ext cx="85039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96596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(X̄₁ + X̄₂) / 2 = (5 + 3) / 2 = 4</a:t>
            </a:r>
            <a:endParaRPr lang="es-CL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Deuda &gt; 4 → Fallido     Si Deuda ≤ 4 → Cumplidor</a:t>
            </a:r>
            <a:endParaRPr lang="es-CL" sz="18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46956"/>
              </p:ext>
            </p:extLst>
          </p:nvPr>
        </p:nvGraphicFramePr>
        <p:xfrm>
          <a:off x="1371600" y="3017520"/>
          <a:ext cx="941832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real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 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Clasificado 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Correcto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= 10/16 =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56,3%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Peor que con patrimonio.</a:t>
            </a:r>
            <a:endParaRPr lang="es-CL" sz="1800" noProof="0" dirty="0"/>
          </a:p>
        </p:txBody>
      </p:sp>
      <p:sp>
        <p:nvSpPr>
          <p:cNvPr id="7" name="Shape 6"/>
          <p:cNvSpPr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7"/>
          <p:cNvSpPr/>
          <p:nvPr/>
        </p:nvSpPr>
        <p:spPr>
          <a:xfrm>
            <a:off x="1051560" y="49377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variable no captura toda la información.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X₁ y X₂ en una función óptima → </a:t>
            </a: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 de Fisher.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B7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75AF7-0262-D528-1892-BC5F7558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012FC3-9B38-809F-0238-2CA903ED1002}"/>
              </a:ext>
            </a:extLst>
          </p:cNvPr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66AD159-7BCC-2BC6-451C-26018EFE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740" y="408834"/>
            <a:ext cx="7709471" cy="585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8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(LDA)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DISCRIMINANTE DE FISHER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FISHER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vimos que con una sola variable clasificamos mal. ¿Y si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patrimonio y deuda en un solo número?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0332720" cy="100584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que los 16 clientes son puntos en un plano (patrimonio × deuda). Fisher busca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ángulo para proyectar esos puntos sobre una recta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 modo que las sombras de fallidos y cumplidores queden lo más separadas posible.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esa combinación es: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1828800" y="3749040"/>
            <a:ext cx="85039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9659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=  u₁ × Patrimonio  +  u₂ × Deuda</a:t>
            </a:r>
            <a:endParaRPr lang="es-CL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u₁ y u₂ son los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Fisher calcula. Si patrimonio importa más para distinguir los grupos, u₁ será mayor que u₂.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 es un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único por cliente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 número alto sugiere cumplidor, uno bajo sugiere fallido.</a:t>
            </a:r>
            <a:endParaRPr lang="es-CL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585216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encontramos los pesos óptimos u₁ y u₂? Necesitamos un criterio matemático.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CRITERIO: SEÑAL VS. RUIDO</a:t>
            </a:r>
            <a:endParaRPr lang="es-CL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encontrar los pesos u, Fisher razona así: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029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(F)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lejos están las medias de los grupos?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fallidos tienen patrimonio medio 5 y los cumplidores 9, eso es buena señal: los grupos son distintos.</a:t>
            </a: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029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RUIDO (W)</a:t>
            </a:r>
            <a:endParaRPr lang="es-CL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6583680" y="24688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dispersos están los clientes dentro de cada grupo?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patrimonios de los fallidos varían entre 3 y 8, hay mucho ruido y es difícil clasificar.</a:t>
            </a:r>
            <a:endParaRPr lang="es-CL" sz="1800" noProof="0" dirty="0"/>
          </a:p>
        </p:txBody>
      </p:sp>
      <p:sp>
        <p:nvSpPr>
          <p:cNvPr id="13" name="Shape 11"/>
          <p:cNvSpPr/>
          <p:nvPr/>
        </p:nvSpPr>
        <p:spPr>
          <a:xfrm>
            <a:off x="1371600" y="4023360"/>
            <a:ext cx="941832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1508760" y="4069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Fisher:  maximizar  λ = Señal / Ruido = F / W</a:t>
            </a:r>
            <a:endParaRPr lang="es-CL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palabras: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la combinación de variables donde las medias de los grupos estén lo más lejos posible (señal alta) y los clientes dentro de cada grupo estén lo más juntos posible (ruido bajo).</a:t>
            </a:r>
            <a:endParaRPr lang="es-CL" sz="1800" noProof="0" dirty="0"/>
          </a:p>
        </p:txBody>
      </p:sp>
      <p:sp>
        <p:nvSpPr>
          <p:cNvPr id="16" name="Shape 14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10515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análogo al ANOVA que ya conocen: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allí también comparamos variabilidad entre grupos vs. dentro de grupos. Aquí hacemos lo mismo, pero con matrices (porque tenemos varias variables).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MATEMÁTICA (NOTACIÓN FORMAL)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Formalmente, la señal y el ruido se expresan con las matrices </a:t>
            </a: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(factor, entre grupos) y </a:t>
            </a:r>
            <a:r>
              <a:rPr lang="es-CL" sz="1600" b="1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dentro de grupos):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0" y="2194560"/>
            <a:ext cx="758952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2423160" y="2240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600" b="1" noProof="0" dirty="0" err="1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es-CL" sz="26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λ  =  u' F u  /  u' W u</a:t>
            </a:r>
            <a:endParaRPr lang="es-CL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necesitan memorizar esta fórmula. Lo importante es entender qué hace: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1188720" y="3611880"/>
            <a:ext cx="365760" cy="36576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182880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mide cuánto se separan las medias de los grupos al proyectar sobre u</a:t>
            </a:r>
            <a:endParaRPr lang="es-CL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1188720" y="4160520"/>
            <a:ext cx="365760" cy="36576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182880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mide cuánto se dispersan los datos dentro de cada grupo</a:t>
            </a:r>
            <a:endParaRPr lang="es-CL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1188720" y="4709160"/>
            <a:ext cx="365760" cy="36576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11887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182880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λ = encontrar los pesos u donde la señal (F) es máxima y el ruido (W) es mínimo</a:t>
            </a:r>
            <a:endParaRPr lang="es-CL" sz="1500" noProof="0" dirty="0"/>
          </a:p>
        </p:txBody>
      </p:sp>
      <p:sp>
        <p:nvSpPr>
          <p:cNvPr id="17" name="Shape 15"/>
          <p:cNvSpPr/>
          <p:nvPr/>
        </p:nvSpPr>
        <p:spPr>
          <a:xfrm>
            <a:off x="914400" y="5303520"/>
            <a:ext cx="10332720" cy="118872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5394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 grupos, la solución tiene forma cerrada:   u = W⁻¹(x̄₁ − x̄₂)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decir: se invierte la matriz de dispersión interna y se multiplica por la diferencia de medias.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R calcula esto automáticamente con la función </a:t>
            </a:r>
            <a:r>
              <a:rPr lang="es-CL" sz="1400" b="1" noProof="0" dirty="0" err="1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r>
              <a:rPr lang="es-CL" sz="14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NUMÉRICO: MEDIAS POR GRUPO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 del Banco de Ademuz, calculamos las medias de cada grupo:</a:t>
            </a:r>
            <a:endParaRPr lang="es-CL" sz="16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505327"/>
              </p:ext>
            </p:extLst>
          </p:nvPr>
        </p:nvGraphicFramePr>
        <p:xfrm>
          <a:off x="2286000" y="2103120"/>
          <a:ext cx="758952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X̄₁ (Patrimonio)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X̄₂ (Deuda)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medias:   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x̄_F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r>
              <a:rPr lang="es-CL" sz="17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x̄_C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(5 − 9,  5 − 3)  =  (−4,  2)</a:t>
            </a:r>
            <a:endParaRPr lang="es-CL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Observaciones: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fallidos tienen menor patrimonio y mayor deuda en promedio.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 más grande en patrimonio (4 unidades) que en deuda (2 unidades).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Patrimonio debería tener más peso en la función discriminante.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NUMÉRICO: LA DISPERSIÓN INTERNA (W)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mide cuánto varían los clientes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su propio grupo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calcula sumando las matrices de dispersión de cada grupo: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s-CL" sz="1800" b="1" noProof="0" dirty="0">
              <a:solidFill>
                <a:srgbClr val="59565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endParaRPr lang="es-CL" b="1" noProof="0" dirty="0">
              <a:solidFill>
                <a:srgbClr val="59565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significan estos números?</a:t>
            </a:r>
            <a:endParaRPr lang="es-CL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66,70 (diagonal, patrimonio):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total de patrimonio dentro de los grupos. 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45,62 (diagonal, deuda):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total de deuda dentro de los grupos. </a:t>
            </a: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14,01 (fuera de diagonal):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covarianza entre patrimonio y deuda. </a:t>
            </a: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del cálculo de cada S está en el script de R (sección 6). Aquí lo importante es entender qué mide W, no memorizarlo.</a:t>
            </a:r>
            <a:endParaRPr lang="es-CL" sz="1600" noProof="0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BEE3834-DF7B-C412-D666-2C17D9B8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20886"/>
              </p:ext>
            </p:extLst>
          </p:nvPr>
        </p:nvGraphicFramePr>
        <p:xfrm>
          <a:off x="1979721" y="2179320"/>
          <a:ext cx="7820213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3930">
                  <a:extLst>
                    <a:ext uri="{9D8B030D-6E8A-4147-A177-3AD203B41FA5}">
                      <a16:colId xmlns:a16="http://schemas.microsoft.com/office/drawing/2014/main" val="4146097247"/>
                    </a:ext>
                  </a:extLst>
                </a:gridCol>
                <a:gridCol w="390617">
                  <a:extLst>
                    <a:ext uri="{9D8B030D-6E8A-4147-A177-3AD203B41FA5}">
                      <a16:colId xmlns:a16="http://schemas.microsoft.com/office/drawing/2014/main" val="2337913874"/>
                    </a:ext>
                  </a:extLst>
                </a:gridCol>
                <a:gridCol w="1535837">
                  <a:extLst>
                    <a:ext uri="{9D8B030D-6E8A-4147-A177-3AD203B41FA5}">
                      <a16:colId xmlns:a16="http://schemas.microsoft.com/office/drawing/2014/main" val="1038949746"/>
                    </a:ext>
                  </a:extLst>
                </a:gridCol>
                <a:gridCol w="1491449">
                  <a:extLst>
                    <a:ext uri="{9D8B030D-6E8A-4147-A177-3AD203B41FA5}">
                      <a16:colId xmlns:a16="http://schemas.microsoft.com/office/drawing/2014/main" val="1022996478"/>
                    </a:ext>
                  </a:extLst>
                </a:gridCol>
                <a:gridCol w="478380">
                  <a:extLst>
                    <a:ext uri="{9D8B030D-6E8A-4147-A177-3AD203B41FA5}">
                      <a16:colId xmlns:a16="http://schemas.microsoft.com/office/drawing/2014/main" val="209965078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s-CL" sz="1800" b="1" noProof="0" dirty="0">
                          <a:solidFill>
                            <a:srgbClr val="595652"/>
                          </a:solidFill>
                        </a:rPr>
                        <a:t>W  =  </a:t>
                      </a:r>
                      <a:r>
                        <a:rPr lang="es-CL" sz="1800" b="1" noProof="0" dirty="0" err="1">
                          <a:solidFill>
                            <a:srgbClr val="595652"/>
                          </a:solidFill>
                        </a:rPr>
                        <a:t>S_Fallidos</a:t>
                      </a:r>
                      <a:r>
                        <a:rPr lang="es-CL" sz="1800" b="1" noProof="0" dirty="0">
                          <a:solidFill>
                            <a:srgbClr val="595652"/>
                          </a:solidFill>
                        </a:rPr>
                        <a:t> + </a:t>
                      </a:r>
                      <a:r>
                        <a:rPr lang="es-CL" sz="1800" b="1" noProof="0" dirty="0" err="1">
                          <a:solidFill>
                            <a:srgbClr val="595652"/>
                          </a:solidFill>
                        </a:rPr>
                        <a:t>S_Cumplidores</a:t>
                      </a:r>
                      <a:r>
                        <a:rPr lang="es-CL" sz="1800" b="1" noProof="0" dirty="0">
                          <a:solidFill>
                            <a:srgbClr val="595652"/>
                          </a:solidFill>
                        </a:rPr>
                        <a:t>  =</a:t>
                      </a:r>
                      <a:endParaRPr lang="es-CL" noProof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s-CL" sz="4400" b="0" noProof="0" dirty="0">
                          <a:solidFill>
                            <a:srgbClr val="595652"/>
                          </a:solidFill>
                          <a:latin typeface="+mj-lt"/>
                        </a:rPr>
                        <a:t>(</a:t>
                      </a:r>
                      <a:endParaRPr lang="es-CL" sz="4400" b="0" noProof="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800" u="none" strike="noStrike" noProof="0" dirty="0">
                          <a:effectLst/>
                        </a:rPr>
                        <a:t>66,7</a:t>
                      </a:r>
                      <a:endParaRPr lang="es-CL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800" u="none" strike="noStrike" noProof="0" dirty="0">
                          <a:effectLst/>
                        </a:rPr>
                        <a:t>14,01</a:t>
                      </a:r>
                      <a:endParaRPr lang="es-CL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r>
                        <a:rPr lang="es-CL" sz="4400" noProof="0" dirty="0">
                          <a:latin typeface="+mj-lt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34729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800" u="none" strike="noStrike" noProof="0" dirty="0">
                          <a:effectLst/>
                        </a:rPr>
                        <a:t>14,01</a:t>
                      </a:r>
                      <a:endParaRPr lang="es-CL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800" u="none" strike="noStrike" noProof="0" dirty="0">
                          <a:effectLst/>
                        </a:rPr>
                        <a:t>45,62</a:t>
                      </a:r>
                      <a:endParaRPr lang="es-CL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493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ÓPTIMOS: ¿QUÉ SALE DEL CÁLCULO?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la fórmula u = W⁻¹(x̄₁ − x̄₂) a nuestros datos (el álgebra está en el script R, sección 6):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2057400"/>
            <a:ext cx="9738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  u₁ = -0,074  (patrimonio)        u₂ = 0,067  (deuda)</a:t>
            </a:r>
            <a:endParaRPr lang="es-CL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discriminante queda:</a:t>
            </a:r>
          </a:p>
        </p:txBody>
      </p:sp>
      <p:sp>
        <p:nvSpPr>
          <p:cNvPr id="10" name="Shape 8"/>
          <p:cNvSpPr/>
          <p:nvPr/>
        </p:nvSpPr>
        <p:spPr>
          <a:xfrm>
            <a:off x="1371600" y="3426337"/>
            <a:ext cx="85039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1237991" y="350645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L" sz="24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 = -0,074 × Patrimonio  + 0,067 × Deuda</a:t>
            </a:r>
            <a:endParaRPr lang="es-CL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1348740" y="4389120"/>
            <a:ext cx="10058400" cy="169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recibe un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nos interesa la </a:t>
            </a:r>
            <a:r>
              <a:rPr lang="es-CL" sz="1500" b="1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vector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 podemos multiplicar por cualquier escalar (incluso negativos)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 hecho veremos que R nos da valores diferentes)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s-CL" sz="16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B7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4BA05-B76C-D5EC-ECA8-72B2FDDD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EB9AD4-858B-CDAE-E02F-2356E87D0CA4}"/>
              </a:ext>
            </a:extLst>
          </p:cNvPr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2213A7-6ECB-0700-5BFC-59B722607B6F}"/>
              </a:ext>
            </a:extLst>
          </p:cNvPr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BANCO DE ADEMUZ</a:t>
            </a:r>
            <a:endParaRPr lang="es-CL" sz="3600" noProof="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8089753E-3817-1ED3-1A99-4CF8AC863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09538"/>
              </p:ext>
            </p:extLst>
          </p:nvPr>
        </p:nvGraphicFramePr>
        <p:xfrm>
          <a:off x="1371600" y="1371600"/>
          <a:ext cx="9418321" cy="5129784"/>
        </p:xfrm>
        <a:graphic>
          <a:graphicData uri="http://schemas.openxmlformats.org/drawingml/2006/table">
            <a:tbl>
              <a:tblPr/>
              <a:tblGrid>
                <a:gridCol w="10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7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5328">
                  <a:extLst>
                    <a:ext uri="{9D8B030D-6E8A-4147-A177-3AD203B41FA5}">
                      <a16:colId xmlns:a16="http://schemas.microsoft.com/office/drawing/2014/main" val="11396471"/>
                    </a:ext>
                  </a:extLst>
                </a:gridCol>
                <a:gridCol w="2285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 (X₁)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 (X₂)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L" sz="1300" b="1" kern="12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(Y)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0,1767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0,1856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-0,1701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-0,0037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-0,1657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-0,1161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-0,0784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-0,1242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-0,3180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-0,4452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-0,3461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-0,7543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-0,1198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-0,5701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-0,5480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-0,6256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462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CON LA FUNCIÓN D</a:t>
            </a:r>
            <a:endParaRPr lang="es-CL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calcular los promedios (o centroides) de los grupos:</a:t>
            </a:r>
            <a:endParaRPr lang="es-CL" sz="18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322086"/>
              </p:ext>
            </p:extLst>
          </p:nvPr>
        </p:nvGraphicFramePr>
        <p:xfrm>
          <a:off x="1691640" y="1774202"/>
          <a:ext cx="8503920" cy="1152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D̄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-0,074 × 5 + 0,067 × 5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-0,037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-0,074 × 9 + 0,067 × 3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4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-0,466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371600" y="3840480"/>
            <a:ext cx="94183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/>
          <p:cNvSpPr/>
          <p:nvPr/>
        </p:nvSpPr>
        <p:spPr>
          <a:xfrm>
            <a:off x="1508760" y="3886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corte:  C = (D̄_F + D̄_C) / 2 = </a:t>
            </a:r>
            <a:r>
              <a:rPr lang="es-CL" sz="200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</a:rPr>
              <a:t>(-0,466 </a:t>
            </a:r>
            <a:r>
              <a:rPr lang="es-CL" sz="200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0,037) / 2 = -0,251</a:t>
            </a:r>
          </a:p>
        </p:txBody>
      </p:sp>
      <p:sp>
        <p:nvSpPr>
          <p:cNvPr id="10" name="Text 7"/>
          <p:cNvSpPr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clasificación: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 &gt; -0,251  →  Fallido        Si D &lt; -0,251  →  Cumplidor</a:t>
            </a:r>
            <a:endParaRPr lang="es-CL" sz="1800" noProof="0" dirty="0"/>
          </a:p>
        </p:txBody>
      </p:sp>
      <p:sp>
        <p:nvSpPr>
          <p:cNvPr id="11" name="Shape 8"/>
          <p:cNvSpPr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9"/>
          <p:cNvSpPr/>
          <p:nvPr/>
        </p:nvSpPr>
        <p:spPr>
          <a:xfrm>
            <a:off x="1051560" y="5669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 (Patrimonio=7, Deuda=4):  D = -0,074 × 7 + 0,067 × 4 = </a:t>
            </a:r>
            <a:r>
              <a:rPr lang="es-CL" sz="160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-0,251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 en la frontera — caso ambiguo que requiere análisis adicional.</a:t>
            </a:r>
            <a:endParaRPr lang="es-CL" sz="1600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9F0713-6212-AE06-3D03-B805A1CDD0BF}"/>
              </a:ext>
            </a:extLst>
          </p:cNvPr>
          <p:cNvSpPr txBox="1"/>
          <p:nvPr/>
        </p:nvSpPr>
        <p:spPr>
          <a:xfrm>
            <a:off x="1606858" y="3240350"/>
            <a:ext cx="8588702" cy="38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CL" sz="1700" dirty="0">
                <a:solidFill>
                  <a:srgbClr val="595652"/>
                </a:solidFill>
                <a:latin typeface="Calibri" pitchFamily="34" charset="0"/>
                <a:cs typeface="Calibri" pitchFamily="34" charset="-120"/>
              </a:rPr>
              <a:t>El promedio de D es menor (más negativo) entre los cumplidores que entre los fallidos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884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683581" y="185987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CLASIFICACIÓN DE LOS 16 CLIENTES</a:t>
            </a:r>
            <a:endParaRPr lang="es-CL" sz="2800" noProof="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37090"/>
              </p:ext>
            </p:extLst>
          </p:nvPr>
        </p:nvGraphicFramePr>
        <p:xfrm>
          <a:off x="683581" y="998737"/>
          <a:ext cx="8046720" cy="5129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</a:t>
                      </a: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Clasif.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0,1767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0,1856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-0,1701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-0,0037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-0,1657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-0,1161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7,6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-0,0784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-0,1242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-0,3180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-0,4452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-0,3461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-0,7543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6,3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5,2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-0,1198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Fallido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8,7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-0,5701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11,1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-0,5480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9,9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CL" sz="1200" b="0" i="0" u="none" strike="noStrike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</a:rPr>
                        <a:t>1,6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200" b="0" i="0" u="none" strike="noStrike" kern="1200" noProof="0" dirty="0">
                          <a:solidFill>
                            <a:srgbClr val="595652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-0,6256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1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Cumplidor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3581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 correctos = </a:t>
            </a: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93.75%</a:t>
            </a:r>
            <a:r>
              <a:rPr lang="es-CL" sz="13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 75% </a:t>
            </a:r>
            <a:r>
              <a:rPr lang="es-CL" sz="1300" noProof="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univariado</a:t>
            </a:r>
            <a:r>
              <a:rPr lang="es-CL" sz="13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—  Solo 1 error: cliente 7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LDA: ¿CUÁNDO FUNCIONA BIEN?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todo modelo estadístico, LDA hace ciertos supuestos. Si no se cumplen, los resultados pueden ser menos confiables: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1188720" y="2423160"/>
            <a:ext cx="548640" cy="54864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201168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multivariada</a:t>
            </a:r>
            <a:endParaRPr lang="es-CL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2011680" y="256032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grupo, los datos siguen una distribución normal (la famosa "campana"). Se verifica con QQ-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test de Shapiro.</a:t>
            </a:r>
            <a:endParaRPr lang="es-CL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2011680" y="2971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LDA es bastante robusto a desviaciones leves de normalidad.</a:t>
            </a:r>
            <a:endParaRPr lang="es-CL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1188720" y="3977640"/>
            <a:ext cx="548640" cy="54864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11887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201168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Covarianzas iguales entre grupos</a:t>
            </a:r>
            <a:endParaRPr lang="es-CL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2011680" y="41148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dispersión de los datos es similar en todos los grupos. Si un grupo es mucho más disperso que otro, hay que usar QDA.</a:t>
            </a:r>
            <a:endParaRPr lang="es-CL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2011680" y="4526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 el test de </a:t>
            </a:r>
            <a:r>
              <a:rPr lang="es-CL" sz="1200" noProof="0" dirty="0" err="1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(lo veremos en la sección de QDA).</a:t>
            </a:r>
            <a:endParaRPr lang="es-CL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914400" y="5212080"/>
            <a:ext cx="10332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Shape 16"/>
          <p:cNvSpPr/>
          <p:nvPr/>
        </p:nvSpPr>
        <p:spPr>
          <a:xfrm>
            <a:off x="1188720" y="5532120"/>
            <a:ext cx="548640" cy="54864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1188720" y="5532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800" noProof="0" dirty="0"/>
          </a:p>
        </p:txBody>
      </p:sp>
      <p:sp>
        <p:nvSpPr>
          <p:cNvPr id="20" name="Text 18"/>
          <p:cNvSpPr/>
          <p:nvPr/>
        </p:nvSpPr>
        <p:spPr>
          <a:xfrm>
            <a:off x="2011680" y="5303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independientes</a:t>
            </a:r>
            <a:endParaRPr lang="es-CL" sz="1500" noProof="0" dirty="0"/>
          </a:p>
        </p:txBody>
      </p:sp>
      <p:sp>
        <p:nvSpPr>
          <p:cNvPr id="21" name="Text 19"/>
          <p:cNvSpPr/>
          <p:nvPr/>
        </p:nvSpPr>
        <p:spPr>
          <a:xfrm>
            <a:off x="2011680" y="5669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se muestreó de forma independiente (no son familiares, no se influyen entre sí).</a:t>
            </a:r>
            <a:endParaRPr lang="es-CL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2011680" y="60807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depende del diseño del estudio, no hay un test estadístico específico.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EN R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303520" cy="384048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Datos del Banco de Ademuz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s-CL" sz="1100" noProof="0" dirty="0"/>
          </a:p>
          <a:p>
            <a:pPr>
              <a:lnSpc>
                <a:spcPct val="120000"/>
              </a:lnSpc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patrimonio = </a:t>
            </a: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c(1.3,3.7,5,5.9,7.1,4,7.9,5.1,</a:t>
            </a:r>
          </a:p>
          <a:p>
            <a:pPr>
              <a:lnSpc>
                <a:spcPct val="120000"/>
              </a:lnSpc>
            </a:pP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 5.2,9.8,9,12,6.3,8.7,11.1,9.9),</a:t>
            </a:r>
            <a:endParaRPr lang="es-CL" sz="1100" noProof="0" dirty="0"/>
          </a:p>
          <a:p>
            <a:pPr>
              <a:lnSpc>
                <a:spcPct val="120000"/>
              </a:lnSpc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deuda      = </a:t>
            </a: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c(4.1,6.9,3,6.5,5.4,2.7,7.6,3.8,</a:t>
            </a:r>
          </a:p>
          <a:p>
            <a:pPr>
              <a:lnSpc>
                <a:spcPct val="120000"/>
              </a:lnSpc>
            </a:pP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 1,4.2,4.8,2,5.2,1.1,4.1,1.6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grupo      = factor(c(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("Fallido",8),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("Cumplidor",8)))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Ajustar LDA con MASS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(MASS)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modelo_lda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(grupo ~ patrimonio + deuda, data = datos)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modelo_lda</a:t>
            </a:r>
            <a:endParaRPr lang="es-CL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303520" cy="3840480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766560" y="14630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Predicción y matriz de confusión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pred_lda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modelo_lda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datos)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&lt;- table(Real =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datos$grupo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Predicho =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pred_lda$class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Predicho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     Cumplidor Fallido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Cumplidor     7       </a:t>
            </a: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Fallido       0       </a:t>
            </a:r>
            <a:r>
              <a:rPr lang="es-CL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(tabla)) / sum(tabla)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0.9375</a:t>
            </a:r>
            <a:endParaRPr lang="es-CL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5486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de MASS calcula automáticamente los coeficientes de Fisher y el punto de corte.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devuelve: $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(clasificación), $posterior (probabilidades), $x (scores discriminantes).</a:t>
            </a:r>
            <a:endParaRPr lang="es-CL" sz="16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4933</Words>
  <Application>Microsoft Office PowerPoint</Application>
  <PresentationFormat>Panorámica</PresentationFormat>
  <Paragraphs>939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8" baseType="lpstr">
      <vt:lpstr>Aptos Narrow</vt:lpstr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Supervisada - Capítulo 6</dc:title>
  <dc:subject>PptxGenJS Presentation</dc:subject>
  <dc:creator>Métodos Estadísticos</dc:creator>
  <cp:lastModifiedBy>Enrique Saint-Pierre</cp:lastModifiedBy>
  <cp:revision>7</cp:revision>
  <dcterms:created xsi:type="dcterms:W3CDTF">2026-04-28T21:09:37Z</dcterms:created>
  <dcterms:modified xsi:type="dcterms:W3CDTF">2026-05-10T01:05:21Z</dcterms:modified>
</cp:coreProperties>
</file>