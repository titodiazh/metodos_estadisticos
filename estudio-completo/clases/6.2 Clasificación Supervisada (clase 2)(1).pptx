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2" r:id="rId37"/>
    <p:sldId id="275" r:id="rId38"/>
    <p:sldId id="290" r:id="rId39"/>
    <p:sldId id="291" r:id="rId40"/>
    <p:sldId id="293" r:id="rId41"/>
    <p:sldId id="295" r:id="rId42"/>
    <p:sldId id="296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7740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Supervisada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LDA, QDA y </a:t>
            </a:r>
            <a:r>
              <a:rPr lang="es-CL" sz="5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Cuadrático (QDA)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LAS COVARIANZAS NO SON IGUALES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USAR QDA EN LUGAR DE LDA?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LDA supone que todos los grupos comparten la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matriz de covarianza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Si este supuesto no se cumple, la frontera de decisión debería ser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cuadrática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lineal.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560320"/>
            <a:ext cx="5029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5029200" cy="548640"/>
          </a:xfrm>
          <a:prstGeom prst="rect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s-CL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329184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 = Σ₂ = ... = Σₖ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decisión: 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 (hiperplano lineal)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parámetros → más estable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con pocos datos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Preferir si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Box's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no rechaza H₀</a:t>
            </a:r>
            <a:endParaRPr lang="es-CL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0" y="2560320"/>
            <a:ext cx="502920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solidFill>
            <a:srgbClr val="4A7FB5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s-CL" sz="2000" noProof="0" dirty="0"/>
          </a:p>
        </p:txBody>
      </p:sp>
      <p:sp>
        <p:nvSpPr>
          <p:cNvPr id="12" name="Text 10"/>
          <p:cNvSpPr/>
          <p:nvPr/>
        </p:nvSpPr>
        <p:spPr>
          <a:xfrm>
            <a:off x="6675120" y="3291840"/>
            <a:ext cx="44805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Σ₁ ≠ Σ₂ ≠ ... ≠ Σₖ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decisión: 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(hiperplano cuadrático)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parámetros → más flexible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 más datos por grupo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si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Box's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rechaza H₀</a:t>
            </a:r>
            <a:endParaRPr lang="es-CL" sz="1800" noProof="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105156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muestras pequeñas, preferir LDA aunque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Box's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sugiera covarianzas distintas.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BOX'S M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Box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evalúa la hipótesis de homogeneidad de las matrices de covarianza: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1371600" y="2194560"/>
            <a:ext cx="94183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508760" y="22402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H₀: Σ₁ = Σ₂ = ... = Σₖ    vs    H₁: al menos una Σᵢ ≠ Σⱼ</a:t>
            </a:r>
            <a:endParaRPr lang="es-CL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&gt; 0.05  →  No rechazamos H₀  →  Covarianzas iguales  →  Usar </a:t>
            </a: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 ≤ 0.05  →  Rechazamos H₀  →  Covarianzas distintas  →  Usar </a:t>
            </a:r>
            <a:r>
              <a:rPr lang="es-CL" sz="1600" b="1" noProof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1371600" y="4216893"/>
            <a:ext cx="9265920" cy="2157274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508760" y="4314549"/>
            <a:ext cx="9052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Box's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 test en R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biotools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boxM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(datos[, c("patrimonio", "deuda")],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datos$grupo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Box's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M-test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Homogeneity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Covariance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Matrices</a:t>
            </a:r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>
              <a:solidFill>
                <a:srgbClr val="E6DB7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data:  datos[, c("patrimonio", "deuda")]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Chi-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approx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.) = 0.8035,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3, p-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0.8486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p = 0.8486 &gt; 0.05: NO rechazamos H₀ → usar LDA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68680" y="2286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 EN R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868680" y="1023595"/>
            <a:ext cx="10332720" cy="4132555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51560" y="1078192"/>
            <a:ext cx="99669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Ajustar QDA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(grupo ~ patrimonio + deuda, data = datos)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modelo_qda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Predicción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datos)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table(Real =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datos$grupo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Predicho =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pred_qda$class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tabla_qda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Predicho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Real      Cumplidor Fallido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Cumplidor     7       </a:t>
            </a:r>
            <a:r>
              <a:rPr lang="es-CL" sz="12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Fallido       0       </a:t>
            </a:r>
            <a:r>
              <a:rPr lang="es-CL" sz="120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QDA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/ sum(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tabla_qda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0.9375  (igual que LDA en este caso)</a:t>
            </a:r>
            <a:endParaRPr lang="es-CL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868680" y="5192992"/>
            <a:ext cx="10332720" cy="68580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5092675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ejemplo, LDA y QDA dan el mismo resultado 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(93.75%)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porque las covarianzas son similares (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Box's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p = 0.544).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las covarianzas difieren significativamente, QDA puede ser muy superior a LDA.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868680" y="5970899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r>
              <a:rPr lang="es-CL" sz="14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16 observaciones (8 por grupo) y 2 variables, QDA estima más parámetros que LDA. En muestras pequeñas, LDA suele ser preferible.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Bayesiano Ingenuo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ENFOQUE: USAR PROBABILIDADES EN VEZ DE PROYECCIONES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ENFOQUE BAYESIANO: ¿A QUIÉN SE PARECE MÁS?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 es muy intuitiva: cuando llega un cliente nuevo, nos preguntamos </a:t>
            </a:r>
            <a:r>
              <a:rPr lang="es-CL" sz="1700" b="1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"¿se parece más a los fallidos que conozco o a los cumplidores?"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0332720" cy="82296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51560" y="22860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con Patrimonio=7 y Deuda=4, ¿es más "típico" de los fallidos (que suelen tener patrimonio bajo y deuda alta) o de los cumplidores (patrimonio alto, deuda baja)?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Bayes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formaliza esta intuición: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1097280" y="3749040"/>
            <a:ext cx="9966960" cy="73152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234440" y="37947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P(Grupo | datos del cliente)  ∝  P(datos | Grupo)  ×  P(Grupo)</a:t>
            </a:r>
            <a:endParaRPr lang="es-CL" sz="2000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4663440"/>
            <a:ext cx="10332720" cy="59436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1097280" y="47091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P(Grupo | datos)</a:t>
            </a:r>
            <a:endParaRPr lang="es-CL" sz="1400" noProof="0" dirty="0"/>
          </a:p>
        </p:txBody>
      </p:sp>
      <p:sp>
        <p:nvSpPr>
          <p:cNvPr id="12" name="Text 10"/>
          <p:cNvSpPr/>
          <p:nvPr/>
        </p:nvSpPr>
        <p:spPr>
          <a:xfrm>
            <a:off x="4114800" y="47091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queremos saber</a:t>
            </a:r>
            <a:endParaRPr lang="es-CL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6400800" y="47091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probabilidad hay de que sea Fallido (o Cumplidor) dado lo que vemos de él?</a:t>
            </a:r>
            <a:endParaRPr lang="es-CL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914400" y="5349240"/>
            <a:ext cx="10332720" cy="59436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5" name="Text 13"/>
          <p:cNvSpPr/>
          <p:nvPr/>
        </p:nvSpPr>
        <p:spPr>
          <a:xfrm>
            <a:off x="1097280" y="53949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P(datos | Grupo)</a:t>
            </a:r>
            <a:endParaRPr lang="es-CL" sz="1400" noProof="0" dirty="0"/>
          </a:p>
        </p:txBody>
      </p:sp>
      <p:sp>
        <p:nvSpPr>
          <p:cNvPr id="16" name="Text 14"/>
          <p:cNvSpPr/>
          <p:nvPr/>
        </p:nvSpPr>
        <p:spPr>
          <a:xfrm>
            <a:off x="4114800" y="5394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Verosimilitud</a:t>
            </a:r>
            <a:endParaRPr lang="es-CL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5394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tan típicos son estos datos para un cliente de ese grupo? (¿Se parece a los del grupo?)</a:t>
            </a:r>
            <a:endParaRPr lang="es-CL" sz="1200" noProof="0" dirty="0"/>
          </a:p>
        </p:txBody>
      </p:sp>
      <p:sp>
        <p:nvSpPr>
          <p:cNvPr id="18" name="Shape 16"/>
          <p:cNvSpPr/>
          <p:nvPr/>
        </p:nvSpPr>
        <p:spPr>
          <a:xfrm>
            <a:off x="914400" y="6035040"/>
            <a:ext cx="10332720" cy="59436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Text 17"/>
          <p:cNvSpPr/>
          <p:nvPr/>
        </p:nvSpPr>
        <p:spPr>
          <a:xfrm>
            <a:off x="1097280" y="6080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P(Grupo)</a:t>
            </a:r>
            <a:endParaRPr lang="es-CL" sz="1400" noProof="0" dirty="0"/>
          </a:p>
        </p:txBody>
      </p:sp>
      <p:sp>
        <p:nvSpPr>
          <p:cNvPr id="20" name="Text 18"/>
          <p:cNvSpPr/>
          <p:nvPr/>
        </p:nvSpPr>
        <p:spPr>
          <a:xfrm>
            <a:off x="4114800" y="60807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a priori</a:t>
            </a:r>
            <a:endParaRPr lang="es-CL" sz="1300" noProof="0" dirty="0"/>
          </a:p>
        </p:txBody>
      </p:sp>
      <p:sp>
        <p:nvSpPr>
          <p:cNvPr id="21" name="Text 19"/>
          <p:cNvSpPr/>
          <p:nvPr/>
        </p:nvSpPr>
        <p:spPr>
          <a:xfrm>
            <a:off x="6400800" y="60807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proporción del total son Fallidos/Cumplidores? (En nuestro caso, 50% cada uno)</a:t>
            </a:r>
            <a:endParaRPr lang="es-CL" sz="12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"INGENUO"? LA SIMPLIFICACIÓN CLAVE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calcular "¿qué tan típico es este cliente para cada grupo?", necesitamos evaluar sus dos variables 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juntas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Pero estimar distribuciones conjuntas con pocos datos es muy difícil.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10332720" cy="82296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051560" y="2377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"ingenua": 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suponer que, </a:t>
            </a: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grupo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saber el patrimonio de un cliente no me dice nada sobre su deuda (y viceversa).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permite evaluar cada variable por separado y multiplicar: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0332720" cy="73152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3794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8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P(patrimonio Y deuda | Grupo)  =  P(patrimonio | Grupo) × P(deuda | Grupo)</a:t>
            </a:r>
            <a:endParaRPr lang="es-CL" sz="1800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español: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"¿Qué tan típico es patrimonio=7 para un fallido?" × "¿Qué tan típica es deuda=4 para un fallido?"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de: "¿Qué tan típica es la combinación (7, 4) para un fallido?" (mucho más difícil)</a:t>
            </a:r>
            <a:endParaRPr lang="es-CL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914400" y="5852160"/>
            <a:ext cx="10332720" cy="73152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1051560" y="5943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cierto que patrimonio y deuda son independientes? Probablemente no del todo.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llama "ingenuo". Pero en la práctica funciona sorprendentemente bien, </a:t>
            </a: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especialmente cuando hay muchas variables y pocos datos.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A PRIORI Y VEROSIMILITUDES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a priori: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9418320" cy="54864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1508760" y="1965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18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P(Cₖ)  =  nₖ / n     (proporción de observaciones en cada grupo)</a:t>
            </a:r>
            <a:endParaRPr lang="es-CL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1371600" y="2560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Ademuz:  P(Fallido) = 8/16 = 0.5     P(Cumplidor) = 8/16 = 0.5</a:t>
            </a:r>
            <a:endParaRPr lang="es-CL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Verosimilitudes P(xⱼ | Cₖ):</a:t>
            </a:r>
            <a:endParaRPr lang="es-CL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3657600"/>
            <a:ext cx="5029200" cy="2560320"/>
          </a:xfrm>
          <a:prstGeom prst="rect">
            <a:avLst/>
          </a:prstGeom>
          <a:solidFill>
            <a:srgbClr val="F4F7E9"/>
          </a:solidFill>
          <a:ln w="1905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1097280" y="37490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continuas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CL" sz="1300" noProof="0" dirty="0" err="1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3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 Gaussiano)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asume distribución normal por clase: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xⱼ | Cₖ  ~  N(μⱼₖ, σ²ⱼₖ)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estima μⱼₖ y σ²ⱼₖ con la media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varianza de cada variable por grupo.</a:t>
            </a:r>
            <a:endParaRPr lang="es-CL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0" y="3657600"/>
            <a:ext cx="5029200" cy="2560320"/>
          </a:xfrm>
          <a:prstGeom prst="rect">
            <a:avLst/>
          </a:prstGeom>
          <a:solidFill>
            <a:srgbClr val="F4F7E9"/>
          </a:solidFill>
          <a:ln w="190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6583680" y="3749040"/>
            <a:ext cx="4663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(Tabla de frecuencias)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usan frecuencias relativas: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P(xⱼ = v | Cₖ) = nⱼₖᵥ / nₖ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Proporción de observaciones en Cₖ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tienen el valor v en la variable j.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19722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GAUSSIANO: EJEMPLO ADEMUZ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evaluar "¿qué tan típico es patrimonio=7 para un fallido?", necesitamos un modelo de cómo se distribuyen los datos de cada grupo. Asumimos que siguen una 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normal (campana de Gauss)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caracterizada por su media y desviación estándar.</a:t>
            </a:r>
            <a:endParaRPr lang="es-CL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1: Estimamos media (μ) y desviación estándar (σ) por grupo y variable:</a:t>
            </a:r>
            <a:endParaRPr lang="es-CL" sz="1800" noProof="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519939"/>
              </p:ext>
            </p:extLst>
          </p:nvPr>
        </p:nvGraphicFramePr>
        <p:xfrm>
          <a:off x="914400" y="2468880"/>
          <a:ext cx="10332720" cy="1828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(μ)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Desv</a:t>
                      </a: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</a:t>
                      </a:r>
                      <a:r>
                        <a:rPr lang="es-CL" sz="13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</a:t>
                      </a: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(σ)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Varianza (σ²)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2.07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4.29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Patrimonio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2.29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5.24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1.86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3.47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Deuda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Cumplidor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cs typeface="Calibri" pitchFamily="34" charset="-120"/>
                        </a:rPr>
                        <a:t>1.74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" latinLnBrk="0" hangingPunct="1">
                        <a:buNone/>
                      </a:pPr>
                      <a:r>
                        <a:rPr lang="es-CL" sz="1300" kern="1200" dirty="0">
                          <a:solidFill>
                            <a:srgbClr val="595652"/>
                          </a:solidFill>
                          <a:latin typeface="Calibri" pitchFamily="34" charset="0"/>
                          <a:ea typeface="+mn-ea"/>
                          <a:cs typeface="Calibri" pitchFamily="34" charset="-120"/>
                        </a:rPr>
                        <a:t>3.04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2: Para un nuevo cliente x = (Patrimonio=7, Deuda=4), calculamos:</a:t>
            </a:r>
            <a:endParaRPr lang="es-CL" sz="1800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P(x₁=7 | Fallido) × P(x₂=4 | Fallido) × P(Fallido)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P(x₁=7 | Cumplidor) × P(x₂=4 | Cumplidor) × P(Cumplidor)</a:t>
            </a:r>
            <a:endParaRPr lang="es-CL" sz="1800" noProof="0" dirty="0"/>
          </a:p>
        </p:txBody>
      </p:sp>
      <p:sp>
        <p:nvSpPr>
          <p:cNvPr id="9" name="Shape 6"/>
          <p:cNvSpPr/>
          <p:nvPr/>
        </p:nvSpPr>
        <p:spPr>
          <a:xfrm>
            <a:off x="914400" y="5760720"/>
            <a:ext cx="10332720" cy="73152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7"/>
          <p:cNvSpPr/>
          <p:nvPr/>
        </p:nvSpPr>
        <p:spPr>
          <a:xfrm>
            <a:off x="1051560" y="5852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usa la tabla? 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"¿qué tan típico es patrimonio=7 si es Fallido?", evaluamos la curva normal con μ=5 y σ=1.51 en el punto 7. Cuanto más lejos de la media, menor la probabilidad.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DEL NUEVO CLIENTE (PASO A PASO)</a:t>
            </a:r>
            <a:endParaRPr lang="es-CL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nuevo: Patrimonio = 7, Deuda = 4. 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grupo calculamos: ¿qué tan probable es ver estos valores si el cliente fuera de ese grupo?</a:t>
            </a:r>
            <a:endParaRPr lang="es-CL" sz="1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029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Fallido</a:t>
            </a:r>
            <a:endParaRPr lang="es-CL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1188720" y="25603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¿Patrimonio=7 es típico de fallidos?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f(media=5, </a:t>
            </a:r>
            <a:r>
              <a:rPr lang="es-CL" sz="12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=2.07) → 0.1208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¿Deuda=4 es típica de fallidos?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(media=5, </a:t>
            </a:r>
            <a:r>
              <a:rPr lang="es-CL" sz="12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=1.86) → 0.1853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P(Fallido) = 0.5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0.1208 × 0.1853 × 0.5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0.0112</a:t>
            </a:r>
          </a:p>
          <a:p>
            <a:pPr marL="0" indent="0" algn="l">
              <a:lnSpc>
                <a:spcPct val="120000"/>
              </a:lnSpc>
              <a:buNone/>
            </a:pPr>
            <a:endParaRPr lang="es-CL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0" y="2011680"/>
            <a:ext cx="50292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4A7FB5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solidFill>
            <a:srgbClr val="4A7FB5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Grupo: Cumplidor</a:t>
            </a:r>
            <a:endParaRPr lang="es-CL" sz="1600" noProof="0" dirty="0"/>
          </a:p>
        </p:txBody>
      </p:sp>
      <p:sp>
        <p:nvSpPr>
          <p:cNvPr id="12" name="Text 10"/>
          <p:cNvSpPr/>
          <p:nvPr/>
        </p:nvSpPr>
        <p:spPr>
          <a:xfrm>
            <a:off x="6675120" y="25603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2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¿Patrimonio=7 es típico de cumplidores?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(media=9, </a:t>
            </a:r>
            <a:r>
              <a:rPr lang="es-CL" sz="12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=2.29) → 0.1190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i="1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¿Deuda=4 es típica de cumplidores?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(media=3, </a:t>
            </a:r>
            <a:r>
              <a:rPr lang="es-CL" sz="12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=1.74) → 0.</a:t>
            </a:r>
            <a:r>
              <a:rPr lang="es-CL" sz="120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Prior: P(Cumplidor) = 0.5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0.1190 × 0.1940 × 0.5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= 0.0115</a:t>
            </a:r>
            <a:endParaRPr lang="es-CL" sz="1800" noProof="0" dirty="0"/>
          </a:p>
        </p:txBody>
      </p:sp>
      <p:sp>
        <p:nvSpPr>
          <p:cNvPr id="13" name="Shape 11"/>
          <p:cNvSpPr/>
          <p:nvPr/>
        </p:nvSpPr>
        <p:spPr>
          <a:xfrm>
            <a:off x="1371600" y="5303520"/>
            <a:ext cx="94183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4" name="Text 12"/>
          <p:cNvSpPr/>
          <p:nvPr/>
        </p:nvSpPr>
        <p:spPr>
          <a:xfrm>
            <a:off x="1508760" y="5349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b="1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0.0115  &gt;  0.0112   →   Clasificación:  CUMPLIDOR</a:t>
            </a:r>
            <a:endParaRPr lang="es-CL" sz="2000" noProof="0" dirty="0"/>
          </a:p>
        </p:txBody>
      </p:sp>
      <p:sp>
        <p:nvSpPr>
          <p:cNvPr id="15" name="Shape 13"/>
          <p:cNvSpPr/>
          <p:nvPr/>
        </p:nvSpPr>
        <p:spPr>
          <a:xfrm>
            <a:off x="914400" y="6126480"/>
            <a:ext cx="10332720" cy="54864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/>
          <p:nvPr/>
        </p:nvSpPr>
        <p:spPr>
          <a:xfrm>
            <a:off x="105156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 clasifica al cliente nuevo como Cumplidor, con mayor certeza que LDA (donde quedaba justo en la frontera).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ENTRE LDA, QDA Y NAIVE BAYES</a:t>
            </a:r>
            <a:endParaRPr lang="es-CL" sz="2800" noProof="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002387"/>
              </p:ext>
            </p:extLst>
          </p:nvPr>
        </p:nvGraphicFramePr>
        <p:xfrm>
          <a:off x="457200" y="1463040"/>
          <a:ext cx="1124712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LDA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QDA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 err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Bayes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Supuesto distribucional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multivariante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multivariante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univariante (Gaussiano)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Covarianza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Común (Σ₁ = Σ₂)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Distinta por grupo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Diagonal (independencia)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Frontera de decisión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Lineal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Cuadrática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lineal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200" noProof="0" dirty="0" err="1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parámetros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Datos necesarios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Moderados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Muchos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Pocos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Rápido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2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Muy rápido</a:t>
                      </a:r>
                      <a:endParaRPr lang="es-CL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3"/>
          <p:cNvSpPr/>
          <p:nvPr/>
        </p:nvSpPr>
        <p:spPr>
          <a:xfrm>
            <a:off x="594360" y="5029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clave: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es un caso particular de QDA (covarianzas iguales), y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 es como QDA pero con covarianzas 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diagonales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(sin correlación entre variables dentro de cada grupo).</a:t>
            </a:r>
            <a:endParaRPr lang="es-CL" sz="16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elegir?  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Pocos datos, Σ similares → LDA  |  Σ distintas → QDA  |  Muchas variables → NB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BAYES: VENTAJAS Y DESVENTAJAS</a:t>
            </a:r>
            <a:endParaRPr lang="es-C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554480"/>
            <a:ext cx="50292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5029200" cy="548640"/>
          </a:xfrm>
          <a:prstGeom prst="rect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</a:t>
            </a:r>
            <a:endParaRPr lang="es-CL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1188720" y="22860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fácil de implementar y entender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bien con pocas observaciones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Escalable: rápido incluso con muchas variables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Bastante interpretable (se ven las contribuciones)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al ruido y variables irrelevantes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variables categóricas naturalmente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029200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44E5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solidFill>
            <a:srgbClr val="C44E52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6400800" y="155448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Desventajas</a:t>
            </a:r>
            <a:endParaRPr lang="es-CL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6675120" y="2286000"/>
            <a:ext cx="4480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Supuesto fuerte de independencia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capta correlaciones entre variables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Probabilidades pueden estar mal calibradas</a:t>
            </a:r>
            <a:endParaRPr lang="es-CL" sz="1800" noProof="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ser superado por métodos más sofisticados con datos suficientes</a:t>
            </a:r>
            <a:endParaRPr lang="es-CL" sz="1800" noProof="0" dirty="0"/>
          </a:p>
        </p:txBody>
      </p:sp>
      <p:sp>
        <p:nvSpPr>
          <p:cNvPr id="12" name="Shape 10"/>
          <p:cNvSpPr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105156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pesar de su simplicidad,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 es competitivo en muchos problemas reales, especialmente cuando p (número de variables) es grande relativo a n (observaciones).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EN R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5303520" cy="4274598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Bayes con e1071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(e1071)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naiveBayes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(grupo ~ patrimonio + deuda, data = datos)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modelo_nb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Predicción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datos)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table(Real =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datos$grupo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Predicho =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tabla_nb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Predicho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       Cumplidor Fallido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Cumplidor         7       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Fallido           0       8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>
              <a:solidFill>
                <a:srgbClr val="E6DB74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/ sum(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0.9375</a:t>
            </a:r>
            <a:endParaRPr lang="es-CL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6583680" y="1371600"/>
            <a:ext cx="5303520" cy="4274598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/>
          <p:nvPr/>
        </p:nvSpPr>
        <p:spPr>
          <a:xfrm>
            <a:off x="6766560" y="146304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probabilidades a priori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modelo_nb$apriori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Cumplidor   Fallido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0.5       0.5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parámetros estimados (medias y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modelo_nb$tables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$patrimonio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patrimonio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         [,1]     [,2]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Cumplidor    9 2.289105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Fallido      5 2.070887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$deuda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deuda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          [,1]     [,2]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Cumplidor    3 1.744379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Fallido      5 1.863944</a:t>
            </a:r>
          </a:p>
          <a:p>
            <a:pPr marL="0" indent="0">
              <a:lnSpc>
                <a:spcPct val="120000"/>
              </a:lnSpc>
              <a:buNone/>
            </a:pP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Probabilidades posteriores</a:t>
            </a:r>
            <a:endParaRPr lang="es-CL" sz="11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modelo_nb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datos, </a:t>
            </a:r>
            <a:r>
              <a:rPr lang="es-CL" sz="11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r>
              <a:rPr lang="es-CL" sz="11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"raw")</a:t>
            </a:r>
            <a:endParaRPr lang="es-CL" sz="1100" noProof="0" dirty="0"/>
          </a:p>
        </p:txBody>
      </p:sp>
      <p:sp>
        <p:nvSpPr>
          <p:cNvPr id="8" name="Shape 6"/>
          <p:cNvSpPr/>
          <p:nvPr/>
        </p:nvSpPr>
        <p:spPr>
          <a:xfrm>
            <a:off x="914400" y="5897880"/>
            <a:ext cx="10332720" cy="640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51560" y="59664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ejemplo 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 obtiene la misma exactitud que LDA (93.75%). Generalmente no tiene por que ser así.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s-CL" sz="5400" noProof="0" dirty="0"/>
          </a:p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Modelos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UN MODELO QUE SOLO FUNCIONA CON DATOS VIEJOS NO SIRVE</a:t>
            </a:r>
            <a:endParaRPr lang="es-CL" sz="24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s-CL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843378" y="11887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resume los aciertos y errores del clasificador:</a:t>
            </a:r>
            <a:endParaRPr lang="es-CL" sz="1800" noProof="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078617"/>
              </p:ext>
            </p:extLst>
          </p:nvPr>
        </p:nvGraphicFramePr>
        <p:xfrm>
          <a:off x="1757778" y="1691640"/>
          <a:ext cx="8503920" cy="19202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Predicho: Positivo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Predicho: Negativo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Positivo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A6B7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A6B7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(Verdadero Positivo)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(Falso Negativo)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Negativo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-CL" sz="1400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(Falso Positivo)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A6B7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A6B7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(Verdadero Negativo)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051560" y="368068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derivadas:</a:t>
            </a:r>
            <a:endParaRPr lang="es-CL" sz="1800" noProof="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092382"/>
              </p:ext>
            </p:extLst>
          </p:nvPr>
        </p:nvGraphicFramePr>
        <p:xfrm>
          <a:off x="843378" y="4036677"/>
          <a:ext cx="10332720" cy="1691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Interpretación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 (</a:t>
                      </a:r>
                      <a:r>
                        <a:rPr lang="es-CL" sz="1100" noProof="0" dirty="0" err="1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(VP + VN) / Total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Proporción de clasificaciones correctas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Sensibilidad (</a:t>
                      </a:r>
                      <a:r>
                        <a:rPr lang="es-CL" sz="1100" noProof="0" dirty="0" err="1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/ (VP + FN)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los positivos reales, ¿cuántos detectamos?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Especificidad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 / (VN + FP)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los negativos reales, ¿cuántos detectamos?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VP / (VP + FP)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1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 los que predijimos positivos, ¿cuántos lo son?</a:t>
                      </a:r>
                      <a:endParaRPr lang="es-CL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843378" y="5904538"/>
            <a:ext cx="10332720" cy="54864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5"/>
          <p:cNvSpPr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3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CL" sz="13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3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puede ser engañoso con clases desbalanceadas (predecir siempre la clase mayoritaria).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DEL LDA</a:t>
            </a:r>
            <a:endParaRPr lang="es-CL" sz="3600" noProof="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1404723"/>
              </p:ext>
            </p:extLst>
          </p:nvPr>
        </p:nvGraphicFramePr>
        <p:xfrm>
          <a:off x="1371600" y="1371600"/>
          <a:ext cx="9418320" cy="18288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Predicho: Cumplidor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Predicho: Fallido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4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s-CL" sz="14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b="1" noProof="0" dirty="0">
                          <a:solidFill>
                            <a:srgbClr val="4A7FB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Cumplidor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2000" b="1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s-CL" sz="2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Real: Fallido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b="1" noProof="0" dirty="0">
                          <a:solidFill>
                            <a:srgbClr val="C44E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s-CL" sz="1500" b="1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2000" b="1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2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b="1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7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5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s-CL" sz="15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33832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clasificación:</a:t>
            </a:r>
            <a:endParaRPr lang="es-CL" sz="1800" noProof="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98977"/>
              </p:ext>
            </p:extLst>
          </p:nvPr>
        </p:nvGraphicFramePr>
        <p:xfrm>
          <a:off x="1371600" y="3749040"/>
          <a:ext cx="9418320" cy="2084832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 y resultado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A3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Exactitud (</a:t>
                      </a:r>
                      <a:r>
                        <a:rPr lang="es-CL" sz="1300" noProof="0" dirty="0" err="1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  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(8+7) / 16 = 93.75%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Sensibilidad (Cumplidores)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8 = 87.5%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Especificidad (Fallidos)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 8 = 100%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Predictivo Positivo (Precisión)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 = 100%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 Predictivo Negativo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s-CL" sz="1300" noProof="0" dirty="0">
                          <a:solidFill>
                            <a:srgbClr val="5956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9 = 88.9%</a:t>
                      </a:r>
                      <a:endParaRPr lang="es-CL" sz="13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914400" y="5943600"/>
            <a:ext cx="10332720" cy="64008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4"/>
          <p:cNvSpPr/>
          <p:nvPr/>
        </p:nvSpPr>
        <p:spPr>
          <a:xfrm>
            <a:off x="105156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 error de 16: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13 (Cumplidor con patrimonio=6,3, deuda=5,2) queda clasificado como Fallido.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6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VALIDAR?</a:t>
            </a:r>
            <a:endParaRPr lang="es-CL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51560" y="14630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Analogía: 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un modelo con los mismos datos que usaste para entrenarlo es como estudiar con las respuestas del examen delante.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Sacás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10... pero si te cambian las preguntas, quizás no.</a:t>
            </a:r>
            <a:endParaRPr lang="es-CL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se llama </a:t>
            </a:r>
            <a:r>
              <a:rPr lang="es-CL" sz="1700" b="1" noProof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sobreajuste (</a:t>
            </a:r>
            <a:r>
              <a:rPr lang="es-CL" sz="1700" b="1" noProof="0" dirty="0" err="1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r>
              <a:rPr lang="es-CL" sz="1700" b="1" noProof="0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s-CL" sz="17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L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puede "memorizar" los datos de entrenamiento y dar </a:t>
            </a:r>
            <a:r>
              <a:rPr lang="es-CL" sz="16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alto, pero fallar con clientes nuevos.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i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LDA da 93.75% en entrenamiento, pero ¿dará lo mismo con clientes nuevos?</a:t>
            </a:r>
            <a:endParaRPr lang="es-CL" sz="18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Soluciones:</a:t>
            </a:r>
            <a:endParaRPr lang="es-CL" sz="18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4206240"/>
            <a:ext cx="5029200" cy="2103120"/>
          </a:xfrm>
          <a:prstGeom prst="rect">
            <a:avLst/>
          </a:prstGeom>
          <a:solidFill>
            <a:srgbClr val="F4F7E9"/>
          </a:solidFill>
          <a:ln w="1905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/>
          <p:nvPr/>
        </p:nvSpPr>
        <p:spPr>
          <a:xfrm>
            <a:off x="1188720" y="42976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los datos en entrenamiento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(70-80%) y prueba (20-30%).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con 16 datos, la partición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300" noProof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demasiado pequeña para ser fiable.</a:t>
            </a:r>
            <a:endParaRPr lang="es-CL" sz="1800" noProof="0" dirty="0"/>
          </a:p>
        </p:txBody>
      </p:sp>
      <p:sp>
        <p:nvSpPr>
          <p:cNvPr id="11" name="Shape 9"/>
          <p:cNvSpPr/>
          <p:nvPr/>
        </p:nvSpPr>
        <p:spPr>
          <a:xfrm>
            <a:off x="6400800" y="4206240"/>
            <a:ext cx="5029200" cy="2103120"/>
          </a:xfrm>
          <a:prstGeom prst="rect">
            <a:avLst/>
          </a:prstGeom>
          <a:solidFill>
            <a:srgbClr val="F4F7E9"/>
          </a:solidFill>
          <a:ln w="25400">
            <a:solidFill>
              <a:srgbClr val="A6B72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/>
          <p:nvPr/>
        </p:nvSpPr>
        <p:spPr>
          <a:xfrm>
            <a:off x="6675120" y="4297680"/>
            <a:ext cx="44805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cada observación una vez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prueba (</a:t>
            </a:r>
            <a:r>
              <a:rPr lang="es-CL" sz="14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</a:t>
            </a: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muestras pequeñas: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al máximo los datos.</a:t>
            </a:r>
            <a:endParaRPr lang="es-CL" sz="180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(CROSS-VALIDATION)</a:t>
            </a:r>
            <a:endParaRPr lang="es-CL" sz="2800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Cross-</a:t>
            </a: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s-CL" sz="18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Dividir datos en K partes iguales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Para cada parte k = 1, ..., K: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Entrenar con las otras K−1 partes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- Evaluar con la parte k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Promediar los K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accuracies</a:t>
            </a:r>
            <a:endParaRPr lang="es-CL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7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Leave-One-Out</a:t>
            </a:r>
            <a:r>
              <a:rPr lang="es-CL" sz="17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(LOO):</a:t>
            </a:r>
            <a:endParaRPr lang="es-CL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928116" y="38404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 con K = n:</a:t>
            </a:r>
            <a:endParaRPr lang="es-CL" sz="18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6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observación se usa una vez como test.</a:t>
            </a:r>
            <a:endParaRPr lang="es-CL" sz="1800" noProof="0" dirty="0"/>
          </a:p>
        </p:txBody>
      </p:sp>
      <p:sp>
        <p:nvSpPr>
          <p:cNvPr id="8" name="Shape 6"/>
          <p:cNvSpPr/>
          <p:nvPr/>
        </p:nvSpPr>
        <p:spPr>
          <a:xfrm>
            <a:off x="1842516" y="4594860"/>
            <a:ext cx="8503920" cy="640080"/>
          </a:xfrm>
          <a:prstGeom prst="rect">
            <a:avLst/>
          </a:prstGeom>
          <a:solidFill>
            <a:srgbClr val="F4F7E9"/>
          </a:solidFill>
          <a:ln w="1905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2116836" y="469473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0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LOO-CV </a:t>
            </a:r>
            <a:r>
              <a:rPr lang="es-CL" sz="2000" noProof="0" dirty="0" err="1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r>
              <a:rPr lang="es-CL" sz="2000" noProof="0" dirty="0">
                <a:solidFill>
                  <a:srgbClr val="5956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= (1/n) × Σ  I(ŷᵢ = yᵢ)</a:t>
            </a:r>
            <a:endParaRPr lang="es-CL" sz="2000" noProof="0" dirty="0"/>
          </a:p>
        </p:txBody>
      </p:sp>
      <p:sp>
        <p:nvSpPr>
          <p:cNvPr id="10" name="Shape 8"/>
          <p:cNvSpPr/>
          <p:nvPr/>
        </p:nvSpPr>
        <p:spPr>
          <a:xfrm>
            <a:off x="1313895" y="5473083"/>
            <a:ext cx="10332720" cy="731520"/>
          </a:xfrm>
          <a:prstGeom prst="rect">
            <a:avLst/>
          </a:prstGeom>
          <a:solidFill>
            <a:srgbClr val="F4F7E9"/>
          </a:solidFill>
          <a:ln w="12700">
            <a:solidFill>
              <a:srgbClr val="C8D5A0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Text 9"/>
          <p:cNvSpPr/>
          <p:nvPr/>
        </p:nvSpPr>
        <p:spPr>
          <a:xfrm>
            <a:off x="1380034" y="5564523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n=16, LOO es ideal: entrena con 15 datos y predice el 16°, repitiendo 16 veces.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R, </a:t>
            </a:r>
            <a:r>
              <a:rPr lang="es-CL" sz="15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</a:t>
            </a:r>
            <a:r>
              <a:rPr lang="es-CL" sz="15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(..., CV = TRUE) hace LOO automáticamente.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857583" y="1211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28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EN R</a:t>
            </a:r>
            <a:endParaRPr lang="es-CL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857583" y="902526"/>
            <a:ext cx="10332720" cy="3943794"/>
          </a:xfrm>
          <a:prstGeom prst="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143000" y="902526"/>
            <a:ext cx="9966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============================================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LOO Cross-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Validation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LDA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============================================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modelo_loo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(grupo ~ patrimonio + deuda,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data = datos, CV = TRUE)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tabla_loo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table(Real =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datos$grupo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Predicho = 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modelo_loo$class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tabla_loo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MX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Predicho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       Cumplidor Fallido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Cumplidor         6       2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MX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Fallido           0       8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accuracy_loo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&lt;- sum(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tabla_loo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/ sum(</a:t>
            </a: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tabla_loo</a:t>
            </a: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 err="1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accuracy_loo</a:t>
            </a:r>
            <a:endParaRPr lang="es-CL" sz="1200" noProof="0" dirty="0"/>
          </a:p>
          <a:p>
            <a:pPr marL="0" indent="0">
              <a:lnSpc>
                <a:spcPct val="120000"/>
              </a:lnSpc>
              <a:buNone/>
            </a:pPr>
            <a:r>
              <a:rPr lang="es-CL" sz="1200" noProof="0" dirty="0">
                <a:solidFill>
                  <a:srgbClr val="E6DB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[1] 0.875   ← menor que el 93.75% de entrenamiento</a:t>
            </a:r>
            <a:endParaRPr lang="es-CL" sz="1200" noProof="0" dirty="0"/>
          </a:p>
        </p:txBody>
      </p:sp>
      <p:sp>
        <p:nvSpPr>
          <p:cNvPr id="7" name="Text 5"/>
          <p:cNvSpPr/>
          <p:nvPr/>
        </p:nvSpPr>
        <p:spPr>
          <a:xfrm>
            <a:off x="1051560" y="48463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LOO-CV (87.5%) es menor que el de entrenamiento (93.75%).</a:t>
            </a:r>
            <a:endParaRPr lang="es-CL" sz="1600" noProof="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es normal: el </a:t>
            </a:r>
            <a:r>
              <a:rPr lang="es-CL" sz="1500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500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entrenamiento siempre sobreestima el rendimiento real.</a:t>
            </a:r>
            <a:endParaRPr lang="es-CL" sz="1600" noProof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914400" y="4114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CL" sz="3200" noProof="0" dirty="0">
                <a:solidFill>
                  <a:srgbClr val="A6B7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DEL CAPÍTULO</a:t>
            </a:r>
            <a:endParaRPr lang="es-CL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1097280" y="1554480"/>
            <a:ext cx="457200" cy="45720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10972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CL" sz="1600" noProof="0" dirty="0"/>
          </a:p>
        </p:txBody>
      </p:sp>
      <p:sp>
        <p:nvSpPr>
          <p:cNvPr id="6" name="Text 4"/>
          <p:cNvSpPr/>
          <p:nvPr/>
        </p:nvSpPr>
        <p:spPr>
          <a:xfrm>
            <a:off x="1828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supervisada</a:t>
            </a:r>
            <a:endParaRPr lang="es-CL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1828800" y="17830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reglas de decisión a partir de datos etiquetados</a:t>
            </a:r>
            <a:endParaRPr lang="es-CL" sz="1400" noProof="0" dirty="0"/>
          </a:p>
        </p:txBody>
      </p:sp>
      <p:sp>
        <p:nvSpPr>
          <p:cNvPr id="8" name="Shape 6"/>
          <p:cNvSpPr/>
          <p:nvPr/>
        </p:nvSpPr>
        <p:spPr>
          <a:xfrm>
            <a:off x="1097280" y="2377440"/>
            <a:ext cx="457200" cy="45720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CL" sz="1600" noProof="0" dirty="0"/>
          </a:p>
        </p:txBody>
      </p:sp>
      <p:sp>
        <p:nvSpPr>
          <p:cNvPr id="10" name="Text 8"/>
          <p:cNvSpPr/>
          <p:nvPr/>
        </p:nvSpPr>
        <p:spPr>
          <a:xfrm>
            <a:off x="18288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(Fisher)</a:t>
            </a:r>
            <a:endParaRPr lang="es-CL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1828800" y="260604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lineal óptima. Supone normalidad y covarianzas iguales</a:t>
            </a:r>
            <a:endParaRPr lang="es-CL" sz="1400" noProof="0" dirty="0"/>
          </a:p>
        </p:txBody>
      </p:sp>
      <p:sp>
        <p:nvSpPr>
          <p:cNvPr id="12" name="Shape 10"/>
          <p:cNvSpPr/>
          <p:nvPr/>
        </p:nvSpPr>
        <p:spPr>
          <a:xfrm>
            <a:off x="1097280" y="3200400"/>
            <a:ext cx="457200" cy="45720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/>
          <p:nvPr/>
        </p:nvSpPr>
        <p:spPr>
          <a:xfrm>
            <a:off x="10972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CL" sz="1600" noProof="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s-CL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1828800" y="34290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 LDA con covarianzas distintas por grupo. Usar si </a:t>
            </a:r>
            <a:r>
              <a:rPr lang="es-CL" sz="1400" noProof="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Box's</a:t>
            </a: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 rechaza H₀</a:t>
            </a:r>
            <a:endParaRPr lang="es-CL" sz="1400" noProof="0" dirty="0"/>
          </a:p>
        </p:txBody>
      </p:sp>
      <p:sp>
        <p:nvSpPr>
          <p:cNvPr id="16" name="Shape 14"/>
          <p:cNvSpPr/>
          <p:nvPr/>
        </p:nvSpPr>
        <p:spPr>
          <a:xfrm>
            <a:off x="1097280" y="4023360"/>
            <a:ext cx="457200" cy="45720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/>
          <p:nvPr/>
        </p:nvSpPr>
        <p:spPr>
          <a:xfrm>
            <a:off x="10972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CL" sz="1600" noProof="0" dirty="0"/>
          </a:p>
        </p:txBody>
      </p:sp>
      <p:sp>
        <p:nvSpPr>
          <p:cNvPr id="18" name="Text 16"/>
          <p:cNvSpPr/>
          <p:nvPr/>
        </p:nvSpPr>
        <p:spPr>
          <a:xfrm>
            <a:off x="1828800" y="3931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 err="1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</a:t>
            </a: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Bayes</a:t>
            </a:r>
            <a:endParaRPr lang="es-CL" sz="1600" noProof="0" dirty="0"/>
          </a:p>
        </p:txBody>
      </p:sp>
      <p:sp>
        <p:nvSpPr>
          <p:cNvPr id="19" name="Text 17"/>
          <p:cNvSpPr/>
          <p:nvPr/>
        </p:nvSpPr>
        <p:spPr>
          <a:xfrm>
            <a:off x="1828800" y="425196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Clasificador probabilístico con independencia condicional. Simple y eficaz</a:t>
            </a:r>
            <a:endParaRPr lang="es-CL" sz="1400" noProof="0" dirty="0"/>
          </a:p>
        </p:txBody>
      </p:sp>
      <p:sp>
        <p:nvSpPr>
          <p:cNvPr id="20" name="Shape 18"/>
          <p:cNvSpPr/>
          <p:nvPr/>
        </p:nvSpPr>
        <p:spPr>
          <a:xfrm>
            <a:off x="1097280" y="4846320"/>
            <a:ext cx="457200" cy="45720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/>
          <p:nvPr/>
        </p:nvSpPr>
        <p:spPr>
          <a:xfrm>
            <a:off x="1097280" y="4846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CL" sz="1600" noProof="0" dirty="0"/>
          </a:p>
        </p:txBody>
      </p:sp>
      <p:sp>
        <p:nvSpPr>
          <p:cNvPr id="22" name="Text 20"/>
          <p:cNvSpPr/>
          <p:nvPr/>
        </p:nvSpPr>
        <p:spPr>
          <a:xfrm>
            <a:off x="1828800" y="4754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s-CL" sz="1600" noProof="0" dirty="0"/>
          </a:p>
        </p:txBody>
      </p:sp>
      <p:sp>
        <p:nvSpPr>
          <p:cNvPr id="23" name="Text 21"/>
          <p:cNvSpPr/>
          <p:nvPr/>
        </p:nvSpPr>
        <p:spPr>
          <a:xfrm>
            <a:off x="1828800" y="507492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validar con LOO-CV o k-</a:t>
            </a:r>
            <a:r>
              <a:rPr lang="es-CL" sz="1400" noProof="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</a:t>
            </a: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</a:t>
            </a:r>
            <a:r>
              <a:rPr lang="es-CL" sz="1400" noProof="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entrenamiento sobreestima</a:t>
            </a:r>
            <a:endParaRPr lang="es-CL" sz="1400" noProof="0" dirty="0"/>
          </a:p>
        </p:txBody>
      </p:sp>
      <p:sp>
        <p:nvSpPr>
          <p:cNvPr id="24" name="Shape 22"/>
          <p:cNvSpPr/>
          <p:nvPr/>
        </p:nvSpPr>
        <p:spPr>
          <a:xfrm>
            <a:off x="1097280" y="5669280"/>
            <a:ext cx="457200" cy="457200"/>
          </a:xfrm>
          <a:prstGeom prst="ellipse">
            <a:avLst/>
          </a:prstGeom>
          <a:solidFill>
            <a:srgbClr val="A6B727"/>
          </a:solidFill>
          <a:ln/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Text 23"/>
          <p:cNvSpPr/>
          <p:nvPr/>
        </p:nvSpPr>
        <p:spPr>
          <a:xfrm>
            <a:off x="109728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s-CL" sz="1600" noProof="0" dirty="0"/>
          </a:p>
        </p:txBody>
      </p:sp>
      <p:sp>
        <p:nvSpPr>
          <p:cNvPr id="26" name="Text 24"/>
          <p:cNvSpPr/>
          <p:nvPr/>
        </p:nvSpPr>
        <p:spPr>
          <a:xfrm>
            <a:off x="182880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600" b="1" noProof="0" dirty="0">
                <a:solidFill>
                  <a:srgbClr val="5956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</a:t>
            </a:r>
            <a:endParaRPr lang="es-CL" sz="1600" noProof="0" dirty="0"/>
          </a:p>
        </p:txBody>
      </p:sp>
      <p:sp>
        <p:nvSpPr>
          <p:cNvPr id="27" name="Text 25"/>
          <p:cNvSpPr/>
          <p:nvPr/>
        </p:nvSpPr>
        <p:spPr>
          <a:xfrm>
            <a:off x="1828800" y="589788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Sensibilidad, especificidad, precisión y </a:t>
            </a:r>
            <a:r>
              <a:rPr lang="es-CL" sz="1400" noProof="0" dirty="0" err="1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r>
              <a:rPr lang="es-CL" sz="1400" noProof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evaluar el modelo</a:t>
            </a:r>
            <a:endParaRPr lang="es-CL" sz="1400" noProof="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A6B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228600"/>
            <a:ext cx="11731752" cy="6400800"/>
          </a:xfrm>
          <a:prstGeom prst="rect">
            <a:avLst/>
          </a:prstGeom>
          <a:solidFill>
            <a:srgbClr val="A6B72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5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s-CL" sz="54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0" y="3931920"/>
            <a:ext cx="758952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" name="Text 3"/>
          <p:cNvSpPr/>
          <p:nvPr/>
        </p:nvSpPr>
        <p:spPr>
          <a:xfrm>
            <a:off x="2286000" y="40233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CL" sz="2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 — CLASIFICACIÓN SUPERVISADA</a:t>
            </a:r>
            <a:endParaRPr lang="es-CL" sz="24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3459</TotalTime>
  <Words>4933</Words>
  <Application>Microsoft Office PowerPoint</Application>
  <PresentationFormat>Panorámica</PresentationFormat>
  <Paragraphs>939</Paragraphs>
  <Slides>42</Slides>
  <Notes>42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42</vt:i4>
      </vt:variant>
    </vt:vector>
  </HeadingPairs>
  <TitlesOfParts>
    <vt:vector size="48" baseType="lpstr">
      <vt:lpstr>Aptos Narrow</vt:lpstr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Supervisada - Capítulo 6</dc:title>
  <dc:subject>PptxGenJS Presentation</dc:subject>
  <dc:creator>Métodos Estadísticos</dc:creator>
  <cp:lastModifiedBy>Enrique Saint-Pierre</cp:lastModifiedBy>
  <cp:revision>7</cp:revision>
  <dcterms:created xsi:type="dcterms:W3CDTF">2026-04-28T21:09:37Z</dcterms:created>
  <dcterms:modified xsi:type="dcterms:W3CDTF">2026-05-10T01:05:21Z</dcterms:modified>
</cp:coreProperties>
</file>